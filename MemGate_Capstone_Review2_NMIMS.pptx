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5"/>
    <p:sldId id="269" r:id="rId4"/>
    <p:sldId id="270" r:id="rId3"/>
    <p:sldId id="271" r:id="rId2"/>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03"/>
    <p:restoredTop sz="94603"/>
  </p:normalViewPr>
  <p:slideViewPr>
    <p:cSldViewPr>
      <p:cViewPr>
        <p:scale>
          <a:sx n="68" d="100"/>
          <a:sy n="68" d="100"/>
        </p:scale>
        <p:origin x="792" y="22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6.xml"/><Relationship Id="rId3" Type="http://schemas.openxmlformats.org/officeDocument/2006/relationships/slide" Target="slides/slide15.xml"/><Relationship Id="rId4" Type="http://schemas.openxmlformats.org/officeDocument/2006/relationships/slide" Target="slides/slide14.xml"/><Relationship Id="rId5" Type="http://schemas.openxmlformats.org/officeDocument/2006/relationships/slide" Target="slides/slide13.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Simar Singh Khanuja and Yash Ramchandani, and this is Review 2 of our capstone project, MemGate.</a:t>
            </a:r>
          </a:p>
          <a:p/>
          <a:p>
            <a:r>
              <a:t>At Review 1 we proposed an adaptive memory layer for long-running LLM agents. Since then the project has become a measurement. When an agent's memory is full, which turns should it keep and which should it forget? And does that choice actually matter? We'll show you what we found, including the results that went against 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workstream on this table is complete. We ran eleven experiments end to end on the LoCoMo benchmark and then tested the main result on a second benchmark, LongMemEval. Every claim has a confidence interval clustered by conversation. Every number on these slides is generated from a committed results file, so nothing is typed by hand.</a:t>
            </a:r>
          </a:p>
          <a:p/>
          <a:p>
            <a:r>
              <a:t>The headline: choosing which turns to forget, instead of forgetting the oldest first, is worth 8.7 answer-recall points. Storage, fidelity and retrieval are held identical. We'll also be upfront that on the second benchmark this result does not hold. Slides 18 and 19 show why.</a:t>
            </a:r>
          </a:p>
          <a:p/>
          <a:p>
            <a:r>
              <a:t>Next: But one thing has to come first.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Review 1 we showed 95% recall for MemGate against 10% for a sliding window. That number was wrong.</a:t>
            </a:r>
          </a:p>
          <a:p/>
          <a:p>
            <a:r>
              <a:t>The memory policy was reading a field called fact_id, which is the ground-truth evaluation label, when deciding what to keep. In effect, it was reading the answer key. The leak was worth 45 to 47 points. The honest number on the same test set is 50%, not 95%.</a:t>
            </a:r>
          </a:p>
          <a:p/>
          <a:p>
            <a:r>
              <a:t>We fixed it with a test, not a comment. If you strip every evaluation label from the input, the memory store must come out bit-identical. Every decision point we added later went under that test before we quoted any number from it.</a:t>
            </a:r>
          </a:p>
          <a:p/>
          <a:p>
            <a:r>
              <a:t>Everything after this slide is measured on a real benchmark, with no leak. We would rather tell you this ourselves than have you find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agent memory still matter when models have 200,000-token context windows? There are three reasons.</a:t>
            </a:r>
          </a:p>
          <a:p/>
          <a:p>
            <a:r>
              <a:t>First, context rot. Chroma Research tested 18 frontier models, and accuracy drops 30 to 50 percent well before the advertised limit. A bigger window doesn't fix that. Choosing what goes into it does.</a:t>
            </a:r>
          </a:p>
          <a:p/>
          <a:p>
            <a:r>
              <a:t>Second, cost. On LoCoMo, the full context is about 26,000 tokens and nearly 10 seconds per answer. Selective memory reaches similar accuracy with about 1,800 tokens in 0.7 seconds, roughly 14 times cheaper.</a:t>
            </a:r>
          </a:p>
          <a:p/>
          <a:p>
            <a:r>
              <a:t>Third, on LongMemEval, a model given the right evidence scores about 92%, but the same model working interactively scores about 58%. That 34-point gap is a failure to select memory, not a failure to reason. A 2026 survey names it directly: deciding what to remember and what to forget is the unsolved problem.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our research question is: how much of that gap can a better decision policy recover, and under what budget does compression pay for itself?</a:t>
            </a:r>
          </a:p>
          <a:p/>
          <a:p>
            <a:r>
              <a:t>We want to be honest about novelty. Tiered memory with forgetting already ships, in Letta/MemGPT, Mem0 and Zep. If we presented "a memory layer with three tiers", that work would already be done.</a:t>
            </a:r>
          </a:p>
          <a:p/>
          <a:p>
            <a:r>
              <a:t>What isn't done is measuring the decision itself. Colaco and Lahjouji frame it as a rate–distortion problem, but they give a framework, not a system. MemGate is the harness that makes the decision measurable. Different policies plug into the same system, and each comparison changes only one variable at a time.</a:t>
            </a:r>
          </a:p>
          <a:p/>
          <a:p>
            <a:r>
              <a:t>Our contribution is a measurement, and several of its results are negative.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MemGate sits between the agent and a frozen LLM. Nothing is trained. We only control what goes into the prompt.</a:t>
            </a:r>
          </a:p>
          <a:p/>
          <a:p>
            <a:r>
              <a:t>On the write path, every new turn enters Tier 1, the short-term buffer, as raw text. When the buffer is full, the Adaptive Memory Decision Engine scores each evicted turn exactly once. High-scoring turns become durable facts in Tier 3. Middle ones become compressed summaries in Tier 2. The rest are dropped.</a:t>
            </a:r>
          </a:p>
          <a:p/>
          <a:p>
            <a:r>
              <a:t>On the read path, a new query is matched against Tier 3. We retrieve the closest items, pack them into the token budget, and send that context to the LLM.</a:t>
            </a:r>
          </a:p>
          <a:p/>
          <a:p>
            <a:r>
              <a:t>The key point is that the tiers are a lifecycle, not a partition. Everything enters Tier 1, and the decision happens once, on eviction, when the budget is full. That one decision is what this project measures.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policies we compare. P0 is a sliding window. RAG stores everything and retrieves; once its storage is full it forgets first-in, first-out, so it is our no-policy control. P1 is MemGate: P1-A compresses what it evicts, P1-S drops it. P2 uses a small LLM to judge importance, P3 is a learned scorer, and Oracle is perfect selection, the upper bound.</a:t>
            </a:r>
          </a:p>
          <a:p/>
          <a:p>
            <a:r>
              <a:t>The bottom table matters most: every comparison changes exactly one thing. RAG against P1-S holds storage, fidelity and retrieval the same, so the only difference is which turns get forgotten. P1-S against P1-A isolates dropping versus compressing. P0 gets the same token budget as MemGate, so it is never a strawman.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report two metrics because they disagree.</a:t>
            </a:r>
          </a:p>
          <a:p/>
          <a:p>
            <a:r>
              <a:t>Evidence recall asks whether every gold evidence turn reached the context. Answer recall asks whether the actual answer text survived. We score it on the 715 questions whose answer can be recovered from the evidence, and it is the metric to believe.</a:t>
            </a:r>
          </a:p>
          <a:p/>
          <a:p>
            <a:r>
              <a:t>The reason is that evidence recall gives credit for a pointer. A compressed summary keeps the ID of a turn whose text it threw away, and still counts as a hit. During one round of development, evidence recall rose from 8.1 to 14.8 percent while answer recall stayed at 12.8 percent. The whole gain was bookkeeping.</a:t>
            </a:r>
          </a:p>
          <a:p/>
          <a:p>
            <a:r>
              <a:t>That disagreement turns out to be one of our findings.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benchmark is LoCoMo: 10 long multi-session conversations, 5,882 turns and 1,527 scorable questions with gold evidence. We exclude the adversarial category, where the right behaviour is to decline to answer.</a:t>
            </a:r>
          </a:p>
          <a:p/>
          <a:p>
            <a:r>
              <a:t>Embeddings use MiniLM, budgets are counted in exact tokens, the judge is a 0.5-billion-parameter Qwen model, and the reader for end-task accuracy is a 1.5-billion-parameter Qwen model, held fixed across every arm. Everything runs locally and offline, so every experiment can be re-run after every change.</a:t>
            </a:r>
          </a:p>
          <a:p/>
          <a:p>
            <a:r>
              <a:t>One statistical point matters most. 1,527 questions from 10 conversations are not 1,527 independent trials. Every interval in this deck is clustered by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turning point of the project.</a:t>
            </a:r>
          </a:p>
          <a:p/>
          <a:p>
            <a:r>
              <a:t>Every experiment in this literature, including ours up to this point, limits the context per query but leaves the store unlimited. Under that accounting, "keep everything and retrieve" pays nothing for holding all 419 turns of a conversation, so forgetting can only lose. Our own ablation correctly reported compression as a net loss.</a:t>
            </a:r>
          </a:p>
          <a:p/>
          <a:p>
            <a:r>
              <a:t>But a real agent's memory isn't free. Once we impose a storage budget, S, the question changes from "what fits in the context?" to "what is worth keeping at all?"</a:t>
            </a:r>
          </a:p>
          <a:p/>
          <a:p>
            <a:r>
              <a:t>The figure shows the result. With the context fixed at 2048 tokens and the store swept, the ranking inverts. What looked like a loss for the decision policy came from never charging for storage.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numbers: context fixed at 2048 tokens, storage swept, answer recall.</a:t>
            </a:r>
          </a:p>
          <a:p/>
          <a:p>
            <a:r>
              <a:t>P1-S, scored selection that drops whole turns, beats RAG store-all at every budget, by 3.9 to 8.7 points. At S = 4096 it is 36.8 against 28.1. Compression, P1-A, sits in between.</a:t>
            </a:r>
          </a:p>
          <a:p/>
          <a:p>
            <a:r>
              <a:t>Notice that the metrics disagree again. P1-A wins evidence recall by 12.9 points at 8192 while losing answer recall by 6.9, because its summaries keep the IDs but not the content.</a:t>
            </a:r>
          </a:p>
          <a:p/>
          <a:p>
            <a:r>
              <a:t>RAG against P1-S is the cleanest comparison in the project: the same verbatim turns in the same space, retrieved the same way. The only difference is which turns are forgotten, oldest first or lowest utility first.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that survive proper statistics? This is a paired bootstrap with 10,000 resamples, clustered by conversation, plus exact McNemar tests, at S = 4096.</a:t>
            </a:r>
          </a:p>
          <a:p/>
          <a:p>
            <a:r>
              <a:t>Selection over RAG on answer recall: +8.67 points, interval 4.8 to 14.3, p around 10 to the minus 4. That is significant.</a:t>
            </a:r>
          </a:p>
          <a:p/>
          <a:p>
            <a:r>
              <a:t>On evidence recall, though, the gain over RAG is only 1.96 points, the interval crosses zero, and p is 0.16. So we do not claim an evidence-recall improvement over RAG. The comparisons against compression and against recency are all significant.</a:t>
            </a:r>
          </a:p>
          <a:p/>
          <a:p>
            <a:r>
              <a:t>We report the non-significant result ourselves, so the panel doesn't have to find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Theory says that under enough pressure, compression must eventually win: keeping a blurry version of everything should beat keeping a sharp version of a little. We tried to find that crossover.</a:t>
            </a:r>
          </a:p>
          <a:p/>
          <a:p>
            <a:r>
              <a:t>Shrinking the budget can't test it. By S = 256 every policy is near zero. So we stretched the length instead. We concatenated up to 10 conversations, 186,000 tokens, and held storage fixed, pushing the compression ratio to 182 times.</a:t>
            </a:r>
          </a:p>
          <a:p/>
          <a:p>
            <a:r>
              <a:t>There is no crossover anywhere, and selection's margin over RAG actually widens as the pressure rises. One caveat: concatenated streams are synthetic. This is a stress test, not a natural long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another accounting problem. Counting storage in text tokens hides the cost of the embedding index. A 384-dimensional vector is 1,536 bytes, while a typical LoCoMo turn is about 130 bytes of text. The index is about 12 times larger than the content it indexes.</a:t>
            </a:r>
          </a:p>
          <a:p/>
          <a:p>
            <a:r>
              <a:t>When we budget in bytes, two things happen. Our selection result still holds: P1-S beats RAG at every byte budget. And below roughly 40 kilobytes, plain recency wins outright, because it keeps no vectors at all. At 32 KiB, P0 gets 18.3% against 5% for RAG. That regime is invisible if you only count text.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component actually matters? On the left is an ablation that removes one component at a time. Retrieval is the largest, at minus 30 points. Scored eviction is worth about 5.</a:t>
            </a:r>
          </a:p>
          <a:p/>
          <a:p>
            <a:r>
              <a:t>So is the scorer the limit? We trained a learned scorer, evaluated leave-one-conversation-out, so it never sees the conversation it is scoring. With hand-built features it reaches an AUC of 0.746. Adding MiniLM embeddings takes it to 0.793 and lifts answer recall from 26.3 to 31.5 percent.</a:t>
            </a:r>
          </a:p>
          <a:p/>
          <a:p>
            <a:r>
              <a:t>The interesting part is what it learned. Turn length is the single strongest predictor of whether a turn is evidence, and our hand-tuned heuristic never encoded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obvious way to improve the scorer is to ask an LLM. We tested that with a single-component swap: everything else stays fixed and only the scorer changes.</a:t>
            </a:r>
          </a:p>
          <a:p/>
          <a:p>
            <a:r>
              <a:t>First, scoring matters. The heuristic beats unscored recency by 11.2 points.</a:t>
            </a:r>
          </a:p>
          <a:p/>
          <a:p>
            <a:r>
              <a:t>But the LLM judge loses to our simple regex heuristic by 5.9 points, and the interval excludes zero. It also costs about 15 minutes of GPU time per corpus, where the heuristic takes microseconds. And there is room to improve: the learned bound is 11.5 points above the heuristic.</a:t>
            </a:r>
          </a:p>
          <a:p/>
          <a:p>
            <a:r>
              <a:t>The reason is diagnosable. The judge sees each turn in isolation, and importance isn't a property of a turn on its own. A phone number matters because something later asks for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so far measures whether the evidence reached the prompt. Does it change real answers?</a:t>
            </a:r>
          </a:p>
          <a:p/>
          <a:p>
            <a:r>
              <a:t>We ran a fixed reader model on all 715 answer-recoverable questions. Closed-book, with no memory, gets 1.7%, so the model is not answering from its own knowledge. Oracle gets 67.3%, the ceiling.</a:t>
            </a:r>
          </a:p>
          <a:p/>
          <a:p>
            <a:r>
              <a:t>P1-S reaches 18.5% accuracy against 12.4% for RAG. That means 6 points of the 8.7-point recall gap turn into correct answers, with a clustered interval of 3.3 to 9.1, so about 69% of the gap converts. Because closed-book is so low, nearly all of that margin comes from the memory system.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we tested our own headline on a second benchmark, and it failed.</a:t>
            </a:r>
          </a:p>
          <a:p/>
          <a:p>
            <a:r>
              <a:t>LoCoMo is only ten conversations. LongMemEval has 94 independent haystacks of 38 to 62 sessions each. At storage matched to LoCoMo's retention, about 22%, selection loses to FIFO by 21 answer points, where LoCoMo gave plus 8.7.</a:t>
            </a:r>
          </a:p>
          <a:p/>
          <a:p>
            <a:r>
              <a:t>Why? The mechanism didn't fail, the scorer did. Our heuristic scorer separates evidence from non-evidence turns in opposite directions on the two corpora: positive on LoCoMo, negative on LongMemEval. Eviction is ordered by that score, so on LongMemEval it throws evidence away first. That is worse than no ranking at all.</a:t>
            </a:r>
          </a:p>
          <a:p/>
          <a:p>
            <a:r>
              <a:t>The scorer was written for LoCoMo's short 32-token lines, while LongMemEval's turns are 210-token prose.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accepting a result against our own headline, we tried to break it.</a:t>
            </a:r>
          </a:p>
          <a:p/>
          <a:p>
            <a:r>
              <a:t>The suspicion was that MemGate reserves 25% of its context for recent turns and RAG reserves nothing. On LongMemEval the answer sits in a random session, so that reserve could be wasted.</a:t>
            </a:r>
          </a:p>
          <a:p/>
          <a:p>
            <a:r>
              <a:t>So we removed it, keeping the same code, scorer, budgets and retrieval depth; only that one setting changed. Answer recall moved by exactly zero: 19.4% either way.</a:t>
            </a:r>
          </a:p>
          <a:p/>
          <a:p>
            <a:r>
              <a:t>The confound is real but not load-bearing. Selection still loses by 21 points, so the scorer-transfer failure explains the whole result.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of our findings are about measurement itself, and each was caught by an automated check, not by reading the code.</a:t>
            </a:r>
          </a:p>
          <a:p/>
          <a:p>
            <a:r>
              <a:t>One: the answer-key leak from slide 3, worth 45 to 47 points.</a:t>
            </a:r>
          </a:p>
          <a:p/>
          <a:p>
            <a:r>
              <a:t>Two: a component's value depends on where the bottleneck is. The MiniLM embedder measured at plus 0.2 points while the write path was throwing away 93% of the conversation. Once that ceiling lifted, the same swap was worth 19.7.</a:t>
            </a:r>
          </a:p>
          <a:p/>
          <a:p>
            <a:r>
              <a:t>Three: a metric that credits pointers. Evidence recall rose while answer recall stayed flat.</a:t>
            </a:r>
          </a:p>
          <a:p/>
          <a:p>
            <a:r>
              <a:t>And a smaller fourth: the judge returned NaN, "not a number", for short turns because of left-padding. Without a guard, every filler turn would have silently inverted the eviction order.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compares what we proposed at Review 1 with what we actually used.</a:t>
            </a:r>
          </a:p>
          <a:p/>
          <a:p>
            <a:r>
              <a:t>Instead of Llama or a hosted API, we ran Qwen 2.5 models locally: no keys, no cost, and bit-reproducible results. We used no LangChain or LlamaIndex, because a framework's own retrieval would interfere with the very variable we are studying. We used plain NumPy cosine search instead of FAISS, since at ten conversations an approximate index only adds error. And we added exact tokenisation and clustered statistics.</a:t>
            </a:r>
          </a:p>
          <a:p/>
          <a:p>
            <a:r>
              <a:t>This isn't scope reduction. Running locally and for free is what made 35 storage configurations, 23 ablations and a 10,000-sample bootstrap affordable to re-run after every change.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guard on this slide exists because the failure it prevents already happened once.</a:t>
            </a:r>
          </a:p>
          <a:p/>
          <a:p>
            <a:r>
              <a:t>There are 68 regression tests, plus three label-blindness checks that re-run the leak test whenever we add a decision point. Offline pinning stops a half-downloaded model from silently relabelling a results table; that happened once with MiniLM. Then there is provenance logging, the NaN guard, caches keyed by model and prompt so long runs are reproducible and resumable, and results committed alongside the code.</a:t>
            </a:r>
          </a:p>
          <a:p/>
          <a:p>
            <a:r>
              <a:t>The rule we adopted: the fix for a leak is a test, not a comment.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in the repository: the paper-ready report, this review's progress report, a complete working record, an interactive results dashboard, the memgate library of about 6,500 lines with 17 runnable experiments, and a 6-page IEEE-format paper.</a:t>
            </a:r>
          </a:p>
          <a:p/>
          <a:p>
            <a:r>
              <a:t>Every table in the paper and every number in this deck is generated from committed results files, including this deck itself. You can check any number without re-running the benchmark.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timeline, the filled bars are complete. Every planned track was closed by the end of September: the literature review in July, the harness and the LoCoMo evaluation, the storage and significance work, LongMemEval, abstractive compression, online learning and the compiled paper.</a:t>
            </a:r>
          </a:p>
          <a:p/>
          <a:p>
            <a:r>
              <a:t>We are at Review 2 now, in early October. Before the final review in the first week of November, two things remain. The first is a scorer that transfers across corpora, which LongMemEval made the live question. The second is the final report and defence preparation.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limitations.</a:t>
            </a:r>
          </a:p>
          <a:p/>
          <a:p>
            <a:r>
              <a:t>Ten conversations means wide intervals. Context recall is a ceiling on accuracy, not accuracy itself. Compression is now tested in both forms: rewriting beats word-selection by 4.1 points but still loses to dropping, at 1,850 times the cost. Concatenated streams are synthetic. We used one embedder and one judge model. P3 is an upper bound, not something an agent could run live. And the scorer is tuned to LoCoMo, so plus 8.7 is what selection recovers given a scorer that suits the corpus.</a:t>
            </a:r>
          </a:p>
          <a:p/>
          <a:p>
            <a:r>
              <a:t>On the right is what remains. First and most important is a scorer that transfers across corpora. The obvious first try is to run our online learner on LongMemEval. After that come a larger summariser and a second reader model.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a:t>
            </a:r>
          </a:p>
          <a:p/>
          <a:p>
            <a:r>
              <a:t>With storage unlimited, tiered compression is a net loss. With storage bounded, the decision policy is worth 8.7 answer-recall points, and compression still loses. The rate–distortion crossover is not reachable even at 182 times compression. Charging for the index flips the ranking below about 40 KiB. An LLM judge loses to a regex, for a reason we can diagnose. And on a second benchmark our headline does not replicate, because of the scorer, not the mechanism.</a:t>
            </a:r>
          </a:p>
          <a:p/>
          <a:p>
            <a:r>
              <a:t>The practical guidance is this: keep a scored subset whole, don't compress everything, and budget in bytes, including the index.</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our main references. MemGPT is the base paper and LoCoMo is the benchmark. We checked every citation against its source.</a:t>
            </a:r>
          </a:p>
          <a:p/>
          <a:p>
            <a:r>
              <a:t>(Don't read the list. Move 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We're happy to take questions, including on the results that did not work.</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only if asked.) This is every storage configuration we ran: all five policies at every budget from 512 to 16,384 tokens, with the context fixed at 2048. The rows behind slide 11 are here.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only if asked.) This is how the repository is organised. Every experiment has its own script, and every result it produces is committed under memgate/results.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64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7/25/26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7/25/26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4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7/25/26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4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7/25/26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7/25/26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8288000" cy="10286999"/>
          </a:xfrm>
          <a:prstGeom prst="rect">
            <a:avLst/>
          </a:prstGeom>
        </p:spPr>
      </p:pic>
      <p:sp>
        <p:nvSpPr>
          <p:cNvPr id="2" name="Holder 2"/>
          <p:cNvSpPr>
            <a:spLocks noGrp="1"/>
          </p:cNvSpPr>
          <p:nvPr>
            <p:ph type="title"/>
          </p:nvPr>
        </p:nvSpPr>
        <p:spPr>
          <a:xfrm>
            <a:off x="5967252" y="758019"/>
            <a:ext cx="6353494" cy="1279094"/>
          </a:xfrm>
          <a:prstGeom prst="rect">
            <a:avLst/>
          </a:prstGeom>
        </p:spPr>
        <p:txBody>
          <a:bodyPr wrap="square" lIns="0" tIns="0" rIns="0" bIns="0">
            <a:spAutoFit/>
          </a:bodyPr>
          <a:lstStyle>
            <a:lvl1pPr>
              <a:defRPr sz="6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2641634" y="2451766"/>
            <a:ext cx="13084810" cy="6311900"/>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7/25/26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37360" y="2331720"/>
            <a:ext cx="14813280" cy="6949440"/>
          </a:xfrm>
          <a:prstGeom prst="rect">
            <a:avLst/>
          </a:prstGeom>
          <a:noFill/>
        </p:spPr>
        <p:txBody>
          <a:bodyPr wrap="square">
            <a:spAutoFit/>
          </a:bodyPr>
          <a:lstStyle/>
          <a:p>
            <a:pPr algn="ctr"/>
            <a:r>
              <a:rPr sz="4400" b="1" i="0">
                <a:solidFill>
                  <a:srgbClr val="1A1A1A"/>
                </a:solidFill>
                <a:latin typeface="Times New Roman"/>
              </a:rPr>
              <a:t>MemGate: What to Keep, What to Forget</a:t>
            </a:r>
          </a:p>
          <a:p>
            <a:pPr algn="ctr">
              <a:spcBef>
                <a:spcPts val="1400"/>
              </a:spcBef>
            </a:pPr>
            <a:r>
              <a:rPr sz="2600" b="0" i="1">
                <a:solidFill>
                  <a:srgbClr val="5A5A5A"/>
                </a:solidFill>
                <a:latin typeface="Times New Roman"/>
              </a:rPr>
              <a:t>A measured study of the memory decision policy for long-running LLM agents, under a bounded store</a:t>
            </a:r>
          </a:p>
          <a:p>
            <a:pPr algn="ctr">
              <a:spcBef>
                <a:spcPts val="4000"/>
              </a:spcBef>
            </a:pPr>
            <a:r>
              <a:rPr sz="3200" b="0" i="0">
                <a:solidFill>
                  <a:srgbClr val="1A1A1A"/>
                </a:solidFill>
                <a:latin typeface="Times New Roman"/>
              </a:rPr>
              <a:t>Simar Singh Khanuja - 70562200088</a:t>
            </a:r>
          </a:p>
          <a:p>
            <a:pPr algn="ctr"/>
            <a:r>
              <a:rPr sz="3200" b="0" i="0">
                <a:solidFill>
                  <a:srgbClr val="1A1A1A"/>
                </a:solidFill>
                <a:latin typeface="Times New Roman"/>
              </a:rPr>
              <a:t>Yash Ramchandani - 70562300097</a:t>
            </a:r>
          </a:p>
          <a:p>
            <a:pPr algn="ctr">
              <a:spcBef>
                <a:spcPts val="3000"/>
              </a:spcBef>
            </a:pPr>
            <a:r>
              <a:rPr sz="3200" b="1" i="0">
                <a:solidFill>
                  <a:srgbClr val="C1272D"/>
                </a:solidFill>
                <a:latin typeface="Calibri"/>
              </a:rPr>
              <a:t>SVKM’s NMIMS, Indore Campus</a:t>
            </a:r>
          </a:p>
          <a:p>
            <a:pPr algn="ctr">
              <a:spcBef>
                <a:spcPts val="1000"/>
              </a:spcBef>
            </a:pPr>
            <a:r>
              <a:rPr sz="2400" b="0" i="0">
                <a:solidFill>
                  <a:srgbClr val="5A5A5A"/>
                </a:solidFill>
                <a:latin typeface="Times New Roman"/>
              </a:rPr>
              <a:t>Capstone Project  ·  Review 2,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4200" b="1" i="0">
                <a:solidFill>
                  <a:srgbClr val="111111"/>
                </a:solidFill>
                <a:latin typeface="Times New Roman"/>
              </a:rPr>
              <a:t>Where the project stands</a:t>
            </a:r>
          </a:p>
        </p:txBody>
      </p:sp>
      <p:sp>
        <p:nvSpPr>
          <p:cNvPr id="3" name="TextBox 2"/>
          <p:cNvSpPr txBox="1"/>
          <p:nvPr/>
        </p:nvSpPr>
        <p:spPr>
          <a:xfrm>
            <a:off x="2834640" y="1700784"/>
            <a:ext cx="12618720" cy="731520"/>
          </a:xfrm>
          <a:prstGeom prst="rect">
            <a:avLst/>
          </a:prstGeom>
          <a:noFill/>
        </p:spPr>
        <p:txBody>
          <a:bodyPr wrap="square" tIns="0" bIns="0">
            <a:spAutoFit/>
          </a:bodyPr>
          <a:lstStyle/>
          <a:p>
            <a:pPr algn="ctr"/>
            <a:r>
              <a:rPr sz="1600" b="0" i="1">
                <a:solidFill>
                  <a:srgbClr val="5A5A5A"/>
                </a:solidFill>
                <a:latin typeface="Times New Roman"/>
              </a:rPr>
              <a:t>Eleven experiments run end to end; every claim carries a clustered confidence interval. The last of them put the headline itself to the test.</a:t>
            </a:r>
          </a:p>
        </p:txBody>
      </p:sp>
      <p:graphicFrame>
        <p:nvGraphicFramePr>
          <p:cNvPr id="4" name="Table 3"/>
          <p:cNvGraphicFramePr>
            <a:graphicFrameLocks noGrp="1"/>
          </p:cNvGraphicFramePr>
          <p:nvPr/>
        </p:nvGraphicFramePr>
        <p:xfrm>
          <a:off x="822960" y="2514600"/>
          <a:ext cx="16642080" cy="5705856"/>
        </p:xfrm>
        <a:graphic>
          <a:graphicData uri="http://schemas.openxmlformats.org/drawingml/2006/table">
            <a:tbl>
              <a:tblPr firstRow="1" bandRow="1">
                <a:tableStyleId>{5C22544A-7EE6-4342-B048-85BDC9FD1C3A}</a:tableStyleId>
              </a:tblPr>
              <a:tblGrid>
                <a:gridCol w="7315200"/>
                <a:gridCol w="2194560"/>
                <a:gridCol w="7132320"/>
              </a:tblGrid>
              <a:tr h="475488">
                <a:tc>
                  <a:txBody>
                    <a:bodyPr/>
                    <a:lstStyle/>
                    <a:p>
                      <a:r>
                        <a:rPr sz="1800" b="1" i="0">
                          <a:solidFill>
                            <a:srgbClr val="111111"/>
                          </a:solidFill>
                          <a:latin typeface="Times New Roman"/>
                        </a:rPr>
                        <a:t>Workstream</a:t>
                      </a:r>
                    </a:p>
                  </a:txBody>
                  <a:tcPr anchor="ctr" marL="128016" marR="91440" marT="27432" marB="27432"/>
                </a:tc>
                <a:tc>
                  <a:txBody>
                    <a:bodyPr/>
                    <a:lstStyle/>
                    <a:p>
                      <a:r>
                        <a:rPr sz="1800" b="1" i="0">
                          <a:solidFill>
                            <a:srgbClr val="111111"/>
                          </a:solidFill>
                          <a:latin typeface="Times New Roman"/>
                        </a:rPr>
                        <a:t>State</a:t>
                      </a:r>
                    </a:p>
                  </a:txBody>
                  <a:tcPr anchor="ctr" marL="128016" marR="91440" marT="27432" marB="27432"/>
                </a:tc>
                <a:tc>
                  <a:txBody>
                    <a:bodyPr/>
                    <a:lstStyle/>
                    <a:p>
                      <a:r>
                        <a:rPr sz="1800" b="1" i="0">
                          <a:solidFill>
                            <a:srgbClr val="111111"/>
                          </a:solidFill>
                          <a:latin typeface="Times New Roman"/>
                        </a:rPr>
                        <a:t>Evidence</a:t>
                      </a:r>
                    </a:p>
                  </a:txBody>
                  <a:tcPr anchor="ctr" marL="128016" marR="91440" marT="27432" marB="27432"/>
                </a:tc>
              </a:tr>
              <a:tr h="475488">
                <a:tc>
                  <a:txBody>
                    <a:bodyPr/>
                    <a:lstStyle/>
                    <a:p>
                      <a:r>
                        <a:rPr sz="1800" b="0" i="0">
                          <a:solidFill>
                            <a:srgbClr val="1A1A1A"/>
                          </a:solidFill>
                          <a:latin typeface="Times New Roman"/>
                        </a:rPr>
                        <a:t>Harness, three-tier store, policies P0 / P1</a:t>
                      </a:r>
                    </a:p>
                  </a:txBody>
                  <a:tcPr anchor="ctr" marL="128016" marR="91440" marT="27432" marB="27432"/>
                </a:tc>
                <a:tc>
                  <a:txBody>
                    <a:bodyPr/>
                    <a:lstStyle/>
                    <a:p>
                      <a:r>
                        <a:rPr sz="1800" b="1" i="0">
                          <a:solidFill>
                            <a:srgbClr val="C1272D"/>
                          </a:solidFill>
                          <a:latin typeface="Times New Roman"/>
                        </a:rPr>
                        <a:t>Complete</a:t>
                      </a:r>
                    </a:p>
                  </a:txBody>
                  <a:tcPr anchor="ctr" marL="128016" marR="91440" marT="27432" marB="27432"/>
                </a:tc>
                <a:tc>
                  <a:txBody>
                    <a:bodyPr/>
                    <a:lstStyle/>
                    <a:p>
                      <a:r>
                        <a:rPr sz="1800" b="0" i="0">
                          <a:solidFill>
                            <a:srgbClr val="1A1A1A"/>
                          </a:solidFill>
                          <a:latin typeface="Times New Roman"/>
                        </a:rPr>
                        <a:t>memgate/ — ~6,500 lines of Python</a:t>
                      </a:r>
                    </a:p>
                  </a:txBody>
                  <a:tcPr anchor="ctr" marL="128016" marR="91440" marT="27432" marB="27432"/>
                </a:tc>
              </a:tr>
              <a:tr h="475488">
                <a:tc>
                  <a:txBody>
                    <a:bodyPr/>
                    <a:lstStyle/>
                    <a:p>
                      <a:r>
                        <a:rPr sz="1800" b="0" i="0">
                          <a:solidFill>
                            <a:srgbClr val="1A1A1A"/>
                          </a:solidFill>
                          <a:latin typeface="Times New Roman"/>
                        </a:rPr>
                        <a:t>LoCoMo wired; the evaluation leak removed</a:t>
                      </a:r>
                    </a:p>
                  </a:txBody>
                  <a:tcPr anchor="ctr" marL="128016" marR="91440" marT="27432" marB="27432"/>
                </a:tc>
                <a:tc>
                  <a:txBody>
                    <a:bodyPr/>
                    <a:lstStyle/>
                    <a:p>
                      <a:r>
                        <a:rPr sz="1800" b="1" i="0">
                          <a:solidFill>
                            <a:srgbClr val="C1272D"/>
                          </a:solidFill>
                          <a:latin typeface="Times New Roman"/>
                        </a:rPr>
                        <a:t>Complete</a:t>
                      </a:r>
                    </a:p>
                  </a:txBody>
                  <a:tcPr anchor="ctr" marL="128016" marR="91440" marT="27432" marB="27432"/>
                </a:tc>
                <a:tc>
                  <a:txBody>
                    <a:bodyPr/>
                    <a:lstStyle/>
                    <a:p>
                      <a:pPr algn="r"/>
                      <a:r>
                        <a:rPr sz="1800" b="0" i="0">
                          <a:solidFill>
                            <a:srgbClr val="1A1A1A"/>
                          </a:solidFill>
                          <a:latin typeface="Times New Roman"/>
                        </a:rPr>
                        <a:t>3 label-blindness regression tests</a:t>
                      </a:r>
                    </a:p>
                  </a:txBody>
                  <a:tcPr anchor="ctr" marL="128016" marR="91440" marT="27432" marB="27432"/>
                </a:tc>
              </a:tr>
              <a:tr h="475488">
                <a:tc>
                  <a:txBody>
                    <a:bodyPr/>
                    <a:lstStyle/>
                    <a:p>
                      <a:r>
                        <a:rPr sz="1800" b="0" i="0">
                          <a:solidFill>
                            <a:srgbClr val="1A1A1A"/>
                          </a:solidFill>
                          <a:latin typeface="Times New Roman"/>
                        </a:rPr>
                        <a:t>Ablation study — 23 configurations</a:t>
                      </a:r>
                    </a:p>
                  </a:txBody>
                  <a:tcPr anchor="ctr" marL="128016" marR="91440" marT="27432" marB="27432"/>
                </a:tc>
                <a:tc>
                  <a:txBody>
                    <a:bodyPr/>
                    <a:lstStyle/>
                    <a:p>
                      <a:r>
                        <a:rPr sz="1800" b="1" i="0">
                          <a:solidFill>
                            <a:srgbClr val="C1272D"/>
                          </a:solidFill>
                          <a:latin typeface="Times New Roman"/>
                        </a:rPr>
                        <a:t>Complete</a:t>
                      </a:r>
                    </a:p>
                  </a:txBody>
                  <a:tcPr anchor="ctr" marL="128016" marR="91440" marT="27432" marB="27432"/>
                </a:tc>
                <a:tc>
                  <a:txBody>
                    <a:bodyPr/>
                    <a:lstStyle/>
                    <a:p>
                      <a:r>
                        <a:rPr sz="1800" b="0" i="0">
                          <a:solidFill>
                            <a:srgbClr val="1A1A1A"/>
                          </a:solidFill>
                          <a:latin typeface="Times New Roman"/>
                        </a:rPr>
                        <a:t>results/ablations_2048.csv</a:t>
                      </a:r>
                    </a:p>
                  </a:txBody>
                  <a:tcPr anchor="ctr" marL="128016" marR="91440" marT="27432" marB="27432"/>
                </a:tc>
              </a:tr>
              <a:tr h="475488">
                <a:tc>
                  <a:txBody>
                    <a:bodyPr/>
                    <a:lstStyle/>
                    <a:p>
                      <a:r>
                        <a:rPr sz="1800" b="0" i="0">
                          <a:solidFill>
                            <a:srgbClr val="1A1A1A"/>
                          </a:solidFill>
                          <a:latin typeface="Times New Roman"/>
                        </a:rPr>
                        <a:t>Storage budget — the corrected accounting</a:t>
                      </a:r>
                    </a:p>
                  </a:txBody>
                  <a:tcPr anchor="ctr" marL="128016" marR="91440" marT="27432" marB="27432"/>
                </a:tc>
                <a:tc>
                  <a:txBody>
                    <a:bodyPr/>
                    <a:lstStyle/>
                    <a:p>
                      <a:r>
                        <a:rPr sz="1800" b="1" i="0">
                          <a:solidFill>
                            <a:srgbClr val="C1272D"/>
                          </a:solidFill>
                          <a:latin typeface="Times New Roman"/>
                        </a:rPr>
                        <a:t>Complete</a:t>
                      </a:r>
                    </a:p>
                  </a:txBody>
                  <a:tcPr anchor="ctr" marL="128016" marR="91440" marT="27432" marB="27432"/>
                </a:tc>
                <a:tc>
                  <a:txBody>
                    <a:bodyPr/>
                    <a:lstStyle/>
                    <a:p>
                      <a:pPr algn="r"/>
                      <a:r>
                        <a:rPr sz="1800" b="0" i="0">
                          <a:solidFill>
                            <a:srgbClr val="1A1A1A"/>
                          </a:solidFill>
                          <a:latin typeface="Times New Roman"/>
                        </a:rPr>
                        <a:t>35 configurations swept</a:t>
                      </a:r>
                    </a:p>
                  </a:txBody>
                  <a:tcPr anchor="ctr" marL="128016" marR="91440" marT="27432" marB="27432"/>
                </a:tc>
              </a:tr>
              <a:tr h="475488">
                <a:tc>
                  <a:txBody>
                    <a:bodyPr/>
                    <a:lstStyle/>
                    <a:p>
                      <a:r>
                        <a:rPr sz="1800" b="0" i="0">
                          <a:solidFill>
                            <a:srgbClr val="1A1A1A"/>
                          </a:solidFill>
                          <a:latin typeface="Times New Roman"/>
                        </a:rPr>
                        <a:t>Significance: bootstrap + exact McNemar</a:t>
                      </a:r>
                    </a:p>
                  </a:txBody>
                  <a:tcPr anchor="ctr" marL="128016" marR="91440" marT="27432" marB="27432"/>
                </a:tc>
                <a:tc>
                  <a:txBody>
                    <a:bodyPr/>
                    <a:lstStyle/>
                    <a:p>
                      <a:r>
                        <a:rPr sz="1800" b="1" i="0">
                          <a:solidFill>
                            <a:srgbClr val="C1272D"/>
                          </a:solidFill>
                          <a:latin typeface="Times New Roman"/>
                        </a:rPr>
                        <a:t>Complete</a:t>
                      </a:r>
                    </a:p>
                  </a:txBody>
                  <a:tcPr anchor="ctr" marL="128016" marR="91440" marT="27432" marB="27432"/>
                </a:tc>
                <a:tc>
                  <a:txBody>
                    <a:bodyPr/>
                    <a:lstStyle/>
                    <a:p>
                      <a:r>
                        <a:rPr sz="1800" b="0" i="0">
                          <a:solidFill>
                            <a:srgbClr val="1A1A1A"/>
                          </a:solidFill>
                          <a:latin typeface="Times New Roman"/>
                        </a:rPr>
                        <a:t>clustered by conversation, B = 10,000</a:t>
                      </a:r>
                    </a:p>
                  </a:txBody>
                  <a:tcPr anchor="ctr" marL="128016" marR="91440" marT="27432" marB="27432"/>
                </a:tc>
              </a:tr>
              <a:tr h="475488">
                <a:tc>
                  <a:txBody>
                    <a:bodyPr/>
                    <a:lstStyle/>
                    <a:p>
                      <a:r>
                        <a:rPr sz="1800" b="0" i="0">
                          <a:solidFill>
                            <a:srgbClr val="1A1A1A"/>
                          </a:solidFill>
                          <a:latin typeface="Times New Roman"/>
                        </a:rPr>
                        <a:t>Scaling to 182× · byte accounting · learned scorer</a:t>
                      </a:r>
                    </a:p>
                  </a:txBody>
                  <a:tcPr anchor="ctr" marL="128016" marR="91440" marT="27432" marB="27432"/>
                </a:tc>
                <a:tc>
                  <a:txBody>
                    <a:bodyPr/>
                    <a:lstStyle/>
                    <a:p>
                      <a:r>
                        <a:rPr sz="1800" b="1" i="0">
                          <a:solidFill>
                            <a:srgbClr val="C1272D"/>
                          </a:solidFill>
                          <a:latin typeface="Times New Roman"/>
                        </a:rPr>
                        <a:t>Complete</a:t>
                      </a:r>
                    </a:p>
                  </a:txBody>
                  <a:tcPr anchor="ctr" marL="128016" marR="91440" marT="27432" marB="27432"/>
                </a:tc>
                <a:tc>
                  <a:txBody>
                    <a:bodyPr/>
                    <a:lstStyle/>
                    <a:p>
                      <a:r>
                        <a:rPr sz="1800" b="0" i="0">
                          <a:solidFill>
                            <a:srgbClr val="1A1A1A"/>
                          </a:solidFill>
                          <a:latin typeface="Times New Roman"/>
                        </a:rPr>
                        <a:t>three separate sweeps</a:t>
                      </a:r>
                    </a:p>
                  </a:txBody>
                  <a:tcPr anchor="ctr" marL="128016" marR="91440" marT="27432" marB="27432"/>
                </a:tc>
              </a:tr>
              <a:tr h="475488">
                <a:tc>
                  <a:txBody>
                    <a:bodyPr/>
                    <a:lstStyle/>
                    <a:p>
                      <a:r>
                        <a:rPr sz="1800" b="0" i="0">
                          <a:solidFill>
                            <a:srgbClr val="1A1A1A"/>
                          </a:solidFill>
                          <a:latin typeface="Times New Roman"/>
                        </a:rPr>
                        <a:t>P2 LLM judge — built and evaluated</a:t>
                      </a:r>
                    </a:p>
                  </a:txBody>
                  <a:tcPr anchor="ctr" marL="128016" marR="91440" marT="27432" marB="27432"/>
                </a:tc>
                <a:tc>
                  <a:txBody>
                    <a:bodyPr/>
                    <a:lstStyle/>
                    <a:p>
                      <a:r>
                        <a:rPr sz="1800" b="1" i="0">
                          <a:solidFill>
                            <a:srgbClr val="C1272D"/>
                          </a:solidFill>
                          <a:latin typeface="Times New Roman"/>
                        </a:rPr>
                        <a:t>Complete</a:t>
                      </a:r>
                    </a:p>
                  </a:txBody>
                  <a:tcPr anchor="ctr" marL="128016" marR="91440" marT="27432" marB="27432"/>
                </a:tc>
                <a:tc>
                  <a:txBody>
                    <a:bodyPr/>
                    <a:lstStyle/>
                    <a:p>
                      <a:r>
                        <a:rPr sz="1800" b="0" i="0">
                          <a:solidFill>
                            <a:srgbClr val="1A1A1A"/>
                          </a:solidFill>
                          <a:latin typeface="Times New Roman"/>
                        </a:rPr>
                        <a:t>single-component swap, with CIs</a:t>
                      </a:r>
                    </a:p>
                  </a:txBody>
                  <a:tcPr anchor="ctr" marL="128016" marR="91440" marT="27432" marB="27432"/>
                </a:tc>
              </a:tr>
              <a:tr h="475488">
                <a:tc>
                  <a:txBody>
                    <a:bodyPr/>
                    <a:lstStyle/>
                    <a:p>
                      <a:r>
                        <a:rPr sz="1800" b="0" i="0">
                          <a:solidFill>
                            <a:srgbClr val="1A1A1A"/>
                          </a:solidFill>
                          <a:latin typeface="Times New Roman"/>
                        </a:rPr>
                        <a:t>End-task accuracy through a real reader</a:t>
                      </a:r>
                    </a:p>
                  </a:txBody>
                  <a:tcPr anchor="ctr" marL="128016" marR="91440" marT="27432" marB="27432"/>
                </a:tc>
                <a:tc>
                  <a:txBody>
                    <a:bodyPr/>
                    <a:lstStyle/>
                    <a:p>
                      <a:r>
                        <a:rPr sz="1800" b="1" i="0">
                          <a:solidFill>
                            <a:srgbClr val="C1272D"/>
                          </a:solidFill>
                          <a:latin typeface="Times New Roman"/>
                        </a:rPr>
                        <a:t>Complete</a:t>
                      </a:r>
                    </a:p>
                  </a:txBody>
                  <a:tcPr anchor="ctr" marL="128016" marR="91440" marT="27432" marB="27432"/>
                </a:tc>
                <a:tc>
                  <a:txBody>
                    <a:bodyPr/>
                    <a:lstStyle/>
                    <a:p>
                      <a:r>
                        <a:rPr sz="1800" b="0" i="0">
                          <a:solidFill>
                            <a:srgbClr val="1A1A1A"/>
                          </a:solidFill>
                          <a:latin typeface="Times New Roman"/>
                        </a:rPr>
                        <a:t>full 715-question run; results/endtask.csv</a:t>
                      </a:r>
                    </a:p>
                  </a:txBody>
                  <a:tcPr anchor="ctr" marL="128016" marR="91440" marT="27432" marB="27432"/>
                </a:tc>
              </a:tr>
              <a:tr h="475488">
                <a:tc>
                  <a:txBody>
                    <a:bodyPr/>
                    <a:lstStyle/>
                    <a:p>
                      <a:r>
                        <a:rPr sz="1800" b="0" i="0">
                          <a:solidFill>
                            <a:srgbClr val="1A1A1A"/>
                          </a:solidFill>
                          <a:latin typeface="Times New Roman"/>
                        </a:rPr>
                        <a:t>LongMemEval — the headline tested on a second benchmark</a:t>
                      </a:r>
                    </a:p>
                  </a:txBody>
                  <a:tcPr anchor="ctr" marL="128016" marR="91440" marT="27432" marB="27432"/>
                </a:tc>
                <a:tc>
                  <a:txBody>
                    <a:bodyPr/>
                    <a:lstStyle/>
                    <a:p>
                      <a:r>
                        <a:rPr sz="1800" b="1" i="0">
                          <a:solidFill>
                            <a:srgbClr val="C1272D"/>
                          </a:solidFill>
                          <a:latin typeface="Times New Roman"/>
                        </a:rPr>
                        <a:t>Complete</a:t>
                      </a:r>
                    </a:p>
                  </a:txBody>
                  <a:tcPr anchor="ctr" marL="128016" marR="91440" marT="27432" marB="27432"/>
                </a:tc>
                <a:tc>
                  <a:txBody>
                    <a:bodyPr/>
                    <a:lstStyle/>
                    <a:p>
                      <a:pPr algn="r"/>
                      <a:r>
                        <a:rPr sz="1800" b="0" i="0">
                          <a:solidFill>
                            <a:srgbClr val="1A1A1A"/>
                          </a:solidFill>
                          <a:latin typeface="Times New Roman"/>
                        </a:rPr>
                        <a:t>94 haystacks; it does not replicate, and we know why</a:t>
                      </a:r>
                    </a:p>
                  </a:txBody>
                  <a:tcPr anchor="ctr" marL="128016" marR="91440" marT="27432" marB="27432"/>
                </a:tc>
              </a:tr>
              <a:tr h="475488">
                <a:tc>
                  <a:txBody>
                    <a:bodyPr/>
                    <a:lstStyle/>
                    <a:p>
                      <a:r>
                        <a:rPr sz="1800" b="0" i="0">
                          <a:solidFill>
                            <a:srgbClr val="1A1A1A"/>
                          </a:solidFill>
                          <a:latin typeface="Times New Roman"/>
                        </a:rPr>
                        <a:t>IEEE paper — compiled, cut to 6 pages</a:t>
                      </a:r>
                    </a:p>
                  </a:txBody>
                  <a:tcPr anchor="ctr" marL="128016" marR="91440" marT="27432" marB="27432"/>
                </a:tc>
                <a:tc>
                  <a:txBody>
                    <a:bodyPr/>
                    <a:lstStyle/>
                    <a:p>
                      <a:r>
                        <a:rPr sz="1800" b="1" i="0">
                          <a:solidFill>
                            <a:srgbClr val="C1272D"/>
                          </a:solidFill>
                          <a:latin typeface="Times New Roman"/>
                        </a:rPr>
                        <a:t>Complete</a:t>
                      </a:r>
                    </a:p>
                  </a:txBody>
                  <a:tcPr anchor="ctr" marL="128016" marR="91440" marT="27432" marB="27432"/>
                </a:tc>
                <a:tc>
                  <a:txBody>
                    <a:bodyPr/>
                    <a:lstStyle/>
                    <a:p>
                      <a:r>
                        <a:rPr sz="1800" b="0" i="0">
                          <a:solidFill>
                            <a:srgbClr val="1A1A1A"/>
                          </a:solidFill>
                          <a:latin typeface="Times New Roman"/>
                        </a:rPr>
                        <a:t>paper/main.pdf, 19/19 citations</a:t>
                      </a:r>
                    </a:p>
                  </a:txBody>
                  <a:tcPr anchor="ctr" marL="128016" marR="91440" marT="27432" marB="27432"/>
                </a:tc>
              </a:tr>
              <a:tr h="475488">
                <a:tc>
                  <a:txBody>
                    <a:bodyPr/>
                    <a:lstStyle/>
                    <a:p>
                      <a:r>
                        <a:rPr sz="1800" b="0" i="0">
                          <a:solidFill>
                            <a:srgbClr val="1A1A1A"/>
                          </a:solidFill>
                          <a:latin typeface="Times New Roman"/>
                        </a:rPr>
                        <a:t>Abstractive compression · online learning</a:t>
                      </a:r>
                    </a:p>
                  </a:txBody>
                  <a:tcPr anchor="ctr" marL="128016" marR="91440" marT="27432" marB="27432"/>
                </a:tc>
                <a:tc>
                  <a:txBody>
                    <a:bodyPr/>
                    <a:lstStyle/>
                    <a:p>
                      <a:r>
                        <a:rPr sz="1800" b="1" i="0">
                          <a:solidFill>
                            <a:srgbClr val="C1272D"/>
                          </a:solidFill>
                          <a:latin typeface="Times New Roman"/>
                        </a:rPr>
                        <a:t>Complete</a:t>
                      </a:r>
                    </a:p>
                  </a:txBody>
                  <a:tcPr anchor="ctr" marL="128016" marR="91440" marT="27432" marB="27432"/>
                </a:tc>
                <a:tc>
                  <a:txBody>
                    <a:bodyPr/>
                    <a:lstStyle/>
                    <a:p>
                      <a:r>
                        <a:rPr sz="1800" b="0" i="0">
                          <a:solidFill>
                            <a:srgbClr val="1A1A1A"/>
                          </a:solidFill>
                          <a:latin typeface="Times New Roman"/>
                        </a:rPr>
                        <a:t>all ten conversations; both revised a claim of ours</a:t>
                      </a:r>
                    </a:p>
                  </a:txBody>
                  <a:tcPr anchor="ctr" marL="128016" marR="91440" marT="27432" marB="27432"/>
                </a:tc>
              </a:tr>
            </a:tbl>
          </a:graphicData>
        </a:graphic>
      </p:graphicFrame>
      <p:sp>
        <p:nvSpPr>
          <p:cNvPr id="5" name="Rectangle 4"/>
          <p:cNvSpPr/>
          <p:nvPr/>
        </p:nvSpPr>
        <p:spPr>
          <a:xfrm>
            <a:off x="822960" y="8503920"/>
            <a:ext cx="64008" cy="1234440"/>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86968" y="8503920"/>
            <a:ext cx="16578072" cy="1234440"/>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8595360"/>
            <a:ext cx="16002000" cy="1051560"/>
          </a:xfrm>
          <a:prstGeom prst="rect">
            <a:avLst/>
          </a:prstGeom>
          <a:noFill/>
        </p:spPr>
        <p:txBody>
          <a:bodyPr wrap="square" anchor="ctr">
            <a:spAutoFit/>
          </a:bodyPr>
          <a:lstStyle/>
          <a:p>
            <a:pPr>
              <a:lnSpc>
                <a:spcPct val="105000"/>
              </a:lnSpc>
            </a:pPr>
            <a:r>
              <a:rPr sz="2300" b="0" i="0">
                <a:solidFill>
                  <a:srgbClr val="1A1A1A"/>
                </a:solidFill>
                <a:latin typeface="Times New Roman"/>
              </a:rPr>
              <a:t>The headline:  </a:t>
            </a:r>
            <a:r>
              <a:rPr sz="2300" b="1" i="0">
                <a:solidFill>
                  <a:srgbClr val="1A1A1A"/>
                </a:solidFill>
                <a:latin typeface="Times New Roman"/>
              </a:rPr>
              <a:t>+9.4 answer-recall points</a:t>
            </a:r>
            <a:r>
              <a:rPr sz="2300" b="0" i="0">
                <a:solidFill>
                  <a:srgbClr val="1A1A1A"/>
                </a:solidFill>
                <a:latin typeface="Times New Roman"/>
              </a:rPr>
              <a:t> for choosing which turns to forget, over forgetting oldest-first — at identical storage, fidelity and retrieval. On a second benchmark it does not hold, and the cause is the scorer rather than the mechanism (slides 18–19).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4200" b="1" i="0">
                <a:solidFill>
                  <a:srgbClr val="111111"/>
                </a:solidFill>
                <a:latin typeface="Times New Roman"/>
              </a:rPr>
              <a:t>First: a Review 1 number is withdrawn</a:t>
            </a:r>
          </a:p>
        </p:txBody>
      </p:sp>
      <p:sp>
        <p:nvSpPr>
          <p:cNvPr id="3" name="TextBox 2"/>
          <p:cNvSpPr txBox="1"/>
          <p:nvPr/>
        </p:nvSpPr>
        <p:spPr>
          <a:xfrm>
            <a:off x="2834640" y="1700784"/>
            <a:ext cx="12618720" cy="731520"/>
          </a:xfrm>
          <a:prstGeom prst="rect">
            <a:avLst/>
          </a:prstGeom>
          <a:noFill/>
        </p:spPr>
        <p:txBody>
          <a:bodyPr wrap="square" tIns="0" bIns="0">
            <a:spAutoFit/>
          </a:bodyPr>
          <a:lstStyle/>
          <a:p>
            <a:pPr algn="ctr"/>
            <a:r>
              <a:rPr sz="1800" b="0" i="1">
                <a:solidFill>
                  <a:srgbClr val="5A5A5A"/>
                </a:solidFill>
                <a:latin typeface="Times New Roman"/>
              </a:rPr>
              <a:t>Raised here rather than left for the panel to find.</a:t>
            </a:r>
          </a:p>
        </p:txBody>
      </p:sp>
      <p:sp>
        <p:nvSpPr>
          <p:cNvPr id="4" name="TextBox 3"/>
          <p:cNvSpPr txBox="1"/>
          <p:nvPr/>
        </p:nvSpPr>
        <p:spPr>
          <a:xfrm>
            <a:off x="822960" y="2514600"/>
            <a:ext cx="16642080" cy="1927352"/>
          </a:xfrm>
          <a:prstGeom prst="rect">
            <a:avLst/>
          </a:prstGeom>
          <a:noFill/>
        </p:spPr>
        <p:txBody>
          <a:bodyPr wrap="square">
            <a:spAutoFit/>
          </a:bodyPr>
          <a:lstStyle/>
          <a:p>
            <a:pPr>
              <a:lnSpc>
                <a:spcPct val="105000"/>
              </a:lnSpc>
              <a:spcAft>
                <a:spcPts val="1000"/>
              </a:spcAft>
            </a:pPr>
            <a:r>
              <a:rPr sz="2400" b="0" i="0">
                <a:solidFill>
                  <a:srgbClr val="C1272D"/>
                </a:solidFill>
                <a:latin typeface="Times New Roman"/>
              </a:rPr>
              <a:t>•  </a:t>
            </a:r>
            <a:r>
              <a:rPr sz="2400" b="1" i="0">
                <a:solidFill>
                  <a:srgbClr val="1A1A1A"/>
                </a:solidFill>
                <a:latin typeface="Times New Roman"/>
              </a:rPr>
              <a:t>The Review 1 deck reported 95% recall for MemGate against 10% for a sliding window. </a:t>
            </a:r>
            <a:r>
              <a:rPr sz="2400" b="0" i="0">
                <a:solidFill>
                  <a:srgbClr val="1A1A1A"/>
                </a:solidFill>
                <a:latin typeface="Times New Roman"/>
              </a:rPr>
              <a:t>That number was inflated by an evaluation leak.</a:t>
            </a:r>
          </a:p>
          <a:p>
            <a:pPr>
              <a:lnSpc>
                <a:spcPct val="105000"/>
              </a:lnSpc>
              <a:spcAft>
                <a:spcPts val="1000"/>
              </a:spcAft>
            </a:pPr>
            <a:r>
              <a:rPr sz="2400" b="0" i="0">
                <a:solidFill>
                  <a:srgbClr val="C1272D"/>
                </a:solidFill>
                <a:latin typeface="Times New Roman"/>
              </a:rPr>
              <a:t>•  </a:t>
            </a:r>
            <a:r>
              <a:rPr sz="2400" b="1" i="0">
                <a:solidFill>
                  <a:srgbClr val="1A1A1A"/>
                </a:solidFill>
                <a:latin typeface="Times New Roman"/>
              </a:rPr>
              <a:t>The leak. </a:t>
            </a:r>
            <a:r>
              <a:rPr sz="2400" b="0" i="0">
                <a:solidFill>
                  <a:srgbClr val="1A1A1A"/>
                </a:solidFill>
                <a:latin typeface="Times New Roman"/>
              </a:rPr>
              <a:t>The memory policy was reading fact_id — the ground-truth answer key — when deciding what to keep. It was worth 45–47 recall points.</a:t>
            </a:r>
          </a:p>
        </p:txBody>
      </p:sp>
      <p:graphicFrame>
        <p:nvGraphicFramePr>
          <p:cNvPr id="5" name="Table 4"/>
          <p:cNvGraphicFramePr>
            <a:graphicFrameLocks noGrp="1"/>
          </p:cNvGraphicFramePr>
          <p:nvPr/>
        </p:nvGraphicFramePr>
        <p:xfrm>
          <a:off x="822960" y="4251960"/>
          <a:ext cx="16642080" cy="1554480"/>
        </p:xfrm>
        <a:graphic>
          <a:graphicData uri="http://schemas.openxmlformats.org/drawingml/2006/table">
            <a:tbl>
              <a:tblPr firstRow="1" bandRow="1">
                <a:tableStyleId>{5C22544A-7EE6-4342-B048-85BDC9FD1C3A}</a:tableStyleId>
              </a:tblPr>
              <a:tblGrid>
                <a:gridCol w="7396480"/>
                <a:gridCol w="4622800"/>
                <a:gridCol w="4622800"/>
              </a:tblGrid>
              <a:tr h="518160">
                <a:tc>
                  <a:txBody>
                    <a:bodyPr/>
                    <a:lstStyle/>
                    <a:p>
                      <a:r>
                        <a:rPr sz="2200" b="1" i="0">
                          <a:solidFill>
                            <a:srgbClr val="111111"/>
                          </a:solidFill>
                          <a:latin typeface="Times New Roman"/>
                        </a:rPr>
                        <a:t>Synthetic set @ 800 tokens</a:t>
                      </a:r>
                    </a:p>
                  </a:txBody>
                  <a:tcPr anchor="ctr" marL="128016" marR="91440" marT="27432" marB="27432"/>
                </a:tc>
                <a:tc>
                  <a:txBody>
                    <a:bodyPr/>
                    <a:lstStyle/>
                    <a:p>
                      <a:r>
                        <a:rPr sz="2200" b="1" i="0">
                          <a:solidFill>
                            <a:srgbClr val="111111"/>
                          </a:solidFill>
                          <a:latin typeface="Times New Roman"/>
                        </a:rPr>
                        <a:t>As presented at Review 1</a:t>
                      </a:r>
                    </a:p>
                  </a:txBody>
                  <a:tcPr anchor="ctr" marL="128016" marR="91440" marT="27432" marB="27432"/>
                </a:tc>
                <a:tc>
                  <a:txBody>
                    <a:bodyPr/>
                    <a:lstStyle/>
                    <a:p>
                      <a:r>
                        <a:rPr sz="2200" b="1" i="0">
                          <a:solidFill>
                            <a:srgbClr val="111111"/>
                          </a:solidFill>
                          <a:latin typeface="Times New Roman"/>
                        </a:rPr>
                        <a:t>Honest</a:t>
                      </a:r>
                    </a:p>
                  </a:txBody>
                  <a:tcPr anchor="ctr" marL="128016" marR="91440" marT="27432" marB="27432"/>
                </a:tc>
              </a:tr>
              <a:tr h="518160">
                <a:tc>
                  <a:txBody>
                    <a:bodyPr/>
                    <a:lstStyle/>
                    <a:p>
                      <a:r>
                        <a:rPr sz="2200" b="0" i="0">
                          <a:solidFill>
                            <a:srgbClr val="1A1A1A"/>
                          </a:solidFill>
                          <a:latin typeface="Times New Roman"/>
                        </a:rPr>
                        <a:t>P1 MemGate</a:t>
                      </a:r>
                    </a:p>
                  </a:txBody>
                  <a:tcPr anchor="ctr" marL="128016" marR="91440" marT="27432" marB="27432"/>
                </a:tc>
                <a:tc>
                  <a:txBody>
                    <a:bodyPr/>
                    <a:lstStyle/>
                    <a:p>
                      <a:pPr algn="r"/>
                      <a:r>
                        <a:rPr sz="2200" b="0" i="0">
                          <a:solidFill>
                            <a:srgbClr val="1A1A1A"/>
                          </a:solidFill>
                          <a:latin typeface="Times New Roman"/>
                        </a:rPr>
                        <a:t>95.0%</a:t>
                      </a:r>
                    </a:p>
                  </a:txBody>
                  <a:tcPr anchor="ctr" marL="128016" marR="91440" marT="27432" marB="27432"/>
                </a:tc>
                <a:tc>
                  <a:txBody>
                    <a:bodyPr/>
                    <a:lstStyle/>
                    <a:p>
                      <a:r>
                        <a:rPr sz="2200" b="1" i="0">
                          <a:solidFill>
                            <a:srgbClr val="C1272D"/>
                          </a:solidFill>
                          <a:latin typeface="Times New Roman"/>
                        </a:rPr>
                        <a:t>50.0%</a:t>
                      </a:r>
                    </a:p>
                  </a:txBody>
                  <a:tcPr anchor="ctr" marL="128016" marR="91440" marT="27432" marB="27432"/>
                </a:tc>
              </a:tr>
              <a:tr h="518160">
                <a:tc>
                  <a:txBody>
                    <a:bodyPr/>
                    <a:lstStyle/>
                    <a:p>
                      <a:r>
                        <a:rPr sz="2200" b="0" i="0">
                          <a:solidFill>
                            <a:srgbClr val="1A1A1A"/>
                          </a:solidFill>
                          <a:latin typeface="Times New Roman"/>
                        </a:rPr>
                        <a:t>P0 sliding window</a:t>
                      </a:r>
                    </a:p>
                  </a:txBody>
                  <a:tcPr anchor="ctr" marL="128016" marR="91440" marT="27432" marB="27432"/>
                </a:tc>
                <a:tc>
                  <a:txBody>
                    <a:bodyPr/>
                    <a:lstStyle/>
                    <a:p>
                      <a:pPr algn="r"/>
                      <a:r>
                        <a:rPr sz="2200" b="0" i="0">
                          <a:solidFill>
                            <a:srgbClr val="1A1A1A"/>
                          </a:solidFill>
                          <a:latin typeface="Times New Roman"/>
                        </a:rPr>
                        <a:t>10.0%</a:t>
                      </a:r>
                    </a:p>
                  </a:txBody>
                  <a:tcPr anchor="ctr" marL="128016" marR="91440" marT="27432" marB="27432"/>
                </a:tc>
                <a:tc>
                  <a:txBody>
                    <a:bodyPr/>
                    <a:lstStyle/>
                    <a:p>
                      <a:pPr algn="r"/>
                      <a:r>
                        <a:rPr sz="2200" b="0" i="0">
                          <a:solidFill>
                            <a:srgbClr val="1A1A1A"/>
                          </a:solidFill>
                          <a:latin typeface="Times New Roman"/>
                        </a:rPr>
                        <a:t>10.0%</a:t>
                      </a:r>
                    </a:p>
                  </a:txBody>
                  <a:tcPr anchor="ctr" marL="128016" marR="91440" marT="27432" marB="27432"/>
                </a:tc>
              </a:tr>
            </a:tbl>
          </a:graphicData>
        </a:graphic>
      </p:graphicFrame>
      <p:sp>
        <p:nvSpPr>
          <p:cNvPr id="6" name="TextBox 5"/>
          <p:cNvSpPr txBox="1"/>
          <p:nvPr/>
        </p:nvSpPr>
        <p:spPr>
          <a:xfrm>
            <a:off x="822960" y="6126480"/>
            <a:ext cx="16642080" cy="1863344"/>
          </a:xfrm>
          <a:prstGeom prst="rect">
            <a:avLst/>
          </a:prstGeom>
          <a:noFill/>
        </p:spPr>
        <p:txBody>
          <a:bodyPr wrap="square">
            <a:spAutoFit/>
          </a:bodyPr>
          <a:lstStyle/>
          <a:p>
            <a:pPr>
              <a:lnSpc>
                <a:spcPct val="105000"/>
              </a:lnSpc>
              <a:spcAft>
                <a:spcPts val="1000"/>
              </a:spcAft>
            </a:pPr>
            <a:r>
              <a:rPr sz="2300" b="0" i="0">
                <a:solidFill>
                  <a:srgbClr val="C1272D"/>
                </a:solidFill>
                <a:latin typeface="Times New Roman"/>
              </a:rPr>
              <a:t>•  </a:t>
            </a:r>
            <a:r>
              <a:rPr sz="2300" b="1" i="0">
                <a:solidFill>
                  <a:srgbClr val="1A1A1A"/>
                </a:solidFill>
                <a:latin typeface="Times New Roman"/>
              </a:rPr>
              <a:t>The fix is a test, not a comment. </a:t>
            </a:r>
            <a:r>
              <a:rPr sz="2300" b="0" i="0">
                <a:solidFill>
                  <a:srgbClr val="1A1A1A"/>
                </a:solidFill>
                <a:latin typeface="Times New Roman"/>
              </a:rPr>
              <a:t>Strip every evaluation label from the input and the store must come out bit-identical. Each decision point added since — eviction under a storage budget, and demotion — was added to that test before any number from it was quoted.</a:t>
            </a:r>
          </a:p>
          <a:p>
            <a:pPr>
              <a:lnSpc>
                <a:spcPct val="105000"/>
              </a:lnSpc>
              <a:spcAft>
                <a:spcPts val="1000"/>
              </a:spcAft>
            </a:pPr>
            <a:r>
              <a:rPr sz="2300" b="0" i="0">
                <a:solidFill>
                  <a:srgbClr val="C1272D"/>
                </a:solidFill>
                <a:latin typeface="Times New Roman"/>
              </a:rPr>
              <a:t>•  </a:t>
            </a:r>
            <a:r>
              <a:rPr sz="2300" b="1" i="0">
                <a:solidFill>
                  <a:srgbClr val="1A1A1A"/>
                </a:solidFill>
                <a:latin typeface="Times New Roman"/>
              </a:rPr>
              <a:t>Everything after this slide </a:t>
            </a:r>
            <a:r>
              <a:rPr sz="2300" b="0" i="0">
                <a:solidFill>
                  <a:srgbClr val="1A1A1A"/>
                </a:solidFill>
                <a:latin typeface="Times New Roman"/>
              </a:rPr>
              <a:t>is measured on a real benchmark, leak-free.</a:t>
            </a:r>
          </a:p>
        </p:txBody>
      </p:sp>
      <p:sp>
        <p:nvSpPr>
          <p:cNvPr id="7" name="Rectangle 6"/>
          <p:cNvSpPr/>
          <p:nvPr/>
        </p:nvSpPr>
        <p:spPr>
          <a:xfrm>
            <a:off x="822960" y="8732520"/>
            <a:ext cx="64008" cy="960120"/>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86968" y="8732520"/>
            <a:ext cx="16578072" cy="960120"/>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8823960"/>
            <a:ext cx="16002000" cy="777240"/>
          </a:xfrm>
          <a:prstGeom prst="rect">
            <a:avLst/>
          </a:prstGeom>
          <a:noFill/>
        </p:spPr>
        <p:txBody>
          <a:bodyPr wrap="square" anchor="ctr">
            <a:spAutoFit/>
          </a:bodyPr>
          <a:lstStyle/>
          <a:p>
            <a:pPr>
              <a:lnSpc>
                <a:spcPct val="105000"/>
              </a:lnSpc>
            </a:pPr>
            <a:r>
              <a:rPr sz="1700" b="1" i="0">
                <a:solidFill>
                  <a:srgbClr val="C1272D"/>
                </a:solidFill>
                <a:latin typeface="Times New Roman"/>
              </a:rPr>
              <a:t>WHY IT LEADS   </a:t>
            </a:r>
            <a:r>
              <a:rPr sz="2300" b="0" i="0">
                <a:solidFill>
                  <a:srgbClr val="1A1A1A"/>
                </a:solidFill>
                <a:latin typeface="Times New Roman"/>
              </a:rPr>
              <a:t>A withdrawn result the students raise is worth more than one the panel discovers.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4200" b="1" i="0">
                <a:solidFill>
                  <a:srgbClr val="111111"/>
                </a:solidFill>
                <a:latin typeface="Times New Roman"/>
              </a:rPr>
              <a:t>The problem</a:t>
            </a:r>
          </a:p>
        </p:txBody>
      </p:sp>
      <p:sp>
        <p:nvSpPr>
          <p:cNvPr id="3" name="TextBox 2"/>
          <p:cNvSpPr txBox="1"/>
          <p:nvPr/>
        </p:nvSpPr>
        <p:spPr>
          <a:xfrm>
            <a:off x="2834640" y="1700784"/>
            <a:ext cx="12618720" cy="731520"/>
          </a:xfrm>
          <a:prstGeom prst="rect">
            <a:avLst/>
          </a:prstGeom>
          <a:noFill/>
        </p:spPr>
        <p:txBody>
          <a:bodyPr wrap="square" tIns="0" bIns="0">
            <a:spAutoFit/>
          </a:bodyPr>
          <a:lstStyle/>
          <a:p>
            <a:pPr algn="ctr"/>
            <a:r>
              <a:rPr sz="1800" b="0" i="1">
                <a:solidFill>
                  <a:srgbClr val="5A5A5A"/>
                </a:solidFill>
                <a:latin typeface="Times New Roman"/>
              </a:rPr>
              <a:t>A 200K-token context window did not solve agent memory; it relocated it.</a:t>
            </a:r>
          </a:p>
        </p:txBody>
      </p:sp>
      <p:sp>
        <p:nvSpPr>
          <p:cNvPr id="4" name="TextBox 3"/>
          <p:cNvSpPr txBox="1"/>
          <p:nvPr/>
        </p:nvSpPr>
        <p:spPr>
          <a:xfrm>
            <a:off x="822960" y="2514600"/>
            <a:ext cx="16642080" cy="3318510"/>
          </a:xfrm>
          <a:prstGeom prst="rect">
            <a:avLst/>
          </a:prstGeom>
          <a:noFill/>
        </p:spPr>
        <p:txBody>
          <a:bodyPr wrap="square">
            <a:spAutoFit/>
          </a:bodyPr>
          <a:lstStyle/>
          <a:p>
            <a:pPr>
              <a:lnSpc>
                <a:spcPct val="105000"/>
              </a:lnSpc>
              <a:spcAft>
                <a:spcPts val="1000"/>
              </a:spcAft>
            </a:pPr>
            <a:r>
              <a:rPr sz="2500" b="0" i="0">
                <a:solidFill>
                  <a:srgbClr val="C1272D"/>
                </a:solidFill>
                <a:latin typeface="Times New Roman"/>
              </a:rPr>
              <a:t>•  </a:t>
            </a:r>
            <a:r>
              <a:rPr sz="2500" b="1" i="0">
                <a:solidFill>
                  <a:srgbClr val="1A1A1A"/>
                </a:solidFill>
                <a:latin typeface="Times New Roman"/>
              </a:rPr>
              <a:t>Context rot. </a:t>
            </a:r>
            <a:r>
              <a:rPr sz="2500" b="0" i="0">
                <a:solidFill>
                  <a:srgbClr val="1A1A1A"/>
                </a:solidFill>
                <a:latin typeface="Times New Roman"/>
              </a:rPr>
              <a:t>Chroma Research (2025) tested 18 frontier models: accuracy degrades 30–50% well before the documented context limit. It is a property of attention, not a training gap — so larger windows do not fix it. Curation does.</a:t>
            </a:r>
          </a:p>
          <a:p>
            <a:pPr>
              <a:lnSpc>
                <a:spcPct val="105000"/>
              </a:lnSpc>
              <a:spcAft>
                <a:spcPts val="1000"/>
              </a:spcAft>
            </a:pPr>
            <a:r>
              <a:rPr sz="2500" b="0" i="0">
                <a:solidFill>
                  <a:srgbClr val="C1272D"/>
                </a:solidFill>
                <a:latin typeface="Times New Roman"/>
              </a:rPr>
              <a:t>•  </a:t>
            </a:r>
            <a:r>
              <a:rPr sz="2500" b="1" i="0">
                <a:solidFill>
                  <a:srgbClr val="1A1A1A"/>
                </a:solidFill>
                <a:latin typeface="Times New Roman"/>
              </a:rPr>
              <a:t>Cost and latency. </a:t>
            </a:r>
            <a:r>
              <a:rPr sz="2500" b="0" i="0">
                <a:solidFill>
                  <a:srgbClr val="1A1A1A"/>
                </a:solidFill>
                <a:latin typeface="Times New Roman"/>
              </a:rPr>
              <a:t>On LoCoMo, full context is ~26,000 tokens and 9.87 s median latency; selective memory reaches similar accuracy at ~1,800 tokens and 0.71 s — roughly 14× cheaper.</a:t>
            </a:r>
          </a:p>
          <a:p>
            <a:pPr>
              <a:lnSpc>
                <a:spcPct val="105000"/>
              </a:lnSpc>
              <a:spcAft>
                <a:spcPts val="1000"/>
              </a:spcAft>
            </a:pPr>
            <a:r>
              <a:rPr sz="2500" b="0" i="0">
                <a:solidFill>
                  <a:srgbClr val="C1272D"/>
                </a:solidFill>
                <a:latin typeface="Times New Roman"/>
              </a:rPr>
              <a:t>•  </a:t>
            </a:r>
            <a:r>
              <a:rPr sz="2500" b="1" i="0">
                <a:solidFill>
                  <a:srgbClr val="1A1A1A"/>
                </a:solidFill>
                <a:latin typeface="Times New Roman"/>
              </a:rPr>
              <a:t>The measurable gap. </a:t>
            </a:r>
            <a:r>
              <a:rPr sz="2500" b="0" i="0">
                <a:solidFill>
                  <a:srgbClr val="1A1A1A"/>
                </a:solidFill>
                <a:latin typeface="Times New Roman"/>
              </a:rPr>
              <a:t>On LongMemEval, oracle retrieval scores ~92% where the same model interactively scores ~58%. That 34-point gap is memory selection failure, not reasoning failure.</a:t>
            </a:r>
          </a:p>
        </p:txBody>
      </p:sp>
      <p:sp>
        <p:nvSpPr>
          <p:cNvPr id="5" name="Rectangle 4"/>
          <p:cNvSpPr/>
          <p:nvPr/>
        </p:nvSpPr>
        <p:spPr>
          <a:xfrm>
            <a:off x="822960" y="8092440"/>
            <a:ext cx="64008" cy="1371600"/>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86968" y="8092440"/>
            <a:ext cx="16578072" cy="1371600"/>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8183879"/>
            <a:ext cx="16002000" cy="1188720"/>
          </a:xfrm>
          <a:prstGeom prst="rect">
            <a:avLst/>
          </a:prstGeom>
          <a:noFill/>
        </p:spPr>
        <p:txBody>
          <a:bodyPr wrap="square" anchor="ctr">
            <a:spAutoFit/>
          </a:bodyPr>
          <a:lstStyle/>
          <a:p>
            <a:pPr>
              <a:lnSpc>
                <a:spcPct val="105000"/>
              </a:lnSpc>
            </a:pPr>
            <a:r>
              <a:rPr sz="1700" b="1" i="0">
                <a:solidFill>
                  <a:srgbClr val="C1272D"/>
                </a:solidFill>
                <a:latin typeface="Times New Roman"/>
              </a:rPr>
              <a:t>WHERE THE GAP IS   </a:t>
            </a:r>
            <a:r>
              <a:rPr sz="2300" b="0" i="0">
                <a:solidFill>
                  <a:srgbClr val="1A1A1A"/>
                </a:solidFill>
                <a:latin typeface="Times New Roman"/>
              </a:rPr>
              <a:t>The open problem, named in a 2026 review: current systems </a:t>
            </a:r>
            <a:r>
              <a:rPr sz="2300" b="1" i="0">
                <a:solidFill>
                  <a:srgbClr val="1A1A1A"/>
                </a:solidFill>
                <a:latin typeface="Times New Roman"/>
              </a:rPr>
              <a:t>“do not solve the fundamental challenge: deciding what to remember and what to forget.”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4200" b="1" i="0">
                <a:solidFill>
                  <a:srgbClr val="111111"/>
                </a:solidFill>
                <a:latin typeface="Times New Roman"/>
              </a:rPr>
              <a:t>The question, and what is new</a:t>
            </a:r>
          </a:p>
        </p:txBody>
      </p:sp>
      <p:sp>
        <p:nvSpPr>
          <p:cNvPr id="3" name="Rectangle 2"/>
          <p:cNvSpPr/>
          <p:nvPr/>
        </p:nvSpPr>
        <p:spPr>
          <a:xfrm>
            <a:off x="822960" y="2286000"/>
            <a:ext cx="64008" cy="1371600"/>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86968" y="2286000"/>
            <a:ext cx="16578072" cy="1371600"/>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5568" y="2377440"/>
            <a:ext cx="16002000" cy="1188720"/>
          </a:xfrm>
          <a:prstGeom prst="rect">
            <a:avLst/>
          </a:prstGeom>
          <a:noFill/>
        </p:spPr>
        <p:txBody>
          <a:bodyPr wrap="square" anchor="ctr">
            <a:spAutoFit/>
          </a:bodyPr>
          <a:lstStyle/>
          <a:p>
            <a:pPr>
              <a:lnSpc>
                <a:spcPct val="105000"/>
              </a:lnSpc>
            </a:pPr>
            <a:r>
              <a:rPr sz="2100" b="1" i="0">
                <a:solidFill>
                  <a:srgbClr val="C1272D"/>
                </a:solidFill>
                <a:latin typeface="Times New Roman"/>
              </a:rPr>
              <a:t>RESEARCH QUESTION   </a:t>
            </a:r>
            <a:r>
              <a:rPr sz="2700" b="0" i="0">
                <a:solidFill>
                  <a:srgbClr val="1A1A1A"/>
                </a:solidFill>
                <a:latin typeface="Times New Roman"/>
              </a:rPr>
              <a:t>How much of the memory-selection gap can a better decision policy recover, and under what budget does compression pay for itself?</a:t>
            </a:r>
          </a:p>
        </p:txBody>
      </p:sp>
      <p:sp>
        <p:nvSpPr>
          <p:cNvPr id="6" name="TextBox 5"/>
          <p:cNvSpPr txBox="1"/>
          <p:nvPr/>
        </p:nvSpPr>
        <p:spPr>
          <a:xfrm>
            <a:off x="822960" y="4023360"/>
            <a:ext cx="16642080" cy="2822448"/>
          </a:xfrm>
          <a:prstGeom prst="rect">
            <a:avLst/>
          </a:prstGeom>
          <a:noFill/>
        </p:spPr>
        <p:txBody>
          <a:bodyPr wrap="square">
            <a:spAutoFit/>
          </a:bodyPr>
          <a:lstStyle/>
          <a:p>
            <a:pPr>
              <a:lnSpc>
                <a:spcPct val="105000"/>
              </a:lnSpc>
              <a:spcAft>
                <a:spcPts val="1000"/>
              </a:spcAft>
            </a:pPr>
            <a:r>
              <a:rPr sz="2400" b="0" i="0">
                <a:solidFill>
                  <a:srgbClr val="C1272D"/>
                </a:solidFill>
                <a:latin typeface="Times New Roman"/>
              </a:rPr>
              <a:t>•  </a:t>
            </a:r>
            <a:r>
              <a:rPr sz="2400" b="1" i="0">
                <a:solidFill>
                  <a:srgbClr val="1A1A1A"/>
                </a:solidFill>
                <a:latin typeface="Times New Roman"/>
              </a:rPr>
              <a:t>Tiered memory with forgetting is already shipped. </a:t>
            </a:r>
            <a:r>
              <a:rPr sz="2400" b="0" i="0">
                <a:solidFill>
                  <a:srgbClr val="1A1A1A"/>
                </a:solidFill>
                <a:latin typeface="Times New Roman"/>
              </a:rPr>
              <a:t>Letta/MemGPT, Mem0 and Zep all ship it. Presented as “a memory layer with three tiers”, this work would already be done.</a:t>
            </a:r>
          </a:p>
          <a:p>
            <a:pPr>
              <a:lnSpc>
                <a:spcPct val="105000"/>
              </a:lnSpc>
              <a:spcAft>
                <a:spcPts val="1000"/>
              </a:spcAft>
            </a:pPr>
            <a:r>
              <a:rPr sz="2400" b="0" i="0">
                <a:solidFill>
                  <a:srgbClr val="C1272D"/>
                </a:solidFill>
                <a:latin typeface="Times New Roman"/>
              </a:rPr>
              <a:t>•  </a:t>
            </a:r>
            <a:r>
              <a:rPr sz="2400" b="1" i="0">
                <a:solidFill>
                  <a:srgbClr val="1A1A1A"/>
                </a:solidFill>
                <a:latin typeface="Times New Roman"/>
              </a:rPr>
              <a:t>What is not done is the decision itself. </a:t>
            </a:r>
            <a:r>
              <a:rPr sz="2400" b="0" i="0">
                <a:solidFill>
                  <a:srgbClr val="1A1A1A"/>
                </a:solidFill>
                <a:latin typeface="Times New Roman"/>
              </a:rPr>
              <a:t>Colaco &amp; Lahjouji (2026) frame every such decision as one rate–distortion problem — what to retain, at what fidelity, under a budget — but supply a framework, not a system.</a:t>
            </a:r>
          </a:p>
          <a:p>
            <a:pPr>
              <a:lnSpc>
                <a:spcPct val="105000"/>
              </a:lnSpc>
              <a:spcAft>
                <a:spcPts val="1000"/>
              </a:spcAft>
            </a:pPr>
            <a:r>
              <a:rPr sz="2400" b="0" i="0">
                <a:solidFill>
                  <a:srgbClr val="C1272D"/>
                </a:solidFill>
                <a:latin typeface="Times New Roman"/>
              </a:rPr>
              <a:t>•  </a:t>
            </a:r>
            <a:r>
              <a:rPr sz="2400" b="1" i="0">
                <a:solidFill>
                  <a:srgbClr val="1A1A1A"/>
                </a:solidFill>
                <a:latin typeface="Times New Roman"/>
              </a:rPr>
              <a:t>MemGate is the harness that makes the decision measurable. </a:t>
            </a:r>
            <a:r>
              <a:rPr sz="2400" b="0" i="0">
                <a:solidFill>
                  <a:srgbClr val="1A1A1A"/>
                </a:solidFill>
                <a:latin typeface="Times New Roman"/>
              </a:rPr>
              <a:t>Policy-agnostic: competing policies are placed on one accuracy-per-token frontier, with each comparison constructed so that exactly one variable moves.</a:t>
            </a:r>
          </a:p>
        </p:txBody>
      </p:sp>
      <p:sp>
        <p:nvSpPr>
          <p:cNvPr id="7" name="Rectangle 6"/>
          <p:cNvSpPr/>
          <p:nvPr/>
        </p:nvSpPr>
        <p:spPr>
          <a:xfrm>
            <a:off x="822960" y="8732520"/>
            <a:ext cx="64008" cy="960120"/>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86968" y="8732520"/>
            <a:ext cx="16578072" cy="960120"/>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8823960"/>
            <a:ext cx="16002000" cy="777240"/>
          </a:xfrm>
          <a:prstGeom prst="rect">
            <a:avLst/>
          </a:prstGeom>
          <a:noFill/>
        </p:spPr>
        <p:txBody>
          <a:bodyPr wrap="square" anchor="ctr">
            <a:spAutoFit/>
          </a:bodyPr>
          <a:lstStyle/>
          <a:p>
            <a:pPr>
              <a:lnSpc>
                <a:spcPct val="105000"/>
              </a:lnSpc>
            </a:pPr>
            <a:r>
              <a:rPr sz="1700" b="1" i="0">
                <a:solidFill>
                  <a:srgbClr val="C1272D"/>
                </a:solidFill>
                <a:latin typeface="Times New Roman"/>
              </a:rPr>
              <a:t>STATED PLAINLY   </a:t>
            </a:r>
            <a:r>
              <a:rPr sz="2300" b="0" i="0">
                <a:solidFill>
                  <a:srgbClr val="1A1A1A"/>
                </a:solidFill>
                <a:latin typeface="Times New Roman"/>
              </a:rPr>
              <a:t>The contribution is a measurement, and several of its results are negative.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4200" b="1" i="0">
                <a:solidFill>
                  <a:srgbClr val="111111"/>
                </a:solidFill>
                <a:latin typeface="Times New Roman"/>
              </a:rPr>
              <a:t>System architecture</a:t>
            </a:r>
          </a:p>
        </p:txBody>
      </p:sp>
      <p:sp>
        <p:nvSpPr>
          <p:cNvPr id="3" name="TextBox 2"/>
          <p:cNvSpPr txBox="1"/>
          <p:nvPr/>
        </p:nvSpPr>
        <p:spPr>
          <a:xfrm>
            <a:off x="2834640" y="1700784"/>
            <a:ext cx="12618720" cy="731520"/>
          </a:xfrm>
          <a:prstGeom prst="rect">
            <a:avLst/>
          </a:prstGeom>
          <a:noFill/>
        </p:spPr>
        <p:txBody>
          <a:bodyPr wrap="square" tIns="0" bIns="0">
            <a:spAutoFit/>
          </a:bodyPr>
          <a:lstStyle/>
          <a:p>
            <a:pPr algn="ctr"/>
            <a:r>
              <a:rPr sz="1800" b="0" i="1">
                <a:solidFill>
                  <a:srgbClr val="5A5A5A"/>
                </a:solidFill>
                <a:latin typeface="Times New Roman"/>
              </a:rPr>
              <a:t>MemGate wraps a frozen LLM and controls what enters the prompt. Nothing is trained.</a:t>
            </a:r>
          </a:p>
        </p:txBody>
      </p:sp>
      <p:sp>
        <p:nvSpPr>
          <p:cNvPr id="4" name="TextBox 3"/>
          <p:cNvSpPr txBox="1"/>
          <p:nvPr/>
        </p:nvSpPr>
        <p:spPr>
          <a:xfrm>
            <a:off x="822960" y="2468880"/>
            <a:ext cx="16642080" cy="384048"/>
          </a:xfrm>
          <a:prstGeom prst="rect">
            <a:avLst/>
          </a:prstGeom>
          <a:noFill/>
        </p:spPr>
        <p:txBody>
          <a:bodyPr wrap="square">
            <a:spAutoFit/>
          </a:bodyPr>
          <a:lstStyle/>
          <a:p>
            <a:pPr algn="l"/>
            <a:r>
              <a:rPr sz="1600" b="0" i="1">
                <a:solidFill>
                  <a:srgbClr val="5A5A5A"/>
                </a:solidFill>
                <a:latin typeface="Times New Roman"/>
              </a:rPr>
              <a:t>WRITE PATH — what to keep</a:t>
            </a:r>
          </a:p>
        </p:txBody>
      </p:sp>
      <p:sp>
        <p:nvSpPr>
          <p:cNvPr id="5" name="Rounded Rectangle 4"/>
          <p:cNvSpPr/>
          <p:nvPr/>
        </p:nvSpPr>
        <p:spPr>
          <a:xfrm>
            <a:off x="822960" y="2926080"/>
            <a:ext cx="2651760" cy="914400"/>
          </a:xfrm>
          <a:prstGeom prst="roundRect">
            <a:avLst/>
          </a:prstGeom>
          <a:solidFill>
            <a:srgbClr val="F2F2F0"/>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700" b="0" i="0">
                <a:solidFill>
                  <a:srgbClr val="1A1A1A"/>
                </a:solidFill>
                <a:latin typeface="Times New Roman"/>
              </a:rPr>
              <a:t>incoming turn</a:t>
            </a:r>
          </a:p>
        </p:txBody>
      </p:sp>
      <p:sp>
        <p:nvSpPr>
          <p:cNvPr id="6" name="Rounded Rectangle 5"/>
          <p:cNvSpPr/>
          <p:nvPr/>
        </p:nvSpPr>
        <p:spPr>
          <a:xfrm>
            <a:off x="3886200" y="2788920"/>
            <a:ext cx="3566160" cy="1188720"/>
          </a:xfrm>
          <a:prstGeom prst="roundRect">
            <a:avLst/>
          </a:prstGeom>
          <a:solidFill>
            <a:srgbClr val="F7E7E8"/>
          </a:solidFill>
          <a:ln w="12700">
            <a:solidFill>
              <a:srgbClr val="C1272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700" b="1" i="0">
                <a:solidFill>
                  <a:srgbClr val="1A1A1A"/>
                </a:solidFill>
                <a:latin typeface="Times New Roman"/>
              </a:rPr>
              <a:t>Adaptive Memory Decision Engine</a:t>
            </a:r>
          </a:p>
          <a:p>
            <a:pPr algn="ctr"/>
            <a:r>
              <a:rPr sz="1400" b="0" i="0">
                <a:solidFill>
                  <a:srgbClr val="5A5A5A"/>
                </a:solidFill>
                <a:latin typeface="Times New Roman"/>
              </a:rPr>
              <a:t>scores each item exactly once, on eviction</a:t>
            </a:r>
          </a:p>
        </p:txBody>
      </p:sp>
      <p:cxnSp>
        <p:nvCxnSpPr>
          <p:cNvPr id="7" name="Connector 6"/>
          <p:cNvCxnSpPr/>
          <p:nvPr/>
        </p:nvCxnSpPr>
        <p:spPr>
          <a:xfrm>
            <a:off x="3474720" y="3383280"/>
            <a:ext cx="411480" cy="0"/>
          </a:xfrm>
          <a:prstGeom prst="line">
            <a:avLst/>
          </a:prstGeom>
          <a:ln w="19050">
            <a:solidFill>
              <a:srgbClr val="CCCCCC"/>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001000" y="2423160"/>
            <a:ext cx="4206240" cy="621792"/>
          </a:xfrm>
          <a:prstGeom prst="roundRect">
            <a:avLst/>
          </a:prstGeom>
          <a:solidFill>
            <a:srgbClr val="F2F2F0"/>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0" i="0">
                <a:solidFill>
                  <a:srgbClr val="1A1A1A"/>
                </a:solidFill>
                <a:latin typeface="Times New Roman"/>
              </a:rPr>
              <a:t>u ≥ τ_fact   →   Tier 3   durable fact</a:t>
            </a:r>
          </a:p>
        </p:txBody>
      </p:sp>
      <p:cxnSp>
        <p:nvCxnSpPr>
          <p:cNvPr id="9" name="Connector 8"/>
          <p:cNvCxnSpPr/>
          <p:nvPr/>
        </p:nvCxnSpPr>
        <p:spPr>
          <a:xfrm flipV="1">
            <a:off x="7452360" y="2734056"/>
            <a:ext cx="548640" cy="649224"/>
          </a:xfrm>
          <a:prstGeom prst="line">
            <a:avLst/>
          </a:prstGeom>
          <a:ln w="19050">
            <a:solidFill>
              <a:srgbClr val="CCCCCC"/>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001000" y="3154680"/>
            <a:ext cx="4206240" cy="621792"/>
          </a:xfrm>
          <a:prstGeom prst="roundRect">
            <a:avLst/>
          </a:prstGeom>
          <a:solidFill>
            <a:srgbClr val="F2F2F0"/>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0" i="0">
                <a:solidFill>
                  <a:srgbClr val="1A1A1A"/>
                </a:solidFill>
                <a:latin typeface="Times New Roman"/>
              </a:rPr>
              <a:t>u ≥ τ_low    →   Tier 2   compressed gist</a:t>
            </a:r>
          </a:p>
        </p:txBody>
      </p:sp>
      <p:cxnSp>
        <p:nvCxnSpPr>
          <p:cNvPr id="11" name="Connector 10"/>
          <p:cNvCxnSpPr/>
          <p:nvPr/>
        </p:nvCxnSpPr>
        <p:spPr>
          <a:xfrm>
            <a:off x="7452360" y="3383280"/>
            <a:ext cx="548640" cy="82296"/>
          </a:xfrm>
          <a:prstGeom prst="line">
            <a:avLst/>
          </a:prstGeom>
          <a:ln w="19050">
            <a:solidFill>
              <a:srgbClr val="CCCCCC"/>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001000" y="3886200"/>
            <a:ext cx="4206240" cy="621792"/>
          </a:xfrm>
          <a:prstGeom prst="roundRect">
            <a:avLst/>
          </a:prstGeom>
          <a:solidFill>
            <a:srgbClr val="F2F2F0"/>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0" i="0">
                <a:solidFill>
                  <a:srgbClr val="1A1A1A"/>
                </a:solidFill>
                <a:latin typeface="Times New Roman"/>
              </a:rPr>
              <a:t>otherwise    →   dropped from context</a:t>
            </a:r>
          </a:p>
        </p:txBody>
      </p:sp>
      <p:cxnSp>
        <p:nvCxnSpPr>
          <p:cNvPr id="13" name="Connector 12"/>
          <p:cNvCxnSpPr/>
          <p:nvPr/>
        </p:nvCxnSpPr>
        <p:spPr>
          <a:xfrm>
            <a:off x="7452360" y="3383280"/>
            <a:ext cx="548640" cy="813816"/>
          </a:xfrm>
          <a:prstGeom prst="line">
            <a:avLst/>
          </a:prstGeom>
          <a:ln w="19050">
            <a:solidFill>
              <a:srgbClr val="CCCCC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2710160" y="2606040"/>
            <a:ext cx="4663440" cy="2377440"/>
          </a:xfrm>
          <a:prstGeom prst="roundRect">
            <a:avLst/>
          </a:prstGeom>
          <a:solidFill>
            <a:srgbClr val="FAFAF9"/>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700" b="0" i="0">
                <a:solidFill>
                  <a:srgbClr val="1A1A1A"/>
                </a:solidFill>
                <a:latin typeface="Times New Roman"/>
              </a:rPr>
              <a:t/>
            </a:r>
          </a:p>
        </p:txBody>
      </p:sp>
      <p:sp>
        <p:nvSpPr>
          <p:cNvPr id="15" name="TextBox 14"/>
          <p:cNvSpPr txBox="1"/>
          <p:nvPr/>
        </p:nvSpPr>
        <p:spPr>
          <a:xfrm>
            <a:off x="12847320" y="2596896"/>
            <a:ext cx="3657600" cy="349758"/>
          </a:xfrm>
          <a:prstGeom prst="rect">
            <a:avLst/>
          </a:prstGeom>
          <a:noFill/>
        </p:spPr>
        <p:txBody>
          <a:bodyPr wrap="square">
            <a:spAutoFit/>
          </a:bodyPr>
          <a:lstStyle/>
          <a:p>
            <a:pPr algn="l"/>
            <a:r>
              <a:rPr sz="1400" b="0" i="1">
                <a:solidFill>
                  <a:srgbClr val="5A5A5A"/>
                </a:solidFill>
                <a:latin typeface="Times New Roman"/>
              </a:rPr>
              <a:t>TIERED STORE</a:t>
            </a:r>
          </a:p>
        </p:txBody>
      </p:sp>
      <p:sp>
        <p:nvSpPr>
          <p:cNvPr id="16" name="Rounded Rectangle 15"/>
          <p:cNvSpPr/>
          <p:nvPr/>
        </p:nvSpPr>
        <p:spPr>
          <a:xfrm>
            <a:off x="12893040" y="3063240"/>
            <a:ext cx="4297680" cy="548640"/>
          </a:xfrm>
          <a:prstGeom prst="roundRect">
            <a:avLst/>
          </a:prstGeom>
          <a:solidFill>
            <a:srgbClr val="F2F2F0"/>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0" i="0">
                <a:solidFill>
                  <a:srgbClr val="1A1A1A"/>
                </a:solidFill>
                <a:latin typeface="Times New Roman"/>
              </a:rPr>
              <a:t>Tier 1  short-term   raw verbatim turns</a:t>
            </a:r>
          </a:p>
        </p:txBody>
      </p:sp>
      <p:sp>
        <p:nvSpPr>
          <p:cNvPr id="17" name="Rounded Rectangle 16"/>
          <p:cNvSpPr/>
          <p:nvPr/>
        </p:nvSpPr>
        <p:spPr>
          <a:xfrm>
            <a:off x="12893040" y="3721608"/>
            <a:ext cx="4297680" cy="548640"/>
          </a:xfrm>
          <a:prstGeom prst="roundRect">
            <a:avLst/>
          </a:prstGeom>
          <a:solidFill>
            <a:srgbClr val="F2F2F0"/>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0" i="0">
                <a:solidFill>
                  <a:srgbClr val="1A1A1A"/>
                </a:solidFill>
                <a:latin typeface="Times New Roman"/>
              </a:rPr>
              <a:t>Tier 2  working      compressed gists</a:t>
            </a:r>
          </a:p>
        </p:txBody>
      </p:sp>
      <p:sp>
        <p:nvSpPr>
          <p:cNvPr id="18" name="Rounded Rectangle 17"/>
          <p:cNvSpPr/>
          <p:nvPr/>
        </p:nvSpPr>
        <p:spPr>
          <a:xfrm>
            <a:off x="12893040" y="4379976"/>
            <a:ext cx="4297680" cy="548640"/>
          </a:xfrm>
          <a:prstGeom prst="roundRect">
            <a:avLst/>
          </a:prstGeom>
          <a:solidFill>
            <a:srgbClr val="F2F2F0"/>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0" i="0">
                <a:solidFill>
                  <a:srgbClr val="1A1A1A"/>
                </a:solidFill>
                <a:latin typeface="Times New Roman"/>
              </a:rPr>
              <a:t>Tier 3  long-term    facts + vectors</a:t>
            </a:r>
          </a:p>
        </p:txBody>
      </p:sp>
      <p:cxnSp>
        <p:nvCxnSpPr>
          <p:cNvPr id="19" name="Connector 18"/>
          <p:cNvCxnSpPr/>
          <p:nvPr/>
        </p:nvCxnSpPr>
        <p:spPr>
          <a:xfrm>
            <a:off x="12207240" y="2734056"/>
            <a:ext cx="685800" cy="603504"/>
          </a:xfrm>
          <a:prstGeom prst="line">
            <a:avLst/>
          </a:prstGeom>
          <a:ln w="1905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207240" y="3465576"/>
            <a:ext cx="685800" cy="530352"/>
          </a:xfrm>
          <a:prstGeom prst="line">
            <a:avLst/>
          </a:prstGeom>
          <a:ln w="1905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2207240" y="4197096"/>
            <a:ext cx="685800" cy="457200"/>
          </a:xfrm>
          <a:prstGeom prst="line">
            <a:avLst/>
          </a:prstGeom>
          <a:ln w="19050">
            <a:solidFill>
              <a:srgbClr val="CCCCCC"/>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822960" y="5760720"/>
            <a:ext cx="16642080" cy="19050"/>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852160"/>
            <a:ext cx="16642080" cy="384048"/>
          </a:xfrm>
          <a:prstGeom prst="rect">
            <a:avLst/>
          </a:prstGeom>
          <a:noFill/>
        </p:spPr>
        <p:txBody>
          <a:bodyPr wrap="square">
            <a:spAutoFit/>
          </a:bodyPr>
          <a:lstStyle/>
          <a:p>
            <a:pPr algn="l"/>
            <a:r>
              <a:rPr sz="1600" b="0" i="1">
                <a:solidFill>
                  <a:srgbClr val="5A5A5A"/>
                </a:solidFill>
                <a:latin typeface="Times New Roman"/>
              </a:rPr>
              <a:t>READ PATH — what to recall</a:t>
            </a:r>
          </a:p>
        </p:txBody>
      </p:sp>
      <p:sp>
        <p:nvSpPr>
          <p:cNvPr id="24" name="Rounded Rectangle 23"/>
          <p:cNvSpPr/>
          <p:nvPr/>
        </p:nvSpPr>
        <p:spPr>
          <a:xfrm>
            <a:off x="822960" y="6400800"/>
            <a:ext cx="2377440" cy="914400"/>
          </a:xfrm>
          <a:prstGeom prst="roundRect">
            <a:avLst/>
          </a:prstGeom>
          <a:solidFill>
            <a:srgbClr val="F2F2F0"/>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700" b="0" i="0">
                <a:solidFill>
                  <a:srgbClr val="1A1A1A"/>
                </a:solidFill>
                <a:latin typeface="Times New Roman"/>
              </a:rPr>
              <a:t>new query</a:t>
            </a:r>
          </a:p>
        </p:txBody>
      </p:sp>
      <p:sp>
        <p:nvSpPr>
          <p:cNvPr id="25" name="Rounded Rectangle 24"/>
          <p:cNvSpPr/>
          <p:nvPr/>
        </p:nvSpPr>
        <p:spPr>
          <a:xfrm>
            <a:off x="3566160" y="6400800"/>
            <a:ext cx="3108960" cy="914400"/>
          </a:xfrm>
          <a:prstGeom prst="roundRect">
            <a:avLst/>
          </a:prstGeom>
          <a:solidFill>
            <a:srgbClr val="F2F2F0"/>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700" b="0" i="0">
                <a:solidFill>
                  <a:srgbClr val="1A1A1A"/>
                </a:solidFill>
                <a:latin typeface="Times New Roman"/>
              </a:rPr>
              <a:t>retrieve</a:t>
            </a:r>
          </a:p>
          <a:p>
            <a:pPr algn="ctr"/>
            <a:r>
              <a:rPr sz="1400" b="0" i="0">
                <a:solidFill>
                  <a:srgbClr val="5A5A5A"/>
                </a:solidFill>
                <a:latin typeface="Times New Roman"/>
              </a:rPr>
              <a:t>semantic match over tier 3</a:t>
            </a:r>
          </a:p>
        </p:txBody>
      </p:sp>
      <p:cxnSp>
        <p:nvCxnSpPr>
          <p:cNvPr id="26" name="Connector 25"/>
          <p:cNvCxnSpPr/>
          <p:nvPr/>
        </p:nvCxnSpPr>
        <p:spPr>
          <a:xfrm>
            <a:off x="3200400" y="6858000"/>
            <a:ext cx="365760" cy="0"/>
          </a:xfrm>
          <a:prstGeom prst="line">
            <a:avLst/>
          </a:prstGeom>
          <a:ln w="19050">
            <a:solidFill>
              <a:srgbClr val="CCCCCC"/>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040880" y="6400800"/>
            <a:ext cx="3931920" cy="914400"/>
          </a:xfrm>
          <a:prstGeom prst="roundRect">
            <a:avLst/>
          </a:prstGeom>
          <a:solidFill>
            <a:srgbClr val="F2F2F0"/>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700" b="0" i="0">
                <a:solidFill>
                  <a:srgbClr val="1A1A1A"/>
                </a:solidFill>
                <a:latin typeface="Times New Roman"/>
              </a:rPr>
              <a:t>assemble context</a:t>
            </a:r>
          </a:p>
          <a:p>
            <a:pPr algn="ctr"/>
            <a:r>
              <a:rPr sz="1400" b="0" i="0">
                <a:solidFill>
                  <a:srgbClr val="5A5A5A"/>
                </a:solidFill>
                <a:latin typeface="Times New Roman"/>
              </a:rPr>
              <a:t>packs to the token budget</a:t>
            </a:r>
          </a:p>
        </p:txBody>
      </p:sp>
      <p:cxnSp>
        <p:nvCxnSpPr>
          <p:cNvPr id="28" name="Connector 27"/>
          <p:cNvCxnSpPr/>
          <p:nvPr/>
        </p:nvCxnSpPr>
        <p:spPr>
          <a:xfrm>
            <a:off x="6675120" y="6858000"/>
            <a:ext cx="365760" cy="0"/>
          </a:xfrm>
          <a:prstGeom prst="line">
            <a:avLst/>
          </a:prstGeom>
          <a:ln w="19050">
            <a:solidFill>
              <a:srgbClr val="CCCCCC"/>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1338560" y="6400800"/>
            <a:ext cx="2834640" cy="914400"/>
          </a:xfrm>
          <a:prstGeom prst="roundRect">
            <a:avLst/>
          </a:prstGeom>
          <a:solidFill>
            <a:srgbClr val="EAEAE8"/>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700" b="1" i="0">
                <a:solidFill>
                  <a:srgbClr val="1A1A1A"/>
                </a:solidFill>
                <a:latin typeface="Times New Roman"/>
              </a:rPr>
              <a:t>FROZEN LLM</a:t>
            </a:r>
          </a:p>
        </p:txBody>
      </p:sp>
      <p:cxnSp>
        <p:nvCxnSpPr>
          <p:cNvPr id="30" name="Connector 29"/>
          <p:cNvCxnSpPr/>
          <p:nvPr/>
        </p:nvCxnSpPr>
        <p:spPr>
          <a:xfrm>
            <a:off x="10972800" y="6858000"/>
            <a:ext cx="365760" cy="0"/>
          </a:xfrm>
          <a:prstGeom prst="line">
            <a:avLst/>
          </a:prstGeom>
          <a:ln w="19050">
            <a:solidFill>
              <a:srgbClr val="CCCCCC"/>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14538960" y="6400800"/>
            <a:ext cx="2377440" cy="914400"/>
          </a:xfrm>
          <a:prstGeom prst="roundRect">
            <a:avLst/>
          </a:prstGeom>
          <a:solidFill>
            <a:srgbClr val="F2F2F0"/>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700" b="0" i="0">
                <a:solidFill>
                  <a:srgbClr val="1A1A1A"/>
                </a:solidFill>
                <a:latin typeface="Times New Roman"/>
              </a:rPr>
              <a:t>response</a:t>
            </a:r>
          </a:p>
        </p:txBody>
      </p:sp>
      <p:cxnSp>
        <p:nvCxnSpPr>
          <p:cNvPr id="32" name="Connector 31"/>
          <p:cNvCxnSpPr/>
          <p:nvPr/>
        </p:nvCxnSpPr>
        <p:spPr>
          <a:xfrm>
            <a:off x="14173200" y="6858000"/>
            <a:ext cx="365760" cy="0"/>
          </a:xfrm>
          <a:prstGeom prst="line">
            <a:avLst/>
          </a:prstGeom>
          <a:ln w="19050">
            <a:solidFill>
              <a:srgbClr val="CCCCCC"/>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822960" y="8823960"/>
            <a:ext cx="64008" cy="914400"/>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86968" y="8823960"/>
            <a:ext cx="16578072" cy="914400"/>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15568" y="8915400"/>
            <a:ext cx="16002000" cy="731520"/>
          </a:xfrm>
          <a:prstGeom prst="rect">
            <a:avLst/>
          </a:prstGeom>
          <a:noFill/>
        </p:spPr>
        <p:txBody>
          <a:bodyPr wrap="square" anchor="ctr">
            <a:spAutoFit/>
          </a:bodyPr>
          <a:lstStyle/>
          <a:p>
            <a:pPr>
              <a:lnSpc>
                <a:spcPct val="105000"/>
              </a:lnSpc>
            </a:pPr>
            <a:r>
              <a:rPr sz="2300" b="0" i="0">
                <a:solidFill>
                  <a:srgbClr val="1A1A1A"/>
                </a:solidFill>
                <a:latin typeface="Times New Roman"/>
              </a:rPr>
              <a:t>Tiers are a lifecycle, not a partition: everything enters Tier 1, and the routing decision happens once — on eviction, when the budget binds.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4200" b="1" i="0">
                <a:solidFill>
                  <a:srgbClr val="111111"/>
                </a:solidFill>
                <a:latin typeface="Times New Roman"/>
              </a:rPr>
              <a:t>Policies compared</a:t>
            </a:r>
          </a:p>
        </p:txBody>
      </p:sp>
      <p:sp>
        <p:nvSpPr>
          <p:cNvPr id="3" name="TextBox 2"/>
          <p:cNvSpPr txBox="1"/>
          <p:nvPr/>
        </p:nvSpPr>
        <p:spPr>
          <a:xfrm>
            <a:off x="2834640" y="1700784"/>
            <a:ext cx="12618720" cy="731520"/>
          </a:xfrm>
          <a:prstGeom prst="rect">
            <a:avLst/>
          </a:prstGeom>
          <a:noFill/>
        </p:spPr>
        <p:txBody>
          <a:bodyPr wrap="square" tIns="0" bIns="0">
            <a:spAutoFit/>
          </a:bodyPr>
          <a:lstStyle/>
          <a:p>
            <a:pPr algn="ctr"/>
            <a:r>
              <a:rPr sz="1800" b="0" i="1">
                <a:solidFill>
                  <a:srgbClr val="5A5A5A"/>
                </a:solidFill>
                <a:latin typeface="Times New Roman"/>
              </a:rPr>
              <a:t>Each comparison is built so that exactly one variable moves.</a:t>
            </a:r>
          </a:p>
        </p:txBody>
      </p:sp>
      <p:graphicFrame>
        <p:nvGraphicFramePr>
          <p:cNvPr id="4" name="Table 3"/>
          <p:cNvGraphicFramePr>
            <a:graphicFrameLocks noGrp="1"/>
          </p:cNvGraphicFramePr>
          <p:nvPr/>
        </p:nvGraphicFramePr>
        <p:xfrm>
          <a:off x="822960" y="2514600"/>
          <a:ext cx="16642078" cy="3657600"/>
        </p:xfrm>
        <a:graphic>
          <a:graphicData uri="http://schemas.openxmlformats.org/drawingml/2006/table">
            <a:tbl>
              <a:tblPr firstRow="1" bandRow="1">
                <a:tableStyleId>{5C22544A-7EE6-4342-B048-85BDC9FD1C3A}</a:tableStyleId>
              </a:tblPr>
              <a:tblGrid>
                <a:gridCol w="1431576"/>
                <a:gridCol w="4473677"/>
                <a:gridCol w="6710516"/>
                <a:gridCol w="4026309"/>
              </a:tblGrid>
              <a:tr h="406400">
                <a:tc>
                  <a:txBody>
                    <a:bodyPr/>
                    <a:lstStyle/>
                    <a:p>
                      <a:r>
                        <a:rPr sz="1900" b="1" i="0">
                          <a:solidFill>
                            <a:srgbClr val="111111"/>
                          </a:solidFill>
                          <a:latin typeface="Times New Roman"/>
                        </a:rPr>
                        <a:t/>
                      </a:r>
                    </a:p>
                  </a:txBody>
                  <a:tcPr anchor="ctr" marL="128016" marR="91440" marT="27432" marB="27432"/>
                </a:tc>
                <a:tc>
                  <a:txBody>
                    <a:bodyPr/>
                    <a:lstStyle/>
                    <a:p>
                      <a:r>
                        <a:rPr sz="1900" b="1" i="0">
                          <a:solidFill>
                            <a:srgbClr val="111111"/>
                          </a:solidFill>
                          <a:latin typeface="Times New Roman"/>
                        </a:rPr>
                        <a:t>Policy</a:t>
                      </a:r>
                    </a:p>
                  </a:txBody>
                  <a:tcPr anchor="ctr" marL="128016" marR="91440" marT="27432" marB="27432"/>
                </a:tc>
                <a:tc>
                  <a:txBody>
                    <a:bodyPr/>
                    <a:lstStyle/>
                    <a:p>
                      <a:r>
                        <a:rPr sz="1900" b="1" i="0">
                          <a:solidFill>
                            <a:srgbClr val="111111"/>
                          </a:solidFill>
                          <a:latin typeface="Times New Roman"/>
                        </a:rPr>
                        <a:t>Retention rule</a:t>
                      </a:r>
                    </a:p>
                  </a:txBody>
                  <a:tcPr anchor="ctr" marL="128016" marR="91440" marT="27432" marB="27432"/>
                </a:tc>
                <a:tc>
                  <a:txBody>
                    <a:bodyPr/>
                    <a:lstStyle/>
                    <a:p>
                      <a:r>
                        <a:rPr sz="1900" b="1" i="0">
                          <a:solidFill>
                            <a:srgbClr val="111111"/>
                          </a:solidFill>
                          <a:latin typeface="Times New Roman"/>
                        </a:rPr>
                        <a:t>Fidelity</a:t>
                      </a:r>
                    </a:p>
                  </a:txBody>
                  <a:tcPr anchor="ctr" marL="128016" marR="91440" marT="27432" marB="27432"/>
                </a:tc>
              </a:tr>
              <a:tr h="406400">
                <a:tc>
                  <a:txBody>
                    <a:bodyPr/>
                    <a:lstStyle/>
                    <a:p>
                      <a:r>
                        <a:rPr sz="1900" b="0" i="0">
                          <a:solidFill>
                            <a:srgbClr val="1A1A1A"/>
                          </a:solidFill>
                          <a:latin typeface="Times New Roman"/>
                        </a:rPr>
                        <a:t>P0</a:t>
                      </a:r>
                    </a:p>
                  </a:txBody>
                  <a:tcPr anchor="ctr" marL="128016" marR="91440" marT="27432" marB="27432"/>
                </a:tc>
                <a:tc>
                  <a:txBody>
                    <a:bodyPr/>
                    <a:lstStyle/>
                    <a:p>
                      <a:r>
                        <a:rPr sz="1900" b="0" i="0">
                          <a:solidFill>
                            <a:srgbClr val="1A1A1A"/>
                          </a:solidFill>
                          <a:latin typeface="Times New Roman"/>
                        </a:rPr>
                        <a:t>Sliding window</a:t>
                      </a:r>
                    </a:p>
                  </a:txBody>
                  <a:tcPr anchor="ctr" marL="128016" marR="91440" marT="27432" marB="27432"/>
                </a:tc>
                <a:tc>
                  <a:txBody>
                    <a:bodyPr/>
                    <a:lstStyle/>
                    <a:p>
                      <a:r>
                        <a:rPr sz="1900" b="0" i="0">
                          <a:solidFill>
                            <a:srgbClr val="1A1A1A"/>
                          </a:solidFill>
                          <a:latin typeface="Times New Roman"/>
                        </a:rPr>
                        <a:t>recency, budget-driven</a:t>
                      </a:r>
                    </a:p>
                  </a:txBody>
                  <a:tcPr anchor="ctr" marL="128016" marR="91440" marT="27432" marB="27432"/>
                </a:tc>
                <a:tc>
                  <a:txBody>
                    <a:bodyPr/>
                    <a:lstStyle/>
                    <a:p>
                      <a:r>
                        <a:rPr sz="1900" b="0" i="0">
                          <a:solidFill>
                            <a:srgbClr val="1A1A1A"/>
                          </a:solidFill>
                          <a:latin typeface="Times New Roman"/>
                        </a:rPr>
                        <a:t>verbatim</a:t>
                      </a:r>
                    </a:p>
                  </a:txBody>
                  <a:tcPr anchor="ctr" marL="128016" marR="91440" marT="27432" marB="27432"/>
                </a:tc>
              </a:tr>
              <a:tr h="406400">
                <a:tc>
                  <a:txBody>
                    <a:bodyPr/>
                    <a:lstStyle/>
                    <a:p>
                      <a:r>
                        <a:rPr sz="1900" b="0" i="0">
                          <a:solidFill>
                            <a:srgbClr val="1A1A1A"/>
                          </a:solidFill>
                          <a:latin typeface="Times New Roman"/>
                        </a:rPr>
                        <a:t>RAG</a:t>
                      </a:r>
                    </a:p>
                  </a:txBody>
                  <a:tcPr anchor="ctr" marL="128016" marR="91440" marT="27432" marB="27432"/>
                </a:tc>
                <a:tc>
                  <a:txBody>
                    <a:bodyPr/>
                    <a:lstStyle/>
                    <a:p>
                      <a:r>
                        <a:rPr sz="1900" b="0" i="0">
                          <a:solidFill>
                            <a:srgbClr val="1A1A1A"/>
                          </a:solidFill>
                          <a:latin typeface="Times New Roman"/>
                        </a:rPr>
                        <a:t>Store-all + retrieve</a:t>
                      </a:r>
                    </a:p>
                  </a:txBody>
                  <a:tcPr anchor="ctr" marL="128016" marR="91440" marT="27432" marB="27432"/>
                </a:tc>
                <a:tc>
                  <a:txBody>
                    <a:bodyPr/>
                    <a:lstStyle/>
                    <a:p>
                      <a:r>
                        <a:rPr sz="1900" b="0" i="0">
                          <a:solidFill>
                            <a:srgbClr val="1A1A1A"/>
                          </a:solidFill>
                          <a:latin typeface="Times New Roman"/>
                        </a:rPr>
                        <a:t>FIFO — the no-policy control</a:t>
                      </a:r>
                    </a:p>
                  </a:txBody>
                  <a:tcPr anchor="ctr" marL="128016" marR="91440" marT="27432" marB="27432"/>
                </a:tc>
                <a:tc>
                  <a:txBody>
                    <a:bodyPr/>
                    <a:lstStyle/>
                    <a:p>
                      <a:r>
                        <a:rPr sz="1900" b="0" i="0">
                          <a:solidFill>
                            <a:srgbClr val="1A1A1A"/>
                          </a:solidFill>
                          <a:latin typeface="Times New Roman"/>
                        </a:rPr>
                        <a:t>verbatim</a:t>
                      </a:r>
                    </a:p>
                  </a:txBody>
                  <a:tcPr anchor="ctr" marL="128016" marR="91440" marT="27432" marB="27432"/>
                </a:tc>
              </a:tr>
              <a:tr h="406400">
                <a:tc>
                  <a:txBody>
                    <a:bodyPr/>
                    <a:lstStyle/>
                    <a:p>
                      <a:r>
                        <a:rPr sz="1900" b="0" i="0">
                          <a:solidFill>
                            <a:srgbClr val="1A1A1A"/>
                          </a:solidFill>
                          <a:latin typeface="Times New Roman"/>
                        </a:rPr>
                        <a:t>P1</a:t>
                      </a:r>
                    </a:p>
                  </a:txBody>
                  <a:tcPr anchor="ctr" marL="128016" marR="91440" marT="27432" marB="27432"/>
                </a:tc>
                <a:tc>
                  <a:txBody>
                    <a:bodyPr/>
                    <a:lstStyle/>
                    <a:p>
                      <a:r>
                        <a:rPr sz="1900" b="0" i="0">
                          <a:solidFill>
                            <a:srgbClr val="1A1A1A"/>
                          </a:solidFill>
                          <a:latin typeface="Times New Roman"/>
                        </a:rPr>
                        <a:t>MemGate threshold</a:t>
                      </a:r>
                    </a:p>
                  </a:txBody>
                  <a:tcPr anchor="ctr" marL="128016" marR="91440" marT="27432" marB="27432"/>
                </a:tc>
                <a:tc>
                  <a:txBody>
                    <a:bodyPr/>
                    <a:lstStyle/>
                    <a:p>
                      <a:r>
                        <a:rPr sz="1900" b="0" i="0">
                          <a:solidFill>
                            <a:srgbClr val="1A1A1A"/>
                          </a:solidFill>
                          <a:latin typeface="Times New Roman"/>
                        </a:rPr>
                        <a:t>scored at ingest, τ-routed</a:t>
                      </a:r>
                    </a:p>
                  </a:txBody>
                  <a:tcPr anchor="ctr" marL="128016" marR="91440" marT="27432" marB="27432"/>
                </a:tc>
                <a:tc>
                  <a:txBody>
                    <a:bodyPr/>
                    <a:lstStyle/>
                    <a:p>
                      <a:r>
                        <a:rPr sz="1900" b="0" i="0">
                          <a:solidFill>
                            <a:srgbClr val="1A1A1A"/>
                          </a:solidFill>
                          <a:latin typeface="Times New Roman"/>
                        </a:rPr>
                        <a:t>compressed</a:t>
                      </a:r>
                    </a:p>
                  </a:txBody>
                  <a:tcPr anchor="ctr" marL="128016" marR="91440" marT="27432" marB="27432"/>
                </a:tc>
              </a:tr>
              <a:tr h="406400">
                <a:tc>
                  <a:txBody>
                    <a:bodyPr/>
                    <a:lstStyle/>
                    <a:p>
                      <a:r>
                        <a:rPr sz="1900" b="1" i="0">
                          <a:solidFill>
                            <a:srgbClr val="C1272D"/>
                          </a:solidFill>
                          <a:latin typeface="Times New Roman"/>
                        </a:rPr>
                        <a:t>P1-A</a:t>
                      </a:r>
                    </a:p>
                  </a:txBody>
                  <a:tcPr anchor="ctr" marL="128016" marR="91440" marT="27432" marB="27432"/>
                </a:tc>
                <a:tc>
                  <a:txBody>
                    <a:bodyPr/>
                    <a:lstStyle/>
                    <a:p>
                      <a:r>
                        <a:rPr sz="1900" b="1" i="0">
                          <a:solidFill>
                            <a:srgbClr val="C1272D"/>
                          </a:solidFill>
                          <a:latin typeface="Times New Roman"/>
                        </a:rPr>
                        <a:t>MemGate adaptive</a:t>
                      </a:r>
                    </a:p>
                  </a:txBody>
                  <a:tcPr anchor="ctr" marL="128016" marR="91440" marT="27432" marB="27432"/>
                </a:tc>
                <a:tc>
                  <a:txBody>
                    <a:bodyPr/>
                    <a:lstStyle/>
                    <a:p>
                      <a:r>
                        <a:rPr sz="1900" b="1" i="0">
                          <a:solidFill>
                            <a:srgbClr val="C1272D"/>
                          </a:solidFill>
                          <a:latin typeface="Times New Roman"/>
                        </a:rPr>
                        <a:t>score orders eviction</a:t>
                      </a:r>
                    </a:p>
                  </a:txBody>
                  <a:tcPr anchor="ctr" marL="128016" marR="91440" marT="27432" marB="27432"/>
                </a:tc>
                <a:tc>
                  <a:txBody>
                    <a:bodyPr/>
                    <a:lstStyle/>
                    <a:p>
                      <a:r>
                        <a:rPr sz="1900" b="1" i="0">
                          <a:solidFill>
                            <a:srgbClr val="C1272D"/>
                          </a:solidFill>
                          <a:latin typeface="Times New Roman"/>
                        </a:rPr>
                        <a:t>compress on eviction</a:t>
                      </a:r>
                    </a:p>
                  </a:txBody>
                  <a:tcPr anchor="ctr" marL="128016" marR="91440" marT="27432" marB="27432"/>
                </a:tc>
              </a:tr>
              <a:tr h="406400">
                <a:tc>
                  <a:txBody>
                    <a:bodyPr/>
                    <a:lstStyle/>
                    <a:p>
                      <a:r>
                        <a:rPr sz="1900" b="1" i="0">
                          <a:solidFill>
                            <a:srgbClr val="C1272D"/>
                          </a:solidFill>
                          <a:latin typeface="Times New Roman"/>
                        </a:rPr>
                        <a:t>P1-S</a:t>
                      </a:r>
                    </a:p>
                  </a:txBody>
                  <a:tcPr anchor="ctr" marL="128016" marR="91440" marT="27432" marB="27432"/>
                </a:tc>
                <a:tc>
                  <a:txBody>
                    <a:bodyPr/>
                    <a:lstStyle/>
                    <a:p>
                      <a:r>
                        <a:rPr sz="1900" b="1" i="0">
                          <a:solidFill>
                            <a:srgbClr val="C1272D"/>
                          </a:solidFill>
                          <a:latin typeface="Times New Roman"/>
                        </a:rPr>
                        <a:t>MemGate select</a:t>
                      </a:r>
                    </a:p>
                  </a:txBody>
                  <a:tcPr anchor="ctr" marL="128016" marR="91440" marT="27432" marB="27432"/>
                </a:tc>
                <a:tc>
                  <a:txBody>
                    <a:bodyPr/>
                    <a:lstStyle/>
                    <a:p>
                      <a:r>
                        <a:rPr sz="1900" b="1" i="0">
                          <a:solidFill>
                            <a:srgbClr val="C1272D"/>
                          </a:solidFill>
                          <a:latin typeface="Times New Roman"/>
                        </a:rPr>
                        <a:t>score orders eviction</a:t>
                      </a:r>
                    </a:p>
                  </a:txBody>
                  <a:tcPr anchor="ctr" marL="128016" marR="91440" marT="27432" marB="27432"/>
                </a:tc>
                <a:tc>
                  <a:txBody>
                    <a:bodyPr/>
                    <a:lstStyle/>
                    <a:p>
                      <a:r>
                        <a:rPr sz="1900" b="1" i="0">
                          <a:solidFill>
                            <a:srgbClr val="C1272D"/>
                          </a:solidFill>
                          <a:latin typeface="Times New Roman"/>
                        </a:rPr>
                        <a:t>drop on eviction</a:t>
                      </a:r>
                    </a:p>
                  </a:txBody>
                  <a:tcPr anchor="ctr" marL="128016" marR="91440" marT="27432" marB="27432"/>
                </a:tc>
              </a:tr>
              <a:tr h="406400">
                <a:tc>
                  <a:txBody>
                    <a:bodyPr/>
                    <a:lstStyle/>
                    <a:p>
                      <a:r>
                        <a:rPr sz="1900" b="0" i="0">
                          <a:solidFill>
                            <a:srgbClr val="1A1A1A"/>
                          </a:solidFill>
                          <a:latin typeface="Times New Roman"/>
                        </a:rPr>
                        <a:t>P2</a:t>
                      </a:r>
                    </a:p>
                  </a:txBody>
                  <a:tcPr anchor="ctr" marL="128016" marR="91440" marT="27432" marB="27432"/>
                </a:tc>
                <a:tc>
                  <a:txBody>
                    <a:bodyPr/>
                    <a:lstStyle/>
                    <a:p>
                      <a:r>
                        <a:rPr sz="1900" b="0" i="0">
                          <a:solidFill>
                            <a:srgbClr val="1A1A1A"/>
                          </a:solidFill>
                          <a:latin typeface="Times New Roman"/>
                        </a:rPr>
                        <a:t>LLM-judged salience</a:t>
                      </a:r>
                    </a:p>
                  </a:txBody>
                  <a:tcPr anchor="ctr" marL="128016" marR="91440" marT="27432" marB="27432"/>
                </a:tc>
                <a:tc>
                  <a:txBody>
                    <a:bodyPr/>
                    <a:lstStyle/>
                    <a:p>
                      <a:r>
                        <a:rPr sz="1900" b="0" i="0">
                          <a:solidFill>
                            <a:srgbClr val="1A1A1A"/>
                          </a:solidFill>
                          <a:latin typeface="Times New Roman"/>
                        </a:rPr>
                        <a:t>Qwen2.5-0.5B rates each turn</a:t>
                      </a:r>
                    </a:p>
                  </a:txBody>
                  <a:tcPr anchor="ctr" marL="128016" marR="91440" marT="27432" marB="27432"/>
                </a:tc>
                <a:tc>
                  <a:txBody>
                    <a:bodyPr/>
                    <a:lstStyle/>
                    <a:p>
                      <a:r>
                        <a:rPr sz="1900" b="0" i="0">
                          <a:solidFill>
                            <a:srgbClr val="1A1A1A"/>
                          </a:solidFill>
                          <a:latin typeface="Times New Roman"/>
                        </a:rPr>
                        <a:t>drop</a:t>
                      </a:r>
                    </a:p>
                  </a:txBody>
                  <a:tcPr anchor="ctr" marL="128016" marR="91440" marT="27432" marB="27432"/>
                </a:tc>
              </a:tr>
              <a:tr h="406400">
                <a:tc>
                  <a:txBody>
                    <a:bodyPr/>
                    <a:lstStyle/>
                    <a:p>
                      <a:r>
                        <a:rPr sz="1900" b="0" i="0">
                          <a:solidFill>
                            <a:srgbClr val="1A1A1A"/>
                          </a:solidFill>
                          <a:latin typeface="Times New Roman"/>
                        </a:rPr>
                        <a:t>P3</a:t>
                      </a:r>
                    </a:p>
                  </a:txBody>
                  <a:tcPr anchor="ctr" marL="128016" marR="91440" marT="27432" marB="27432"/>
                </a:tc>
                <a:tc>
                  <a:txBody>
                    <a:bodyPr/>
                    <a:lstStyle/>
                    <a:p>
                      <a:r>
                        <a:rPr sz="1900" b="0" i="0">
                          <a:solidFill>
                            <a:srgbClr val="1A1A1A"/>
                          </a:solidFill>
                          <a:latin typeface="Times New Roman"/>
                        </a:rPr>
                        <a:t>Learned scorer</a:t>
                      </a:r>
                    </a:p>
                  </a:txBody>
                  <a:tcPr anchor="ctr" marL="128016" marR="91440" marT="27432" marB="27432"/>
                </a:tc>
                <a:tc>
                  <a:txBody>
                    <a:bodyPr/>
                    <a:lstStyle/>
                    <a:p>
                      <a:r>
                        <a:rPr sz="1900" b="0" i="0">
                          <a:solidFill>
                            <a:srgbClr val="1A1A1A"/>
                          </a:solidFill>
                          <a:latin typeface="Times New Roman"/>
                        </a:rPr>
                        <a:t>fitted, cross-validated</a:t>
                      </a:r>
                    </a:p>
                  </a:txBody>
                  <a:tcPr anchor="ctr" marL="128016" marR="91440" marT="27432" marB="27432"/>
                </a:tc>
                <a:tc>
                  <a:txBody>
                    <a:bodyPr/>
                    <a:lstStyle/>
                    <a:p>
                      <a:r>
                        <a:rPr sz="1900" b="0" i="0">
                          <a:solidFill>
                            <a:srgbClr val="1A1A1A"/>
                          </a:solidFill>
                          <a:latin typeface="Times New Roman"/>
                        </a:rPr>
                        <a:t>drop</a:t>
                      </a:r>
                    </a:p>
                  </a:txBody>
                  <a:tcPr anchor="ctr" marL="128016" marR="91440" marT="27432" marB="27432"/>
                </a:tc>
              </a:tr>
              <a:tr h="406400">
                <a:tc>
                  <a:txBody>
                    <a:bodyPr/>
                    <a:lstStyle/>
                    <a:p>
                      <a:r>
                        <a:rPr sz="1900" b="0" i="0">
                          <a:solidFill>
                            <a:srgbClr val="1A1A1A"/>
                          </a:solidFill>
                          <a:latin typeface="Times New Roman"/>
                        </a:rPr>
                        <a:t>Oracle</a:t>
                      </a:r>
                    </a:p>
                  </a:txBody>
                  <a:tcPr anchor="ctr" marL="128016" marR="91440" marT="27432" marB="27432"/>
                </a:tc>
                <a:tc>
                  <a:txBody>
                    <a:bodyPr/>
                    <a:lstStyle/>
                    <a:p>
                      <a:r>
                        <a:rPr sz="1900" b="0" i="0">
                          <a:solidFill>
                            <a:srgbClr val="1A1A1A"/>
                          </a:solidFill>
                          <a:latin typeface="Times New Roman"/>
                        </a:rPr>
                        <a:t>—</a:t>
                      </a:r>
                    </a:p>
                  </a:txBody>
                  <a:tcPr anchor="ctr" marL="128016" marR="91440" marT="27432" marB="27432"/>
                </a:tc>
                <a:tc>
                  <a:txBody>
                    <a:bodyPr/>
                    <a:lstStyle/>
                    <a:p>
                      <a:r>
                        <a:rPr sz="1900" b="0" i="0">
                          <a:solidFill>
                            <a:srgbClr val="1A1A1A"/>
                          </a:solidFill>
                          <a:latin typeface="Times New Roman"/>
                        </a:rPr>
                        <a:t>perfect selection (upper bound)</a:t>
                      </a:r>
                    </a:p>
                  </a:txBody>
                  <a:tcPr anchor="ctr" marL="128016" marR="91440" marT="27432" marB="27432"/>
                </a:tc>
                <a:tc>
                  <a:txBody>
                    <a:bodyPr/>
                    <a:lstStyle/>
                    <a:p>
                      <a:r>
                        <a:rPr sz="1900" b="0" i="0">
                          <a:solidFill>
                            <a:srgbClr val="1A1A1A"/>
                          </a:solidFill>
                          <a:latin typeface="Times New Roman"/>
                        </a:rPr>
                        <a:t>verbatim</a:t>
                      </a:r>
                    </a:p>
                  </a:txBody>
                  <a:tcPr anchor="ctr" marL="128016" marR="91440" marT="27432" marB="27432"/>
                </a:tc>
              </a:tr>
            </a:tbl>
          </a:graphicData>
        </a:graphic>
      </p:graphicFrame>
      <p:graphicFrame>
        <p:nvGraphicFramePr>
          <p:cNvPr id="5" name="Table 4"/>
          <p:cNvGraphicFramePr>
            <a:graphicFrameLocks noGrp="1"/>
          </p:cNvGraphicFramePr>
          <p:nvPr/>
        </p:nvGraphicFramePr>
        <p:xfrm>
          <a:off x="822960" y="6537960"/>
          <a:ext cx="16642080" cy="1828800"/>
        </p:xfrm>
        <a:graphic>
          <a:graphicData uri="http://schemas.openxmlformats.org/drawingml/2006/table">
            <a:tbl>
              <a:tblPr firstRow="1" bandRow="1">
                <a:tableStyleId>{5C22544A-7EE6-4342-B048-85BDC9FD1C3A}</a:tableStyleId>
              </a:tblPr>
              <a:tblGrid>
                <a:gridCol w="4114800"/>
                <a:gridCol w="5943600"/>
                <a:gridCol w="6583680"/>
              </a:tblGrid>
              <a:tr h="457200">
                <a:tc>
                  <a:txBody>
                    <a:bodyPr/>
                    <a:lstStyle/>
                    <a:p>
                      <a:r>
                        <a:rPr sz="2000" b="1" i="0">
                          <a:solidFill>
                            <a:srgbClr val="111111"/>
                          </a:solidFill>
                          <a:latin typeface="Times New Roman"/>
                        </a:rPr>
                        <a:t>Comparison</a:t>
                      </a:r>
                    </a:p>
                  </a:txBody>
                  <a:tcPr anchor="ctr" marL="128016" marR="91440" marT="27432" marB="27432"/>
                </a:tc>
                <a:tc>
                  <a:txBody>
                    <a:bodyPr/>
                    <a:lstStyle/>
                    <a:p>
                      <a:r>
                        <a:rPr sz="2000" b="1" i="0">
                          <a:solidFill>
                            <a:srgbClr val="111111"/>
                          </a:solidFill>
                          <a:latin typeface="Times New Roman"/>
                        </a:rPr>
                        <a:t>Held constant</a:t>
                      </a:r>
                    </a:p>
                  </a:txBody>
                  <a:tcPr anchor="ctr" marL="128016" marR="91440" marT="27432" marB="27432"/>
                </a:tc>
                <a:tc>
                  <a:txBody>
                    <a:bodyPr/>
                    <a:lstStyle/>
                    <a:p>
                      <a:r>
                        <a:rPr sz="2000" b="1" i="0">
                          <a:solidFill>
                            <a:srgbClr val="111111"/>
                          </a:solidFill>
                          <a:latin typeface="Times New Roman"/>
                        </a:rPr>
                        <a:t>The one thing that varies</a:t>
                      </a:r>
                    </a:p>
                  </a:txBody>
                  <a:tcPr anchor="ctr" marL="128016" marR="91440" marT="27432" marB="27432"/>
                </a:tc>
              </a:tr>
              <a:tr h="457200">
                <a:tc>
                  <a:txBody>
                    <a:bodyPr/>
                    <a:lstStyle/>
                    <a:p>
                      <a:r>
                        <a:rPr sz="2000" b="0" i="0">
                          <a:solidFill>
                            <a:srgbClr val="1A1A1A"/>
                          </a:solidFill>
                          <a:latin typeface="Times New Roman"/>
                        </a:rPr>
                        <a:t>P0  vs  RAG</a:t>
                      </a:r>
                    </a:p>
                  </a:txBody>
                  <a:tcPr anchor="ctr" marL="128016" marR="91440" marT="27432" marB="27432"/>
                </a:tc>
                <a:tc>
                  <a:txBody>
                    <a:bodyPr/>
                    <a:lstStyle/>
                    <a:p>
                      <a:r>
                        <a:rPr sz="2000" b="0" i="0">
                          <a:solidFill>
                            <a:srgbClr val="1A1A1A"/>
                          </a:solidFill>
                          <a:latin typeface="Times New Roman"/>
                        </a:rPr>
                        <a:t>retention, storage</a:t>
                      </a:r>
                    </a:p>
                  </a:txBody>
                  <a:tcPr anchor="ctr" marL="128016" marR="91440" marT="27432" marB="27432"/>
                </a:tc>
                <a:tc>
                  <a:txBody>
                    <a:bodyPr/>
                    <a:lstStyle/>
                    <a:p>
                      <a:r>
                        <a:rPr sz="2000" b="1" i="0">
                          <a:solidFill>
                            <a:srgbClr val="C1272D"/>
                          </a:solidFill>
                          <a:latin typeface="Times New Roman"/>
                        </a:rPr>
                        <a:t>read path — recency vs retrieval</a:t>
                      </a:r>
                    </a:p>
                  </a:txBody>
                  <a:tcPr anchor="ctr" marL="128016" marR="91440" marT="27432" marB="27432"/>
                </a:tc>
              </a:tr>
              <a:tr h="457200">
                <a:tc>
                  <a:txBody>
                    <a:bodyPr/>
                    <a:lstStyle/>
                    <a:p>
                      <a:r>
                        <a:rPr sz="2000" b="0" i="0">
                          <a:solidFill>
                            <a:srgbClr val="1A1A1A"/>
                          </a:solidFill>
                          <a:latin typeface="Times New Roman"/>
                        </a:rPr>
                        <a:t>RAG  vs  P1-S</a:t>
                      </a:r>
                    </a:p>
                  </a:txBody>
                  <a:tcPr anchor="ctr" marL="128016" marR="91440" marT="27432" marB="27432"/>
                </a:tc>
                <a:tc>
                  <a:txBody>
                    <a:bodyPr/>
                    <a:lstStyle/>
                    <a:p>
                      <a:r>
                        <a:rPr sz="2000" b="0" i="0">
                          <a:solidFill>
                            <a:srgbClr val="1A1A1A"/>
                          </a:solidFill>
                          <a:latin typeface="Times New Roman"/>
                        </a:rPr>
                        <a:t>storage, fidelity, retrieval</a:t>
                      </a:r>
                    </a:p>
                  </a:txBody>
                  <a:tcPr anchor="ctr" marL="128016" marR="91440" marT="27432" marB="27432"/>
                </a:tc>
                <a:tc>
                  <a:txBody>
                    <a:bodyPr/>
                    <a:lstStyle/>
                    <a:p>
                      <a:r>
                        <a:rPr sz="2000" b="1" i="0">
                          <a:solidFill>
                            <a:srgbClr val="C1272D"/>
                          </a:solidFill>
                          <a:latin typeface="Times New Roman"/>
                        </a:rPr>
                        <a:t>which turns are forgotten</a:t>
                      </a:r>
                    </a:p>
                  </a:txBody>
                  <a:tcPr anchor="ctr" marL="128016" marR="91440" marT="27432" marB="27432"/>
                </a:tc>
              </a:tr>
              <a:tr h="457200">
                <a:tc>
                  <a:txBody>
                    <a:bodyPr/>
                    <a:lstStyle/>
                    <a:p>
                      <a:r>
                        <a:rPr sz="2000" b="0" i="0">
                          <a:solidFill>
                            <a:srgbClr val="1A1A1A"/>
                          </a:solidFill>
                          <a:latin typeface="Times New Roman"/>
                        </a:rPr>
                        <a:t>P1-S  vs  P1-A</a:t>
                      </a:r>
                    </a:p>
                  </a:txBody>
                  <a:tcPr anchor="ctr" marL="128016" marR="91440" marT="27432" marB="27432"/>
                </a:tc>
                <a:tc>
                  <a:txBody>
                    <a:bodyPr/>
                    <a:lstStyle/>
                    <a:p>
                      <a:r>
                        <a:rPr sz="2000" b="0" i="0">
                          <a:solidFill>
                            <a:srgbClr val="1A1A1A"/>
                          </a:solidFill>
                          <a:latin typeface="Times New Roman"/>
                        </a:rPr>
                        <a:t>storage, selection</a:t>
                      </a:r>
                    </a:p>
                  </a:txBody>
                  <a:tcPr anchor="ctr" marL="128016" marR="91440" marT="27432" marB="27432"/>
                </a:tc>
                <a:tc>
                  <a:txBody>
                    <a:bodyPr/>
                    <a:lstStyle/>
                    <a:p>
                      <a:r>
                        <a:rPr sz="2000" b="1" i="0">
                          <a:solidFill>
                            <a:srgbClr val="C1272D"/>
                          </a:solidFill>
                          <a:latin typeface="Times New Roman"/>
                        </a:rPr>
                        <a:t>fidelity — drop vs compress</a:t>
                      </a:r>
                    </a:p>
                  </a:txBody>
                  <a:tcPr anchor="ctr" marL="128016" marR="91440" marT="27432" marB="27432"/>
                </a:tc>
              </a:tr>
            </a:tbl>
          </a:graphicData>
        </a:graphic>
      </p:graphicFrame>
      <p:sp>
        <p:nvSpPr>
          <p:cNvPr id="6" name="Rectangle 5"/>
          <p:cNvSpPr/>
          <p:nvPr/>
        </p:nvSpPr>
        <p:spPr>
          <a:xfrm>
            <a:off x="822960" y="8869680"/>
            <a:ext cx="64008" cy="914400"/>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86968" y="8869680"/>
            <a:ext cx="16578072" cy="914400"/>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 y="8961119"/>
            <a:ext cx="16002000" cy="731520"/>
          </a:xfrm>
          <a:prstGeom prst="rect">
            <a:avLst/>
          </a:prstGeom>
          <a:noFill/>
        </p:spPr>
        <p:txBody>
          <a:bodyPr wrap="square" anchor="ctr">
            <a:spAutoFit/>
          </a:bodyPr>
          <a:lstStyle/>
          <a:p>
            <a:pPr>
              <a:lnSpc>
                <a:spcPct val="105000"/>
              </a:lnSpc>
            </a:pPr>
            <a:r>
              <a:rPr sz="2300" b="0" i="0">
                <a:solidFill>
                  <a:srgbClr val="1A1A1A"/>
                </a:solidFill>
                <a:latin typeface="Times New Roman"/>
              </a:rPr>
              <a:t>P0 is given the same token budget as MemGate, so the only difference is which turns are chosen — never how many tokens may be spent. A fixed small window would be a strawman.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4200" b="1" i="0">
                <a:solidFill>
                  <a:srgbClr val="111111"/>
                </a:solidFill>
                <a:latin typeface="Times New Roman"/>
              </a:rPr>
              <a:t>Two metrics, and why both are reported</a:t>
            </a:r>
          </a:p>
        </p:txBody>
      </p:sp>
      <p:sp>
        <p:nvSpPr>
          <p:cNvPr id="3" name="TextBox 2"/>
          <p:cNvSpPr txBox="1"/>
          <p:nvPr/>
        </p:nvSpPr>
        <p:spPr>
          <a:xfrm>
            <a:off x="822960" y="2286000"/>
            <a:ext cx="16642080" cy="2518410"/>
          </a:xfrm>
          <a:prstGeom prst="rect">
            <a:avLst/>
          </a:prstGeom>
          <a:noFill/>
        </p:spPr>
        <p:txBody>
          <a:bodyPr wrap="square">
            <a:spAutoFit/>
          </a:bodyPr>
          <a:lstStyle/>
          <a:p>
            <a:pPr>
              <a:lnSpc>
                <a:spcPct val="105000"/>
              </a:lnSpc>
              <a:spcAft>
                <a:spcPts val="1000"/>
              </a:spcAft>
            </a:pPr>
            <a:r>
              <a:rPr sz="2500" b="0" i="0">
                <a:solidFill>
                  <a:srgbClr val="C1272D"/>
                </a:solidFill>
                <a:latin typeface="Times New Roman"/>
              </a:rPr>
              <a:t>•  </a:t>
            </a:r>
            <a:r>
              <a:rPr sz="2500" b="1" i="0">
                <a:solidFill>
                  <a:srgbClr val="1A1A1A"/>
                </a:solidFill>
                <a:latin typeface="Times New Roman"/>
              </a:rPr>
              <a:t>Evidence (strict) recall. </a:t>
            </a:r>
            <a:r>
              <a:rPr sz="2500" b="0" i="0">
                <a:solidFill>
                  <a:srgbClr val="1A1A1A"/>
                </a:solidFill>
                <a:latin typeface="Times New Roman"/>
              </a:rPr>
              <a:t>Every gold evidence turn reached the context. A multi-hop question cites up to 19 turns, and 18 of 19 answers nothing.</a:t>
            </a:r>
          </a:p>
          <a:p>
            <a:pPr>
              <a:lnSpc>
                <a:spcPct val="105000"/>
              </a:lnSpc>
              <a:spcAft>
                <a:spcPts val="1000"/>
              </a:spcAft>
            </a:pPr>
            <a:r>
              <a:rPr sz="2500" b="0" i="0">
                <a:solidFill>
                  <a:srgbClr val="C1272D"/>
                </a:solidFill>
                <a:latin typeface="Times New Roman"/>
              </a:rPr>
              <a:t>•  </a:t>
            </a:r>
            <a:r>
              <a:rPr sz="2500" b="1" i="0">
                <a:solidFill>
                  <a:srgbClr val="1A1A1A"/>
                </a:solidFill>
                <a:latin typeface="Times New Roman"/>
              </a:rPr>
              <a:t>Answer recall. </a:t>
            </a:r>
            <a:r>
              <a:rPr sz="2500" b="0" i="0">
                <a:solidFill>
                  <a:srgbClr val="1A1A1A"/>
                </a:solidFill>
                <a:latin typeface="Times New Roman"/>
              </a:rPr>
              <a:t>The answer text itself survived, scored over the 715 questions whose answer is recoverable from the evidence text. This is the metric to believe.</a:t>
            </a:r>
          </a:p>
          <a:p>
            <a:pPr>
              <a:lnSpc>
                <a:spcPct val="105000"/>
              </a:lnSpc>
              <a:spcAft>
                <a:spcPts val="1000"/>
              </a:spcAft>
            </a:pPr>
            <a:r>
              <a:rPr sz="2500" b="0" i="0">
                <a:solidFill>
                  <a:srgbClr val="C1272D"/>
                </a:solidFill>
                <a:latin typeface="Times New Roman"/>
              </a:rPr>
              <a:t>•  </a:t>
            </a:r>
            <a:r>
              <a:rPr sz="2500" b="1" i="0">
                <a:solidFill>
                  <a:srgbClr val="1A1A1A"/>
                </a:solidFill>
                <a:latin typeface="Times New Roman"/>
              </a:rPr>
              <a:t>Stored tokens / bytes. </a:t>
            </a:r>
            <a:r>
              <a:rPr sz="2500" b="0" i="0">
                <a:solidFill>
                  <a:srgbClr val="1A1A1A"/>
                </a:solidFill>
                <a:latin typeface="Times New Roman"/>
              </a:rPr>
              <a:t>What the policy still holds, as opposed to what it spends per query.</a:t>
            </a:r>
          </a:p>
        </p:txBody>
      </p:sp>
      <p:sp>
        <p:nvSpPr>
          <p:cNvPr id="4" name="Rectangle 3"/>
          <p:cNvSpPr/>
          <p:nvPr/>
        </p:nvSpPr>
        <p:spPr>
          <a:xfrm>
            <a:off x="822960" y="5486400"/>
            <a:ext cx="64008" cy="1234440"/>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86968" y="5486400"/>
            <a:ext cx="16578072" cy="1234440"/>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 y="5577840"/>
            <a:ext cx="16002000" cy="1051560"/>
          </a:xfrm>
          <a:prstGeom prst="rect">
            <a:avLst/>
          </a:prstGeom>
          <a:noFill/>
        </p:spPr>
        <p:txBody>
          <a:bodyPr wrap="square" anchor="ctr">
            <a:spAutoFit/>
          </a:bodyPr>
          <a:lstStyle/>
          <a:p>
            <a:pPr>
              <a:lnSpc>
                <a:spcPct val="105000"/>
              </a:lnSpc>
            </a:pPr>
            <a:r>
              <a:rPr sz="1700" b="1" i="0">
                <a:solidFill>
                  <a:srgbClr val="C1272D"/>
                </a:solidFill>
                <a:latin typeface="Times New Roman"/>
              </a:rPr>
              <a:t>WHY TWO   </a:t>
            </a:r>
            <a:r>
              <a:rPr sz="2300" b="0" i="0">
                <a:solidFill>
                  <a:srgbClr val="1A1A1A"/>
                </a:solidFill>
                <a:latin typeface="Times New Roman"/>
              </a:rPr>
              <a:t>Reporting both is essential rather than decorative: the two metrics </a:t>
            </a:r>
            <a:r>
              <a:rPr sz="2300" b="1" i="0">
                <a:solidFill>
                  <a:srgbClr val="1A1A1A"/>
                </a:solidFill>
                <a:latin typeface="Times New Roman"/>
              </a:rPr>
              <a:t>disagree</a:t>
            </a:r>
            <a:r>
              <a:rPr sz="2300" b="0" i="0">
                <a:solidFill>
                  <a:srgbClr val="1A1A1A"/>
                </a:solidFill>
                <a:latin typeface="Times New Roman"/>
              </a:rPr>
              <a:t> on exactly the comparison this project is about, and the disagreement is the finding.</a:t>
            </a:r>
          </a:p>
        </p:txBody>
      </p:sp>
      <p:sp>
        <p:nvSpPr>
          <p:cNvPr id="7" name="TextBox 6"/>
          <p:cNvSpPr txBox="1"/>
          <p:nvPr/>
        </p:nvSpPr>
        <p:spPr>
          <a:xfrm>
            <a:off x="822960" y="6995160"/>
            <a:ext cx="16642080" cy="1863344"/>
          </a:xfrm>
          <a:prstGeom prst="rect">
            <a:avLst/>
          </a:prstGeom>
          <a:noFill/>
        </p:spPr>
        <p:txBody>
          <a:bodyPr wrap="square">
            <a:spAutoFit/>
          </a:bodyPr>
          <a:lstStyle/>
          <a:p>
            <a:pPr>
              <a:lnSpc>
                <a:spcPct val="105000"/>
              </a:lnSpc>
              <a:spcAft>
                <a:spcPts val="1000"/>
              </a:spcAft>
            </a:pPr>
            <a:r>
              <a:rPr sz="2300" b="0" i="0">
                <a:solidFill>
                  <a:srgbClr val="C1272D"/>
                </a:solidFill>
                <a:latin typeface="Times New Roman"/>
              </a:rPr>
              <a:t>•  </a:t>
            </a:r>
            <a:r>
              <a:rPr sz="2300" b="1" i="0">
                <a:solidFill>
                  <a:srgbClr val="1A1A1A"/>
                </a:solidFill>
                <a:latin typeface="Times New Roman"/>
              </a:rPr>
              <a:t>Evidence recall credits a pointer. </a:t>
            </a:r>
            <a:r>
              <a:rPr sz="2300" b="0" i="0">
                <a:solidFill>
                  <a:srgbClr val="1A1A1A"/>
                </a:solidFill>
                <a:latin typeface="Times New Roman"/>
              </a:rPr>
              <a:t>A compressed gist keeps the evidence id of a turn whose text it has thrown away, and scores a hit with none of the answer behind it.</a:t>
            </a:r>
          </a:p>
          <a:p>
            <a:pPr>
              <a:lnSpc>
                <a:spcPct val="105000"/>
              </a:lnSpc>
              <a:spcAft>
                <a:spcPts val="1000"/>
              </a:spcAft>
            </a:pPr>
            <a:r>
              <a:rPr sz="2300" b="0" i="0">
                <a:solidFill>
                  <a:srgbClr val="C1272D"/>
                </a:solidFill>
                <a:latin typeface="Times New Roman"/>
              </a:rPr>
              <a:t>•  </a:t>
            </a:r>
            <a:r>
              <a:rPr sz="2300" b="1" i="0">
                <a:solidFill>
                  <a:srgbClr val="1A1A1A"/>
                </a:solidFill>
                <a:latin typeface="Times New Roman"/>
              </a:rPr>
              <a:t>Answer recall checks the content. </a:t>
            </a:r>
            <a:r>
              <a:rPr sz="2300" b="0" i="0">
                <a:solidFill>
                  <a:srgbClr val="1A1A1A"/>
                </a:solidFill>
                <a:latin typeface="Times New Roman"/>
              </a:rPr>
              <a:t>During the consolidation work, evidence recall rose 8.1% → 14.8% while answer recall stayed pinned at 12.8%. The entire gain was bookkeeping.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4200" b="1" i="0">
                <a:solidFill>
                  <a:srgbClr val="111111"/>
                </a:solidFill>
                <a:latin typeface="Times New Roman"/>
              </a:rPr>
              <a:t>Experimental setup</a:t>
            </a:r>
          </a:p>
        </p:txBody>
      </p:sp>
      <p:sp>
        <p:nvSpPr>
          <p:cNvPr id="3" name="TextBox 2"/>
          <p:cNvSpPr txBox="1"/>
          <p:nvPr/>
        </p:nvSpPr>
        <p:spPr>
          <a:xfrm>
            <a:off x="2834640" y="1700784"/>
            <a:ext cx="12618720" cy="731520"/>
          </a:xfrm>
          <a:prstGeom prst="rect">
            <a:avLst/>
          </a:prstGeom>
          <a:noFill/>
        </p:spPr>
        <p:txBody>
          <a:bodyPr wrap="square" tIns="0" bIns="0">
            <a:spAutoFit/>
          </a:bodyPr>
          <a:lstStyle/>
          <a:p>
            <a:pPr algn="ctr"/>
            <a:r>
              <a:rPr sz="1800" b="0" i="1">
                <a:solidFill>
                  <a:srgbClr val="5A5A5A"/>
                </a:solidFill>
                <a:latin typeface="Times New Roman"/>
              </a:rPr>
              <a:t>Deterministic, offline, and free to re-run on every change.</a:t>
            </a:r>
          </a:p>
        </p:txBody>
      </p:sp>
      <p:graphicFrame>
        <p:nvGraphicFramePr>
          <p:cNvPr id="4" name="Table 3"/>
          <p:cNvGraphicFramePr>
            <a:graphicFrameLocks noGrp="1"/>
          </p:cNvGraphicFramePr>
          <p:nvPr/>
        </p:nvGraphicFramePr>
        <p:xfrm>
          <a:off x="822960" y="2514600"/>
          <a:ext cx="16642080" cy="3803904"/>
        </p:xfrm>
        <a:graphic>
          <a:graphicData uri="http://schemas.openxmlformats.org/drawingml/2006/table">
            <a:tbl>
              <a:tblPr firstRow="1" bandRow="1">
                <a:tableStyleId>{5C22544A-7EE6-4342-B048-85BDC9FD1C3A}</a:tableStyleId>
              </a:tblPr>
              <a:tblGrid>
                <a:gridCol w="2926080"/>
                <a:gridCol w="7498080"/>
                <a:gridCol w="6217920"/>
              </a:tblGrid>
              <a:tr h="475488">
                <a:tc>
                  <a:txBody>
                    <a:bodyPr/>
                    <a:lstStyle/>
                    <a:p>
                      <a:r>
                        <a:rPr sz="1800" b="1" i="0">
                          <a:solidFill>
                            <a:srgbClr val="111111"/>
                          </a:solidFill>
                          <a:latin typeface="Times New Roman"/>
                        </a:rPr>
                        <a:t>Element</a:t>
                      </a:r>
                    </a:p>
                  </a:txBody>
                  <a:tcPr anchor="ctr" marL="128016" marR="91440" marT="27432" marB="27432"/>
                </a:tc>
                <a:tc>
                  <a:txBody>
                    <a:bodyPr/>
                    <a:lstStyle/>
                    <a:p>
                      <a:r>
                        <a:rPr sz="1800" b="1" i="0">
                          <a:solidFill>
                            <a:srgbClr val="111111"/>
                          </a:solidFill>
                          <a:latin typeface="Times New Roman"/>
                        </a:rPr>
                        <a:t>Choice</a:t>
                      </a:r>
                    </a:p>
                  </a:txBody>
                  <a:tcPr anchor="ctr" marL="128016" marR="91440" marT="27432" marB="27432"/>
                </a:tc>
                <a:tc>
                  <a:txBody>
                    <a:bodyPr/>
                    <a:lstStyle/>
                    <a:p>
                      <a:r>
                        <a:rPr sz="1800" b="1" i="0">
                          <a:solidFill>
                            <a:srgbClr val="111111"/>
                          </a:solidFill>
                          <a:latin typeface="Times New Roman"/>
                        </a:rPr>
                        <a:t>Why</a:t>
                      </a:r>
                    </a:p>
                  </a:txBody>
                  <a:tcPr anchor="ctr" marL="128016" marR="91440" marT="27432" marB="27432"/>
                </a:tc>
              </a:tr>
              <a:tr h="475488">
                <a:tc>
                  <a:txBody>
                    <a:bodyPr/>
                    <a:lstStyle/>
                    <a:p>
                      <a:r>
                        <a:rPr sz="1800" b="0" i="0">
                          <a:solidFill>
                            <a:srgbClr val="1A1A1A"/>
                          </a:solidFill>
                          <a:latin typeface="Times New Roman"/>
                        </a:rPr>
                        <a:t>Benchmark</a:t>
                      </a:r>
                    </a:p>
                  </a:txBody>
                  <a:tcPr anchor="ctr" marL="128016" marR="91440" marT="27432" marB="27432"/>
                </a:tc>
                <a:tc>
                  <a:txBody>
                    <a:bodyPr/>
                    <a:lstStyle/>
                    <a:p>
                      <a:r>
                        <a:rPr sz="1800" b="0" i="0">
                          <a:solidFill>
                            <a:srgbClr val="1A1A1A"/>
                          </a:solidFill>
                          <a:latin typeface="Times New Roman"/>
                        </a:rPr>
                        <a:t>LoCoMo — 10 conversations, 5,882 turns, 1,527 scoreable questions</a:t>
                      </a:r>
                    </a:p>
                  </a:txBody>
                  <a:tcPr anchor="ctr" marL="128016" marR="91440" marT="27432" marB="27432"/>
                </a:tc>
                <a:tc>
                  <a:txBody>
                    <a:bodyPr/>
                    <a:lstStyle/>
                    <a:p>
                      <a:r>
                        <a:rPr sz="1800" b="0" i="0">
                          <a:solidFill>
                            <a:srgbClr val="1A1A1A"/>
                          </a:solidFill>
                          <a:latin typeface="Times New Roman"/>
                        </a:rPr>
                        <a:t>Real multi-session dialogue with gold evidence ids</a:t>
                      </a:r>
                    </a:p>
                  </a:txBody>
                  <a:tcPr anchor="ctr" marL="128016" marR="91440" marT="27432" marB="27432"/>
                </a:tc>
              </a:tr>
              <a:tr h="475488">
                <a:tc>
                  <a:txBody>
                    <a:bodyPr/>
                    <a:lstStyle/>
                    <a:p>
                      <a:r>
                        <a:rPr sz="1800" b="0" i="0">
                          <a:solidFill>
                            <a:srgbClr val="1A1A1A"/>
                          </a:solidFill>
                          <a:latin typeface="Times New Roman"/>
                        </a:rPr>
                        <a:t>Excluded</a:t>
                      </a:r>
                    </a:p>
                  </a:txBody>
                  <a:tcPr anchor="ctr" marL="128016" marR="91440" marT="27432" marB="27432"/>
                </a:tc>
                <a:tc>
                  <a:txBody>
                    <a:bodyPr/>
                    <a:lstStyle/>
                    <a:p>
                      <a:r>
                        <a:rPr sz="1800" b="0" i="0">
                          <a:solidFill>
                            <a:srgbClr val="1A1A1A"/>
                          </a:solidFill>
                          <a:latin typeface="Times New Roman"/>
                        </a:rPr>
                        <a:t>Adversarial items (category 5)</a:t>
                      </a:r>
                    </a:p>
                  </a:txBody>
                  <a:tcPr anchor="ctr" marL="128016" marR="91440" marT="27432" marB="27432"/>
                </a:tc>
                <a:tc>
                  <a:txBody>
                    <a:bodyPr/>
                    <a:lstStyle/>
                    <a:p>
                      <a:r>
                        <a:rPr sz="1800" b="0" i="0">
                          <a:solidFill>
                            <a:srgbClr val="1A1A1A"/>
                          </a:solidFill>
                          <a:latin typeface="Times New Roman"/>
                        </a:rPr>
                        <a:t>They carry evidence, but the correct behaviour is to decline</a:t>
                      </a:r>
                    </a:p>
                  </a:txBody>
                  <a:tcPr anchor="ctr" marL="128016" marR="91440" marT="27432" marB="27432"/>
                </a:tc>
              </a:tr>
              <a:tr h="475488">
                <a:tc>
                  <a:txBody>
                    <a:bodyPr/>
                    <a:lstStyle/>
                    <a:p>
                      <a:r>
                        <a:rPr sz="1800" b="0" i="0">
                          <a:solidFill>
                            <a:srgbClr val="1A1A1A"/>
                          </a:solidFill>
                          <a:latin typeface="Times New Roman"/>
                        </a:rPr>
                        <a:t>Embedder</a:t>
                      </a:r>
                    </a:p>
                  </a:txBody>
                  <a:tcPr anchor="ctr" marL="128016" marR="91440" marT="27432" marB="27432"/>
                </a:tc>
                <a:tc>
                  <a:txBody>
                    <a:bodyPr/>
                    <a:lstStyle/>
                    <a:p>
                      <a:r>
                        <a:rPr sz="1800" b="0" i="0">
                          <a:solidFill>
                            <a:srgbClr val="1A1A1A"/>
                          </a:solidFill>
                          <a:latin typeface="Times New Roman"/>
                        </a:rPr>
                        <a:t>all-MiniLM-L6-v2, 384-d</a:t>
                      </a:r>
                    </a:p>
                  </a:txBody>
                  <a:tcPr anchor="ctr" marL="128016" marR="91440" marT="27432" marB="27432"/>
                </a:tc>
                <a:tc>
                  <a:txBody>
                    <a:bodyPr/>
                    <a:lstStyle/>
                    <a:p>
                      <a:r>
                        <a:rPr sz="1800" b="0" i="0">
                          <a:solidFill>
                            <a:srgbClr val="1A1A1A"/>
                          </a:solidFill>
                          <a:latin typeface="Times New Roman"/>
                        </a:rPr>
                        <a:t>Retrieval ranking and semantic supersession</a:t>
                      </a:r>
                    </a:p>
                  </a:txBody>
                  <a:tcPr anchor="ctr" marL="128016" marR="91440" marT="27432" marB="27432"/>
                </a:tc>
              </a:tr>
              <a:tr h="475488">
                <a:tc>
                  <a:txBody>
                    <a:bodyPr/>
                    <a:lstStyle/>
                    <a:p>
                      <a:r>
                        <a:rPr sz="1800" b="0" i="0">
                          <a:solidFill>
                            <a:srgbClr val="1A1A1A"/>
                          </a:solidFill>
                          <a:latin typeface="Times New Roman"/>
                        </a:rPr>
                        <a:t>Tokenizer</a:t>
                      </a:r>
                    </a:p>
                  </a:txBody>
                  <a:tcPr anchor="ctr" marL="128016" marR="91440" marT="27432" marB="27432"/>
                </a:tc>
                <a:tc>
                  <a:txBody>
                    <a:bodyPr/>
                    <a:lstStyle/>
                    <a:p>
                      <a:r>
                        <a:rPr sz="1800" b="0" i="0">
                          <a:solidFill>
                            <a:srgbClr val="1A1A1A"/>
                          </a:solidFill>
                          <a:latin typeface="Times New Roman"/>
                        </a:rPr>
                        <a:t>tiktoken cl100k_base</a:t>
                      </a:r>
                    </a:p>
                  </a:txBody>
                  <a:tcPr anchor="ctr" marL="128016" marR="91440" marT="27432" marB="27432"/>
                </a:tc>
                <a:tc>
                  <a:txBody>
                    <a:bodyPr/>
                    <a:lstStyle/>
                    <a:p>
                      <a:r>
                        <a:rPr sz="1800" b="0" i="0">
                          <a:solidFill>
                            <a:srgbClr val="1A1A1A"/>
                          </a:solidFill>
                          <a:latin typeface="Times New Roman"/>
                        </a:rPr>
                        <a:t>Budgets are exact tokens, not a word-count proxy</a:t>
                      </a:r>
                    </a:p>
                  </a:txBody>
                  <a:tcPr anchor="ctr" marL="128016" marR="91440" marT="27432" marB="27432"/>
                </a:tc>
              </a:tr>
              <a:tr h="475488">
                <a:tc>
                  <a:txBody>
                    <a:bodyPr/>
                    <a:lstStyle/>
                    <a:p>
                      <a:r>
                        <a:rPr sz="1800" b="0" i="0">
                          <a:solidFill>
                            <a:srgbClr val="1A1A1A"/>
                          </a:solidFill>
                          <a:latin typeface="Times New Roman"/>
                        </a:rPr>
                        <a:t>P2 judge</a:t>
                      </a:r>
                    </a:p>
                  </a:txBody>
                  <a:tcPr anchor="ctr" marL="128016" marR="91440" marT="27432" marB="27432"/>
                </a:tc>
                <a:tc>
                  <a:txBody>
                    <a:bodyPr/>
                    <a:lstStyle/>
                    <a:p>
                      <a:r>
                        <a:rPr sz="1800" b="0" i="0">
                          <a:solidFill>
                            <a:srgbClr val="1A1A1A"/>
                          </a:solidFill>
                          <a:latin typeface="Times New Roman"/>
                        </a:rPr>
                        <a:t>Qwen2.5-0.5B-Instruct, run locally</a:t>
                      </a:r>
                    </a:p>
                  </a:txBody>
                  <a:tcPr anchor="ctr" marL="128016" marR="91440" marT="27432" marB="27432"/>
                </a:tc>
                <a:tc>
                  <a:txBody>
                    <a:bodyPr/>
                    <a:lstStyle/>
                    <a:p>
                      <a:r>
                        <a:rPr sz="1800" b="0" i="0">
                          <a:solidFill>
                            <a:srgbClr val="1A1A1A"/>
                          </a:solidFill>
                          <a:latin typeface="Times New Roman"/>
                        </a:rPr>
                        <a:t>One forward pass per turn, logit-expectation scored</a:t>
                      </a:r>
                    </a:p>
                  </a:txBody>
                  <a:tcPr anchor="ctr" marL="128016" marR="91440" marT="27432" marB="27432"/>
                </a:tc>
              </a:tr>
              <a:tr h="475488">
                <a:tc>
                  <a:txBody>
                    <a:bodyPr/>
                    <a:lstStyle/>
                    <a:p>
                      <a:r>
                        <a:rPr sz="1800" b="0" i="0">
                          <a:solidFill>
                            <a:srgbClr val="1A1A1A"/>
                          </a:solidFill>
                          <a:latin typeface="Times New Roman"/>
                        </a:rPr>
                        <a:t>Reader</a:t>
                      </a:r>
                    </a:p>
                  </a:txBody>
                  <a:tcPr anchor="ctr" marL="128016" marR="91440" marT="27432" marB="27432"/>
                </a:tc>
                <a:tc>
                  <a:txBody>
                    <a:bodyPr/>
                    <a:lstStyle/>
                    <a:p>
                      <a:r>
                        <a:rPr sz="1800" b="0" i="0">
                          <a:solidFill>
                            <a:srgbClr val="1A1A1A"/>
                          </a:solidFill>
                          <a:latin typeface="Times New Roman"/>
                        </a:rPr>
                        <a:t>Qwen2.5-1.5B-Instruct-4bit, greedy</a:t>
                      </a:r>
                    </a:p>
                  </a:txBody>
                  <a:tcPr anchor="ctr" marL="128016" marR="91440" marT="27432" marB="27432"/>
                </a:tc>
                <a:tc>
                  <a:txBody>
                    <a:bodyPr/>
                    <a:lstStyle/>
                    <a:p>
                      <a:r>
                        <a:rPr sz="1800" b="0" i="0">
                          <a:solidFill>
                            <a:srgbClr val="1A1A1A"/>
                          </a:solidFill>
                          <a:latin typeface="Times New Roman"/>
                        </a:rPr>
                        <a:t>Held fixed across arms, so any difference is the policy</a:t>
                      </a:r>
                    </a:p>
                  </a:txBody>
                  <a:tcPr anchor="ctr" marL="128016" marR="91440" marT="27432" marB="27432"/>
                </a:tc>
              </a:tr>
              <a:tr h="475488">
                <a:tc>
                  <a:txBody>
                    <a:bodyPr/>
                    <a:lstStyle/>
                    <a:p>
                      <a:r>
                        <a:rPr sz="1800" b="0" i="0">
                          <a:solidFill>
                            <a:srgbClr val="1A1A1A"/>
                          </a:solidFill>
                          <a:latin typeface="Times New Roman"/>
                        </a:rPr>
                        <a:t>Statistics</a:t>
                      </a:r>
                    </a:p>
                  </a:txBody>
                  <a:tcPr anchor="ctr" marL="128016" marR="91440" marT="27432" marB="27432"/>
                </a:tc>
                <a:tc>
                  <a:txBody>
                    <a:bodyPr/>
                    <a:lstStyle/>
                    <a:p>
                      <a:r>
                        <a:rPr sz="1800" b="0" i="0">
                          <a:solidFill>
                            <a:srgbClr val="1A1A1A"/>
                          </a:solidFill>
                          <a:latin typeface="Times New Roman"/>
                        </a:rPr>
                        <a:t>Paired bootstrap B = 10,000 + exact McNemar</a:t>
                      </a:r>
                    </a:p>
                  </a:txBody>
                  <a:tcPr anchor="ctr" marL="128016" marR="91440" marT="27432" marB="27432"/>
                </a:tc>
                <a:tc>
                  <a:txBody>
                    <a:bodyPr/>
                    <a:lstStyle/>
                    <a:p>
                      <a:r>
                        <a:rPr sz="1800" b="0" i="0">
                          <a:solidFill>
                            <a:srgbClr val="1A1A1A"/>
                          </a:solidFill>
                          <a:latin typeface="Times New Roman"/>
                        </a:rPr>
                        <a:t>Resampled by conversation, not by question</a:t>
                      </a:r>
                    </a:p>
                  </a:txBody>
                  <a:tcPr anchor="ctr" marL="128016" marR="91440" marT="27432" marB="27432"/>
                </a:tc>
              </a:tr>
            </a:tbl>
          </a:graphicData>
        </a:graphic>
      </p:graphicFrame>
      <p:sp>
        <p:nvSpPr>
          <p:cNvPr id="5" name="Rectangle 4"/>
          <p:cNvSpPr/>
          <p:nvPr/>
        </p:nvSpPr>
        <p:spPr>
          <a:xfrm>
            <a:off x="822960" y="8686800"/>
            <a:ext cx="64008" cy="1005840"/>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86968" y="8686800"/>
            <a:ext cx="16578072" cy="1005840"/>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8778240"/>
            <a:ext cx="16002000" cy="822960"/>
          </a:xfrm>
          <a:prstGeom prst="rect">
            <a:avLst/>
          </a:prstGeom>
          <a:noFill/>
        </p:spPr>
        <p:txBody>
          <a:bodyPr wrap="square" anchor="ctr">
            <a:spAutoFit/>
          </a:bodyPr>
          <a:lstStyle/>
          <a:p>
            <a:pPr>
              <a:lnSpc>
                <a:spcPct val="105000"/>
              </a:lnSpc>
            </a:pPr>
            <a:r>
              <a:rPr sz="1700" b="1" i="0">
                <a:solidFill>
                  <a:srgbClr val="C1272D"/>
                </a:solidFill>
                <a:latin typeface="Times New Roman"/>
              </a:rPr>
              <a:t>THE ONE STATISTICAL POINT THAT MATTERS   </a:t>
            </a:r>
            <a:r>
              <a:rPr sz="2300" b="0" i="0">
                <a:solidFill>
                  <a:srgbClr val="1A1A1A"/>
                </a:solidFill>
                <a:latin typeface="Times New Roman"/>
              </a:rPr>
              <a:t>1,527 questions drawn from 10 conversations are not 1,527 independent trials. Every interval in this deck is clustered at the conversation level.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3600" b="1" i="0">
                <a:solidFill>
                  <a:srgbClr val="111111"/>
                </a:solidFill>
                <a:latin typeface="Times New Roman"/>
              </a:rPr>
              <a:t>Storage was never budgeted — and that determined the answer</a:t>
            </a:r>
          </a:p>
        </p:txBody>
      </p:sp>
      <p:sp>
        <p:nvSpPr>
          <p:cNvPr id="3" name="TextBox 2"/>
          <p:cNvSpPr txBox="1"/>
          <p:nvPr/>
        </p:nvSpPr>
        <p:spPr>
          <a:xfrm>
            <a:off x="822960" y="2286000"/>
            <a:ext cx="8229600" cy="3462528"/>
          </a:xfrm>
          <a:prstGeom prst="rect">
            <a:avLst/>
          </a:prstGeom>
          <a:noFill/>
        </p:spPr>
        <p:txBody>
          <a:bodyPr wrap="square">
            <a:spAutoFit/>
          </a:bodyPr>
          <a:lstStyle/>
          <a:p>
            <a:pPr>
              <a:lnSpc>
                <a:spcPct val="105000"/>
              </a:lnSpc>
              <a:spcAft>
                <a:spcPts val="1000"/>
              </a:spcAft>
            </a:pPr>
            <a:r>
              <a:rPr sz="2300" b="0" i="0">
                <a:solidFill>
                  <a:srgbClr val="C1272D"/>
                </a:solidFill>
                <a:latin typeface="Times New Roman"/>
              </a:rPr>
              <a:t>•  </a:t>
            </a:r>
            <a:r>
              <a:rPr sz="2300" b="1" i="0">
                <a:solidFill>
                  <a:srgbClr val="1A1A1A"/>
                </a:solidFill>
                <a:latin typeface="Times New Roman"/>
              </a:rPr>
              <a:t>Every experiment in this literature </a:t>
            </a:r>
            <a:r>
              <a:rPr sz="2300" b="0" i="0">
                <a:solidFill>
                  <a:srgbClr val="1A1A1A"/>
                </a:solidFill>
                <a:latin typeface="Times New Roman"/>
              </a:rPr>
              <a:t>caps the context assembled per query and leaves the store unbounded. So does every experiment of ours before this point.</a:t>
            </a:r>
          </a:p>
          <a:p>
            <a:pPr>
              <a:lnSpc>
                <a:spcPct val="105000"/>
              </a:lnSpc>
              <a:spcAft>
                <a:spcPts val="1000"/>
              </a:spcAft>
            </a:pPr>
            <a:r>
              <a:rPr sz="2300" b="0" i="0">
                <a:solidFill>
                  <a:srgbClr val="C1272D"/>
                </a:solidFill>
                <a:latin typeface="Times New Roman"/>
              </a:rPr>
              <a:t>•  </a:t>
            </a:r>
            <a:r>
              <a:rPr sz="2300" b="1" i="0">
                <a:solidFill>
                  <a:srgbClr val="1A1A1A"/>
                </a:solidFill>
                <a:latin typeface="Times New Roman"/>
              </a:rPr>
              <a:t>Under that accounting, </a:t>
            </a:r>
            <a:r>
              <a:rPr sz="2300" b="0" i="0">
                <a:solidFill>
                  <a:srgbClr val="1A1A1A"/>
                </a:solidFill>
                <a:latin typeface="Times New Roman"/>
              </a:rPr>
              <a:t>“keep everything and retrieve top-k” is charged nothing for holding all 419 turns of a conversation — so forgetting can only ever lose information.</a:t>
            </a:r>
          </a:p>
          <a:p>
            <a:pPr>
              <a:lnSpc>
                <a:spcPct val="105000"/>
              </a:lnSpc>
              <a:spcAft>
                <a:spcPts val="1000"/>
              </a:spcAft>
            </a:pPr>
            <a:r>
              <a:rPr sz="2300" b="0" i="0">
                <a:solidFill>
                  <a:srgbClr val="C1272D"/>
                </a:solidFill>
                <a:latin typeface="Times New Roman"/>
              </a:rPr>
              <a:t>•  </a:t>
            </a:r>
            <a:r>
              <a:rPr sz="2300" b="1" i="0">
                <a:solidFill>
                  <a:srgbClr val="1A1A1A"/>
                </a:solidFill>
                <a:latin typeface="Times New Roman"/>
              </a:rPr>
              <a:t>Our own ablation duly reported </a:t>
            </a:r>
            <a:r>
              <a:rPr sz="2300" b="0" i="0">
                <a:solidFill>
                  <a:srgbClr val="1A1A1A"/>
                </a:solidFill>
                <a:latin typeface="Times New Roman"/>
              </a:rPr>
              <a:t>the compression machinery as a net loss against keeping everything. It was right to.</a:t>
            </a:r>
          </a:p>
        </p:txBody>
      </p:sp>
      <p:pic>
        <p:nvPicPr>
          <p:cNvPr id="4" name="Picture 3" descr="fig1_storage_frontier.png"/>
          <p:cNvPicPr>
            <a:picLocks noChangeAspect="1"/>
          </p:cNvPicPr>
          <p:nvPr/>
        </p:nvPicPr>
        <p:blipFill>
          <a:blip r:embed="rId2"/>
          <a:stretch>
            <a:fillRect/>
          </a:stretch>
        </p:blipFill>
        <p:spPr>
          <a:xfrm>
            <a:off x="9692640" y="2606040"/>
            <a:ext cx="7772400" cy="3522718"/>
          </a:xfrm>
          <a:prstGeom prst="rect">
            <a:avLst/>
          </a:prstGeom>
        </p:spPr>
      </p:pic>
      <p:sp>
        <p:nvSpPr>
          <p:cNvPr id="5" name="TextBox 4"/>
          <p:cNvSpPr txBox="1"/>
          <p:nvPr/>
        </p:nvSpPr>
        <p:spPr>
          <a:xfrm>
            <a:off x="9692640" y="6400800"/>
            <a:ext cx="7772400" cy="384048"/>
          </a:xfrm>
          <a:prstGeom prst="rect">
            <a:avLst/>
          </a:prstGeom>
          <a:noFill/>
        </p:spPr>
        <p:txBody>
          <a:bodyPr wrap="square">
            <a:spAutoFit/>
          </a:bodyPr>
          <a:lstStyle/>
          <a:p>
            <a:pPr algn="l"/>
            <a:r>
              <a:rPr sz="1600" b="0" i="1">
                <a:solidFill>
                  <a:srgbClr val="5A5A5A"/>
                </a:solidFill>
                <a:latin typeface="Times New Roman"/>
              </a:rPr>
              <a:t>Fig. 1 — the storage-token frontier. Context pinned at 2048; the store swept.</a:t>
            </a:r>
          </a:p>
        </p:txBody>
      </p:sp>
      <p:sp>
        <p:nvSpPr>
          <p:cNvPr id="6" name="Rectangle 5"/>
          <p:cNvSpPr/>
          <p:nvPr/>
        </p:nvSpPr>
        <p:spPr>
          <a:xfrm>
            <a:off x="822960" y="7909560"/>
            <a:ext cx="64008" cy="1371600"/>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86968" y="7909560"/>
            <a:ext cx="16578072" cy="1371600"/>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 y="8001000"/>
            <a:ext cx="16002000" cy="1188720"/>
          </a:xfrm>
          <a:prstGeom prst="rect">
            <a:avLst/>
          </a:prstGeom>
          <a:noFill/>
        </p:spPr>
        <p:txBody>
          <a:bodyPr wrap="square" anchor="ctr">
            <a:spAutoFit/>
          </a:bodyPr>
          <a:lstStyle/>
          <a:p>
            <a:pPr>
              <a:lnSpc>
                <a:spcPct val="105000"/>
              </a:lnSpc>
            </a:pPr>
            <a:r>
              <a:rPr sz="2000" b="1" i="0">
                <a:solidFill>
                  <a:srgbClr val="C1272D"/>
                </a:solidFill>
                <a:latin typeface="Times New Roman"/>
              </a:rPr>
              <a:t>THE CORRECTION   </a:t>
            </a:r>
            <a:r>
              <a:rPr sz="2600" b="0" i="0">
                <a:solidFill>
                  <a:srgbClr val="1A1A1A"/>
                </a:solidFill>
                <a:latin typeface="Times New Roman"/>
              </a:rPr>
              <a:t>Imposing a storage budget S changes the question from </a:t>
            </a:r>
            <a:r>
              <a:rPr sz="2600" b="1" i="0">
                <a:solidFill>
                  <a:srgbClr val="1A1A1A"/>
                </a:solidFill>
                <a:latin typeface="Times New Roman"/>
              </a:rPr>
              <a:t>“what fits in context?”</a:t>
            </a:r>
            <a:r>
              <a:rPr sz="2600" b="0" i="0">
                <a:solidFill>
                  <a:srgbClr val="1A1A1A"/>
                </a:solidFill>
                <a:latin typeface="Times New Roman"/>
              </a:rPr>
              <a:t> to </a:t>
            </a:r>
            <a:r>
              <a:rPr sz="2600" b="1" i="0">
                <a:solidFill>
                  <a:srgbClr val="1A1A1A"/>
                </a:solidFill>
                <a:latin typeface="Times New Roman"/>
              </a:rPr>
              <a:t>“what is worth keeping at all?”</a:t>
            </a:r>
          </a:p>
        </p:txBody>
      </p:sp>
      <p:sp>
        <p:nvSpPr>
          <p:cNvPr id="9" name="TextBox 8"/>
          <p:cNvSpPr txBox="1"/>
          <p:nvPr/>
        </p:nvSpPr>
        <p:spPr>
          <a:xfrm>
            <a:off x="822960" y="9372600"/>
            <a:ext cx="16642080" cy="418338"/>
          </a:xfrm>
          <a:prstGeom prst="rect">
            <a:avLst/>
          </a:prstGeom>
          <a:noFill/>
        </p:spPr>
        <p:txBody>
          <a:bodyPr wrap="square">
            <a:spAutoFit/>
          </a:bodyPr>
          <a:lstStyle/>
          <a:p>
            <a:pPr algn="l"/>
            <a:r>
              <a:rPr sz="1800" b="0" i="1">
                <a:solidFill>
                  <a:srgbClr val="5A5A5A"/>
                </a:solidFill>
                <a:latin typeface="Times New Roman"/>
              </a:rPr>
              <a:t>Under the corrected accounting the ranking inverts: what looked like a loss for the decision policy was an artefact of never charging for the store.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4200" b="1" i="0">
                <a:solidFill>
                  <a:srgbClr val="111111"/>
                </a:solidFill>
                <a:latin typeface="Times New Roman"/>
              </a:rPr>
              <a:t>Selection pays; compression does not</a:t>
            </a:r>
          </a:p>
        </p:txBody>
      </p:sp>
      <p:sp>
        <p:nvSpPr>
          <p:cNvPr id="3" name="TextBox 2"/>
          <p:cNvSpPr txBox="1"/>
          <p:nvPr/>
        </p:nvSpPr>
        <p:spPr>
          <a:xfrm>
            <a:off x="2834640" y="1700784"/>
            <a:ext cx="12618720" cy="731520"/>
          </a:xfrm>
          <a:prstGeom prst="rect">
            <a:avLst/>
          </a:prstGeom>
          <a:noFill/>
        </p:spPr>
        <p:txBody>
          <a:bodyPr wrap="square" tIns="0" bIns="0">
            <a:spAutoFit/>
          </a:bodyPr>
          <a:lstStyle/>
          <a:p>
            <a:pPr algn="ctr"/>
            <a:r>
              <a:rPr sz="1800" b="0" i="1">
                <a:solidFill>
                  <a:srgbClr val="5A5A5A"/>
                </a:solidFill>
                <a:latin typeface="Times New Roman"/>
              </a:rPr>
              <a:t>Context budget fixed at 2048 tokens. Storage budget swept. Answer recall.</a:t>
            </a:r>
          </a:p>
        </p:txBody>
      </p:sp>
      <p:graphicFrame>
        <p:nvGraphicFramePr>
          <p:cNvPr id="4" name="Table 3"/>
          <p:cNvGraphicFramePr>
            <a:graphicFrameLocks noGrp="1"/>
          </p:cNvGraphicFramePr>
          <p:nvPr/>
        </p:nvGraphicFramePr>
        <p:xfrm>
          <a:off x="822960" y="2514600"/>
          <a:ext cx="16642078" cy="3291840"/>
        </p:xfrm>
        <a:graphic>
          <a:graphicData uri="http://schemas.openxmlformats.org/drawingml/2006/table">
            <a:tbl>
              <a:tblPr firstRow="1" bandRow="1">
                <a:tableStyleId>{5C22544A-7EE6-4342-B048-85BDC9FD1C3A}</a:tableStyleId>
              </a:tblPr>
              <a:tblGrid>
                <a:gridCol w="2547257"/>
                <a:gridCol w="3396342"/>
                <a:gridCol w="4415245"/>
                <a:gridCol w="3735977"/>
                <a:gridCol w="2547257"/>
              </a:tblGrid>
              <a:tr h="548640">
                <a:tc>
                  <a:txBody>
                    <a:bodyPr/>
                    <a:lstStyle/>
                    <a:p>
                      <a:r>
                        <a:rPr sz="2100" b="1" i="0">
                          <a:solidFill>
                            <a:srgbClr val="111111"/>
                          </a:solidFill>
                          <a:latin typeface="Times New Roman"/>
                        </a:rPr>
                        <a:t>S (tokens)</a:t>
                      </a:r>
                    </a:p>
                  </a:txBody>
                  <a:tcPr anchor="ctr" marL="128016" marR="91440" marT="27432" marB="27432"/>
                </a:tc>
                <a:tc>
                  <a:txBody>
                    <a:bodyPr/>
                    <a:lstStyle/>
                    <a:p>
                      <a:r>
                        <a:rPr sz="2100" b="1" i="0">
                          <a:solidFill>
                            <a:srgbClr val="111111"/>
                          </a:solidFill>
                          <a:latin typeface="Times New Roman"/>
                        </a:rPr>
                        <a:t>RAG store-all</a:t>
                      </a:r>
                    </a:p>
                  </a:txBody>
                  <a:tcPr anchor="ctr" marL="128016" marR="91440" marT="27432" marB="27432"/>
                </a:tc>
                <a:tc>
                  <a:txBody>
                    <a:bodyPr/>
                    <a:lstStyle/>
                    <a:p>
                      <a:r>
                        <a:rPr sz="2100" b="1" i="0">
                          <a:solidFill>
                            <a:srgbClr val="111111"/>
                          </a:solidFill>
                          <a:latin typeface="Times New Roman"/>
                        </a:rPr>
                        <a:t>P1-A adaptive (compress)</a:t>
                      </a:r>
                    </a:p>
                  </a:txBody>
                  <a:tcPr anchor="ctr" marL="128016" marR="91440" marT="27432" marB="27432"/>
                </a:tc>
                <a:tc>
                  <a:txBody>
                    <a:bodyPr/>
                    <a:lstStyle/>
                    <a:p>
                      <a:r>
                        <a:rPr sz="2100" b="1" i="0">
                          <a:solidFill>
                            <a:srgbClr val="111111"/>
                          </a:solidFill>
                          <a:latin typeface="Times New Roman"/>
                        </a:rPr>
                        <a:t>P1-S select (drop)</a:t>
                      </a:r>
                    </a:p>
                  </a:txBody>
                  <a:tcPr anchor="ctr" marL="128016" marR="91440" marT="27432" marB="27432"/>
                </a:tc>
                <a:tc>
                  <a:txBody>
                    <a:bodyPr/>
                    <a:lstStyle/>
                    <a:p>
                      <a:r>
                        <a:rPr sz="2100" b="1" i="0">
                          <a:solidFill>
                            <a:srgbClr val="111111"/>
                          </a:solidFill>
                          <a:latin typeface="Times New Roman"/>
                        </a:rPr>
                        <a:t>P1-S − RAG</a:t>
                      </a:r>
                    </a:p>
                  </a:txBody>
                  <a:tcPr anchor="ctr" marL="128016" marR="91440" marT="27432" marB="27432"/>
                </a:tc>
              </a:tr>
              <a:tr h="548640">
                <a:tc>
                  <a:txBody>
                    <a:bodyPr/>
                    <a:lstStyle/>
                    <a:p>
                      <a:r>
                        <a:rPr sz="2100" b="0" i="0">
                          <a:solidFill>
                            <a:srgbClr val="1A1A1A"/>
                          </a:solidFill>
                          <a:latin typeface="Times New Roman"/>
                        </a:rPr>
                        <a:t>1,024</a:t>
                      </a:r>
                    </a:p>
                  </a:txBody>
                  <a:tcPr anchor="ctr" marL="128016" marR="91440" marT="27432" marB="27432"/>
                </a:tc>
                <a:tc>
                  <a:txBody>
                    <a:bodyPr/>
                    <a:lstStyle/>
                    <a:p>
                      <a:pPr algn="r"/>
                      <a:r>
                        <a:rPr sz="2100" b="0" i="0">
                          <a:solidFill>
                            <a:srgbClr val="1A1A1A"/>
                          </a:solidFill>
                          <a:latin typeface="Times New Roman"/>
                        </a:rPr>
                        <a:t>9.1%</a:t>
                      </a:r>
                    </a:p>
                  </a:txBody>
                  <a:tcPr anchor="ctr" marL="128016" marR="91440" marT="27432" marB="27432"/>
                </a:tc>
                <a:tc>
                  <a:txBody>
                    <a:bodyPr/>
                    <a:lstStyle/>
                    <a:p>
                      <a:pPr algn="r"/>
                      <a:r>
                        <a:rPr sz="2100" b="0" i="0">
                          <a:solidFill>
                            <a:srgbClr val="1A1A1A"/>
                          </a:solidFill>
                          <a:latin typeface="Times New Roman"/>
                        </a:rPr>
                        <a:t>11.9%</a:t>
                      </a:r>
                    </a:p>
                  </a:txBody>
                  <a:tcPr anchor="ctr" marL="128016" marR="91440" marT="27432" marB="27432"/>
                </a:tc>
                <a:tc>
                  <a:txBody>
                    <a:bodyPr/>
                    <a:lstStyle/>
                    <a:p>
                      <a:r>
                        <a:rPr sz="2100" b="1" i="0">
                          <a:solidFill>
                            <a:srgbClr val="C1272D"/>
                          </a:solidFill>
                          <a:latin typeface="Times New Roman"/>
                        </a:rPr>
                        <a:t>15.8%</a:t>
                      </a:r>
                    </a:p>
                  </a:txBody>
                  <a:tcPr anchor="ctr" marL="128016" marR="91440" marT="27432" marB="27432"/>
                </a:tc>
                <a:tc>
                  <a:txBody>
                    <a:bodyPr/>
                    <a:lstStyle/>
                    <a:p>
                      <a:pPr algn="r"/>
                      <a:r>
                        <a:rPr sz="2100" b="0" i="0">
                          <a:solidFill>
                            <a:srgbClr val="1A1A1A"/>
                          </a:solidFill>
                          <a:latin typeface="Times New Roman"/>
                        </a:rPr>
                        <a:t>+6.7</a:t>
                      </a:r>
                    </a:p>
                  </a:txBody>
                  <a:tcPr anchor="ctr" marL="128016" marR="91440" marT="27432" marB="27432"/>
                </a:tc>
              </a:tr>
              <a:tr h="548640">
                <a:tc>
                  <a:txBody>
                    <a:bodyPr/>
                    <a:lstStyle/>
                    <a:p>
                      <a:r>
                        <a:rPr sz="2100" b="0" i="0">
                          <a:solidFill>
                            <a:srgbClr val="1A1A1A"/>
                          </a:solidFill>
                          <a:latin typeface="Times New Roman"/>
                        </a:rPr>
                        <a:t>2,048</a:t>
                      </a:r>
                    </a:p>
                  </a:txBody>
                  <a:tcPr anchor="ctr" marL="128016" marR="91440" marT="27432" marB="27432"/>
                </a:tc>
                <a:tc>
                  <a:txBody>
                    <a:bodyPr/>
                    <a:lstStyle/>
                    <a:p>
                      <a:pPr algn="r"/>
                      <a:r>
                        <a:rPr sz="2100" b="0" i="0">
                          <a:solidFill>
                            <a:srgbClr val="1A1A1A"/>
                          </a:solidFill>
                          <a:latin typeface="Times New Roman"/>
                        </a:rPr>
                        <a:t>18.3%</a:t>
                      </a:r>
                    </a:p>
                  </a:txBody>
                  <a:tcPr anchor="ctr" marL="128016" marR="91440" marT="27432" marB="27432"/>
                </a:tc>
                <a:tc>
                  <a:txBody>
                    <a:bodyPr/>
                    <a:lstStyle/>
                    <a:p>
                      <a:pPr algn="r"/>
                      <a:r>
                        <a:rPr sz="2100" b="0" i="0">
                          <a:solidFill>
                            <a:srgbClr val="1A1A1A"/>
                          </a:solidFill>
                          <a:latin typeface="Times New Roman"/>
                        </a:rPr>
                        <a:t>22.7%</a:t>
                      </a:r>
                    </a:p>
                  </a:txBody>
                  <a:tcPr anchor="ctr" marL="128016" marR="91440" marT="27432" marB="27432"/>
                </a:tc>
                <a:tc>
                  <a:txBody>
                    <a:bodyPr/>
                    <a:lstStyle/>
                    <a:p>
                      <a:r>
                        <a:rPr sz="2100" b="1" i="0">
                          <a:solidFill>
                            <a:srgbClr val="C1272D"/>
                          </a:solidFill>
                          <a:latin typeface="Times New Roman"/>
                        </a:rPr>
                        <a:t>27.8%</a:t>
                      </a:r>
                    </a:p>
                  </a:txBody>
                  <a:tcPr anchor="ctr" marL="128016" marR="91440" marT="27432" marB="27432"/>
                </a:tc>
                <a:tc>
                  <a:txBody>
                    <a:bodyPr/>
                    <a:lstStyle/>
                    <a:p>
                      <a:pPr algn="r"/>
                      <a:r>
                        <a:rPr sz="2100" b="0" i="0">
                          <a:solidFill>
                            <a:srgbClr val="1A1A1A"/>
                          </a:solidFill>
                          <a:latin typeface="Times New Roman"/>
                        </a:rPr>
                        <a:t>+9.5</a:t>
                      </a:r>
                    </a:p>
                  </a:txBody>
                  <a:tcPr anchor="ctr" marL="128016" marR="91440" marT="27432" marB="27432"/>
                </a:tc>
              </a:tr>
              <a:tr h="548640">
                <a:tc>
                  <a:txBody>
                    <a:bodyPr/>
                    <a:lstStyle/>
                    <a:p>
                      <a:r>
                        <a:rPr sz="2100" b="0" i="0">
                          <a:solidFill>
                            <a:srgbClr val="1A1A1A"/>
                          </a:solidFill>
                          <a:latin typeface="Times New Roman"/>
                        </a:rPr>
                        <a:t>4,096</a:t>
                      </a:r>
                    </a:p>
                  </a:txBody>
                  <a:tcPr anchor="ctr" marL="128016" marR="91440" marT="27432" marB="27432"/>
                </a:tc>
                <a:tc>
                  <a:txBody>
                    <a:bodyPr/>
                    <a:lstStyle/>
                    <a:p>
                      <a:pPr algn="r"/>
                      <a:r>
                        <a:rPr sz="2100" b="0" i="0">
                          <a:solidFill>
                            <a:srgbClr val="1A1A1A"/>
                          </a:solidFill>
                          <a:latin typeface="Times New Roman"/>
                        </a:rPr>
                        <a:t>28.1%</a:t>
                      </a:r>
                    </a:p>
                  </a:txBody>
                  <a:tcPr anchor="ctr" marL="128016" marR="91440" marT="27432" marB="27432"/>
                </a:tc>
                <a:tc>
                  <a:txBody>
                    <a:bodyPr/>
                    <a:lstStyle/>
                    <a:p>
                      <a:pPr algn="r"/>
                      <a:r>
                        <a:rPr sz="2100" b="0" i="0">
                          <a:solidFill>
                            <a:srgbClr val="1A1A1A"/>
                          </a:solidFill>
                          <a:latin typeface="Times New Roman"/>
                        </a:rPr>
                        <a:t>30.3%</a:t>
                      </a:r>
                    </a:p>
                  </a:txBody>
                  <a:tcPr anchor="ctr" marL="128016" marR="91440" marT="27432" marB="27432"/>
                </a:tc>
                <a:tc>
                  <a:txBody>
                    <a:bodyPr/>
                    <a:lstStyle/>
                    <a:p>
                      <a:r>
                        <a:rPr sz="2100" b="1" i="0">
                          <a:solidFill>
                            <a:srgbClr val="C1272D"/>
                          </a:solidFill>
                          <a:latin typeface="Times New Roman"/>
                        </a:rPr>
                        <a:t>37.5%</a:t>
                      </a:r>
                    </a:p>
                  </a:txBody>
                  <a:tcPr anchor="ctr" marL="128016" marR="91440" marT="27432" marB="27432"/>
                </a:tc>
                <a:tc>
                  <a:txBody>
                    <a:bodyPr/>
                    <a:lstStyle/>
                    <a:p>
                      <a:pPr algn="r"/>
                      <a:r>
                        <a:rPr sz="2100" b="0" i="0">
                          <a:solidFill>
                            <a:srgbClr val="1A1A1A"/>
                          </a:solidFill>
                          <a:latin typeface="Times New Roman"/>
                        </a:rPr>
                        <a:t>+9.4</a:t>
                      </a:r>
                    </a:p>
                  </a:txBody>
                  <a:tcPr anchor="ctr" marL="128016" marR="91440" marT="27432" marB="27432"/>
                </a:tc>
              </a:tr>
              <a:tr h="548640">
                <a:tc>
                  <a:txBody>
                    <a:bodyPr/>
                    <a:lstStyle/>
                    <a:p>
                      <a:r>
                        <a:rPr sz="2100" b="0" i="0">
                          <a:solidFill>
                            <a:srgbClr val="1A1A1A"/>
                          </a:solidFill>
                          <a:latin typeface="Times New Roman"/>
                        </a:rPr>
                        <a:t>8,192</a:t>
                      </a:r>
                    </a:p>
                  </a:txBody>
                  <a:tcPr anchor="ctr" marL="128016" marR="91440" marT="27432" marB="27432"/>
                </a:tc>
                <a:tc>
                  <a:txBody>
                    <a:bodyPr/>
                    <a:lstStyle/>
                    <a:p>
                      <a:pPr algn="r"/>
                      <a:r>
                        <a:rPr sz="2100" b="0" i="0">
                          <a:solidFill>
                            <a:srgbClr val="1A1A1A"/>
                          </a:solidFill>
                          <a:latin typeface="Times New Roman"/>
                        </a:rPr>
                        <a:t>44.3%</a:t>
                      </a:r>
                    </a:p>
                  </a:txBody>
                  <a:tcPr anchor="ctr" marL="128016" marR="91440" marT="27432" marB="27432"/>
                </a:tc>
                <a:tc>
                  <a:txBody>
                    <a:bodyPr/>
                    <a:lstStyle/>
                    <a:p>
                      <a:pPr algn="r"/>
                      <a:r>
                        <a:rPr sz="2100" b="0" i="0">
                          <a:solidFill>
                            <a:srgbClr val="1A1A1A"/>
                          </a:solidFill>
                          <a:latin typeface="Times New Roman"/>
                        </a:rPr>
                        <a:t>41.0%</a:t>
                      </a:r>
                    </a:p>
                  </a:txBody>
                  <a:tcPr anchor="ctr" marL="128016" marR="91440" marT="27432" marB="27432"/>
                </a:tc>
                <a:tc>
                  <a:txBody>
                    <a:bodyPr/>
                    <a:lstStyle/>
                    <a:p>
                      <a:r>
                        <a:rPr sz="2100" b="1" i="0">
                          <a:solidFill>
                            <a:srgbClr val="C1272D"/>
                          </a:solidFill>
                          <a:latin typeface="Times New Roman"/>
                        </a:rPr>
                        <a:t>57.8%</a:t>
                      </a:r>
                    </a:p>
                  </a:txBody>
                  <a:tcPr anchor="ctr" marL="128016" marR="91440" marT="27432" marB="27432"/>
                </a:tc>
                <a:tc>
                  <a:txBody>
                    <a:bodyPr/>
                    <a:lstStyle/>
                    <a:p>
                      <a:pPr algn="r"/>
                      <a:r>
                        <a:rPr sz="2100" b="0" i="0">
                          <a:solidFill>
                            <a:srgbClr val="1A1A1A"/>
                          </a:solidFill>
                          <a:latin typeface="Times New Roman"/>
                        </a:rPr>
                        <a:t>+13.4</a:t>
                      </a:r>
                    </a:p>
                  </a:txBody>
                  <a:tcPr anchor="ctr" marL="128016" marR="91440" marT="27432" marB="27432"/>
                </a:tc>
              </a:tr>
              <a:tr h="548640">
                <a:tc>
                  <a:txBody>
                    <a:bodyPr/>
                    <a:lstStyle/>
                    <a:p>
                      <a:r>
                        <a:rPr sz="2100" b="0" i="0">
                          <a:solidFill>
                            <a:srgbClr val="1A1A1A"/>
                          </a:solidFill>
                          <a:latin typeface="Times New Roman"/>
                        </a:rPr>
                        <a:t>16,384</a:t>
                      </a:r>
                    </a:p>
                  </a:txBody>
                  <a:tcPr anchor="ctr" marL="128016" marR="91440" marT="27432" marB="27432"/>
                </a:tc>
                <a:tc>
                  <a:txBody>
                    <a:bodyPr/>
                    <a:lstStyle/>
                    <a:p>
                      <a:pPr algn="r"/>
                      <a:r>
                        <a:rPr sz="2100" b="0" i="0">
                          <a:solidFill>
                            <a:srgbClr val="1A1A1A"/>
                          </a:solidFill>
                          <a:latin typeface="Times New Roman"/>
                        </a:rPr>
                        <a:t>66.4%</a:t>
                      </a:r>
                    </a:p>
                  </a:txBody>
                  <a:tcPr anchor="ctr" marL="128016" marR="91440" marT="27432" marB="27432"/>
                </a:tc>
                <a:tc>
                  <a:txBody>
                    <a:bodyPr/>
                    <a:lstStyle/>
                    <a:p>
                      <a:pPr algn="r"/>
                      <a:r>
                        <a:rPr sz="2100" b="0" i="0">
                          <a:solidFill>
                            <a:srgbClr val="1A1A1A"/>
                          </a:solidFill>
                          <a:latin typeface="Times New Roman"/>
                        </a:rPr>
                        <a:t>63.1%</a:t>
                      </a:r>
                    </a:p>
                  </a:txBody>
                  <a:tcPr anchor="ctr" marL="128016" marR="91440" marT="27432" marB="27432"/>
                </a:tc>
                <a:tc>
                  <a:txBody>
                    <a:bodyPr/>
                    <a:lstStyle/>
                    <a:p>
                      <a:r>
                        <a:rPr sz="2100" b="1" i="0">
                          <a:solidFill>
                            <a:srgbClr val="C1272D"/>
                          </a:solidFill>
                          <a:latin typeface="Times New Roman"/>
                        </a:rPr>
                        <a:t>71.3%</a:t>
                      </a:r>
                    </a:p>
                  </a:txBody>
                  <a:tcPr anchor="ctr" marL="128016" marR="91440" marT="27432" marB="27432"/>
                </a:tc>
                <a:tc>
                  <a:txBody>
                    <a:bodyPr/>
                    <a:lstStyle/>
                    <a:p>
                      <a:pPr algn="r"/>
                      <a:r>
                        <a:rPr sz="2100" b="0" i="0">
                          <a:solidFill>
                            <a:srgbClr val="1A1A1A"/>
                          </a:solidFill>
                          <a:latin typeface="Times New Roman"/>
                        </a:rPr>
                        <a:t>+4.9</a:t>
                      </a:r>
                    </a:p>
                  </a:txBody>
                  <a:tcPr anchor="ctr" marL="128016" marR="91440" marT="27432" marB="27432"/>
                </a:tc>
              </a:tr>
            </a:tbl>
          </a:graphicData>
        </a:graphic>
      </p:graphicFrame>
      <p:sp>
        <p:nvSpPr>
          <p:cNvPr id="5" name="TextBox 4"/>
          <p:cNvSpPr txBox="1"/>
          <p:nvPr/>
        </p:nvSpPr>
        <p:spPr>
          <a:xfrm>
            <a:off x="822960" y="6172200"/>
            <a:ext cx="16642080" cy="1368298"/>
          </a:xfrm>
          <a:prstGeom prst="rect">
            <a:avLst/>
          </a:prstGeom>
          <a:noFill/>
        </p:spPr>
        <p:txBody>
          <a:bodyPr wrap="square">
            <a:spAutoFit/>
          </a:bodyPr>
          <a:lstStyle/>
          <a:p>
            <a:pPr>
              <a:lnSpc>
                <a:spcPct val="105000"/>
              </a:lnSpc>
              <a:spcAft>
                <a:spcPts val="1000"/>
              </a:spcAft>
            </a:pPr>
            <a:r>
              <a:rPr sz="2300" b="0" i="0">
                <a:solidFill>
                  <a:srgbClr val="C1272D"/>
                </a:solidFill>
                <a:latin typeface="Times New Roman"/>
              </a:rPr>
              <a:t>•  </a:t>
            </a:r>
            <a:r>
              <a:rPr sz="2300" b="1" i="0">
                <a:solidFill>
                  <a:srgbClr val="1A1A1A"/>
                </a:solidFill>
                <a:latin typeface="Times New Roman"/>
              </a:rPr>
              <a:t>The two metrics disagree, and that is the result. </a:t>
            </a:r>
            <a:r>
              <a:rPr sz="2300" b="0" i="0">
                <a:solidFill>
                  <a:srgbClr val="1A1A1A"/>
                </a:solidFill>
                <a:latin typeface="Times New Roman"/>
              </a:rPr>
              <a:t>P1-A wins evidence recall (+15.0 at S = 8192) while losing answer recall (−3.4). A demoted gist keeps the evidence ids of a turn whose text it discarded. Reporting only evidence recall would have shown compression winning.</a:t>
            </a:r>
          </a:p>
        </p:txBody>
      </p:sp>
      <p:sp>
        <p:nvSpPr>
          <p:cNvPr id="6" name="Rectangle 5"/>
          <p:cNvSpPr/>
          <p:nvPr/>
        </p:nvSpPr>
        <p:spPr>
          <a:xfrm>
            <a:off x="822960" y="8321040"/>
            <a:ext cx="64008" cy="1371600"/>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86968" y="8321040"/>
            <a:ext cx="16578072" cy="1371600"/>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 y="8412480"/>
            <a:ext cx="16002000" cy="1188720"/>
          </a:xfrm>
          <a:prstGeom prst="rect">
            <a:avLst/>
          </a:prstGeom>
          <a:noFill/>
        </p:spPr>
        <p:txBody>
          <a:bodyPr wrap="square" anchor="ctr">
            <a:spAutoFit/>
          </a:bodyPr>
          <a:lstStyle/>
          <a:p>
            <a:pPr>
              <a:lnSpc>
                <a:spcPct val="105000"/>
              </a:lnSpc>
            </a:pPr>
            <a:r>
              <a:rPr sz="1700" b="1" i="0">
                <a:solidFill>
                  <a:srgbClr val="C1272D"/>
                </a:solidFill>
                <a:latin typeface="Times New Roman"/>
              </a:rPr>
              <a:t>THE CLEANEST COMPARISON IN THE PROJECT   </a:t>
            </a:r>
            <a:r>
              <a:rPr sz="2300" b="0" i="0">
                <a:solidFill>
                  <a:srgbClr val="1A1A1A"/>
                </a:solidFill>
                <a:latin typeface="Times New Roman"/>
              </a:rPr>
              <a:t>RAG and P1-S hold the same verbatim turns, in the same space, retrieved the same way, and differ in one respect only: which turns they forget when the cap binds. RAG forgets oldest-first; P1-S forgets lowest-utility-first.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4200" b="1" i="0">
                <a:solidFill>
                  <a:srgbClr val="111111"/>
                </a:solidFill>
                <a:latin typeface="Times New Roman"/>
              </a:rPr>
              <a:t>What survives clustering</a:t>
            </a:r>
          </a:p>
        </p:txBody>
      </p:sp>
      <p:sp>
        <p:nvSpPr>
          <p:cNvPr id="3" name="TextBox 2"/>
          <p:cNvSpPr txBox="1"/>
          <p:nvPr/>
        </p:nvSpPr>
        <p:spPr>
          <a:xfrm>
            <a:off x="2834640" y="1700784"/>
            <a:ext cx="12618720" cy="731520"/>
          </a:xfrm>
          <a:prstGeom prst="rect">
            <a:avLst/>
          </a:prstGeom>
          <a:noFill/>
        </p:spPr>
        <p:txBody>
          <a:bodyPr wrap="square" tIns="0" bIns="0">
            <a:spAutoFit/>
          </a:bodyPr>
          <a:lstStyle/>
          <a:p>
            <a:pPr algn="ctr"/>
            <a:r>
              <a:rPr sz="1800" b="0" i="1">
                <a:solidFill>
                  <a:srgbClr val="5A5A5A"/>
                </a:solidFill>
                <a:latin typeface="Times New Roman"/>
              </a:rPr>
              <a:t>Paired bootstrap, B = 10,000, resampled by conversation · exact McNemar · S = 4096</a:t>
            </a:r>
          </a:p>
        </p:txBody>
      </p:sp>
      <p:graphicFrame>
        <p:nvGraphicFramePr>
          <p:cNvPr id="4" name="Table 3"/>
          <p:cNvGraphicFramePr>
            <a:graphicFrameLocks noGrp="1"/>
          </p:cNvGraphicFramePr>
          <p:nvPr/>
        </p:nvGraphicFramePr>
        <p:xfrm>
          <a:off x="822960" y="2514600"/>
          <a:ext cx="16642078" cy="3931914"/>
        </p:xfrm>
        <a:graphic>
          <a:graphicData uri="http://schemas.openxmlformats.org/drawingml/2006/table">
            <a:tbl>
              <a:tblPr firstRow="1" bandRow="1">
                <a:tableStyleId>{5C22544A-7EE6-4342-B048-85BDC9FD1C3A}</a:tableStyleId>
              </a:tblPr>
              <a:tblGrid>
                <a:gridCol w="4538749"/>
                <a:gridCol w="2689629"/>
                <a:gridCol w="1849120"/>
                <a:gridCol w="3025832"/>
                <a:gridCol w="2017221"/>
                <a:gridCol w="2521527"/>
              </a:tblGrid>
              <a:tr h="561702">
                <a:tc>
                  <a:txBody>
                    <a:bodyPr/>
                    <a:lstStyle/>
                    <a:p>
                      <a:r>
                        <a:rPr sz="1900" b="1" i="0">
                          <a:solidFill>
                            <a:srgbClr val="111111"/>
                          </a:solidFill>
                          <a:latin typeface="Times New Roman"/>
                        </a:rPr>
                        <a:t>Comparison</a:t>
                      </a:r>
                    </a:p>
                  </a:txBody>
                  <a:tcPr anchor="ctr" marL="128016" marR="91440" marT="27432" marB="27432"/>
                </a:tc>
                <a:tc>
                  <a:txBody>
                    <a:bodyPr/>
                    <a:lstStyle/>
                    <a:p>
                      <a:r>
                        <a:rPr sz="1900" b="1" i="0">
                          <a:solidFill>
                            <a:srgbClr val="111111"/>
                          </a:solidFill>
                          <a:latin typeface="Times New Roman"/>
                        </a:rPr>
                        <a:t>Metric</a:t>
                      </a:r>
                    </a:p>
                  </a:txBody>
                  <a:tcPr anchor="ctr" marL="128016" marR="91440" marT="27432" marB="27432"/>
                </a:tc>
                <a:tc>
                  <a:txBody>
                    <a:bodyPr/>
                    <a:lstStyle/>
                    <a:p>
                      <a:r>
                        <a:rPr sz="1900" b="1" i="0">
                          <a:solidFill>
                            <a:srgbClr val="111111"/>
                          </a:solidFill>
                          <a:latin typeface="Times New Roman"/>
                        </a:rPr>
                        <a:t>Δ points</a:t>
                      </a:r>
                    </a:p>
                  </a:txBody>
                  <a:tcPr anchor="ctr" marL="128016" marR="91440" marT="27432" marB="27432"/>
                </a:tc>
                <a:tc>
                  <a:txBody>
                    <a:bodyPr/>
                    <a:lstStyle/>
                    <a:p>
                      <a:pPr algn="r"/>
                      <a:r>
                        <a:rPr sz="1900" b="1" i="0">
                          <a:solidFill>
                            <a:srgbClr val="111111"/>
                          </a:solidFill>
                          <a:latin typeface="Times New Roman"/>
                        </a:rPr>
                        <a:t>95% CI (clustered)</a:t>
                      </a:r>
                    </a:p>
                  </a:txBody>
                  <a:tcPr anchor="ctr" marL="128016" marR="91440" marT="27432" marB="27432"/>
                </a:tc>
                <a:tc>
                  <a:txBody>
                    <a:bodyPr/>
                    <a:lstStyle/>
                    <a:p>
                      <a:r>
                        <a:rPr sz="1900" b="1" i="0">
                          <a:solidFill>
                            <a:srgbClr val="111111"/>
                          </a:solidFill>
                          <a:latin typeface="Times New Roman"/>
                        </a:rPr>
                        <a:t>McNemar p</a:t>
                      </a:r>
                    </a:p>
                  </a:txBody>
                  <a:tcPr anchor="ctr" marL="128016" marR="91440" marT="27432" marB="27432"/>
                </a:tc>
                <a:tc>
                  <a:txBody>
                    <a:bodyPr/>
                    <a:lstStyle/>
                    <a:p>
                      <a:r>
                        <a:rPr sz="1900" b="1" i="0">
                          <a:solidFill>
                            <a:srgbClr val="111111"/>
                          </a:solidFill>
                          <a:latin typeface="Times New Roman"/>
                        </a:rPr>
                        <a:t>Verdict</a:t>
                      </a:r>
                    </a:p>
                  </a:txBody>
                  <a:tcPr anchor="ctr" marL="128016" marR="91440" marT="27432" marB="27432"/>
                </a:tc>
              </a:tr>
              <a:tr h="561702">
                <a:tc>
                  <a:txBody>
                    <a:bodyPr/>
                    <a:lstStyle/>
                    <a:p>
                      <a:r>
                        <a:rPr sz="1900" b="1" i="0">
                          <a:solidFill>
                            <a:srgbClr val="C1272D"/>
                          </a:solidFill>
                          <a:latin typeface="Times New Roman"/>
                        </a:rPr>
                        <a:t>P1-S select  vs  RAG store-all</a:t>
                      </a:r>
                    </a:p>
                  </a:txBody>
                  <a:tcPr anchor="ctr" marL="128016" marR="91440" marT="27432" marB="27432"/>
                </a:tc>
                <a:tc>
                  <a:txBody>
                    <a:bodyPr/>
                    <a:lstStyle/>
                    <a:p>
                      <a:r>
                        <a:rPr sz="1900" b="1" i="0">
                          <a:solidFill>
                            <a:srgbClr val="C1272D"/>
                          </a:solidFill>
                          <a:latin typeface="Times New Roman"/>
                        </a:rPr>
                        <a:t>answer recall</a:t>
                      </a:r>
                    </a:p>
                  </a:txBody>
                  <a:tcPr anchor="ctr" marL="128016" marR="91440" marT="27432" marB="27432"/>
                </a:tc>
                <a:tc>
                  <a:txBody>
                    <a:bodyPr/>
                    <a:lstStyle/>
                    <a:p>
                      <a:r>
                        <a:rPr sz="1900" b="1" i="0">
                          <a:solidFill>
                            <a:srgbClr val="C1272D"/>
                          </a:solidFill>
                          <a:latin typeface="Times New Roman"/>
                        </a:rPr>
                        <a:t>+9.37</a:t>
                      </a:r>
                    </a:p>
                  </a:txBody>
                  <a:tcPr anchor="ctr" marL="128016" marR="91440" marT="27432" marB="27432"/>
                </a:tc>
                <a:tc>
                  <a:txBody>
                    <a:bodyPr/>
                    <a:lstStyle/>
                    <a:p>
                      <a:r>
                        <a:rPr sz="1900" b="1" i="0">
                          <a:solidFill>
                            <a:srgbClr val="C1272D"/>
                          </a:solidFill>
                          <a:latin typeface="Times New Roman"/>
                        </a:rPr>
                        <a:t>[+5.45, +14.90]</a:t>
                      </a:r>
                    </a:p>
                  </a:txBody>
                  <a:tcPr anchor="ctr" marL="128016" marR="91440" marT="27432" marB="27432"/>
                </a:tc>
                <a:tc>
                  <a:txBody>
                    <a:bodyPr/>
                    <a:lstStyle/>
                    <a:p>
                      <a:r>
                        <a:rPr sz="1900" b="1" i="0">
                          <a:solidFill>
                            <a:srgbClr val="C1272D"/>
                          </a:solidFill>
                          <a:latin typeface="Times New Roman"/>
                        </a:rPr>
                        <a:t>2.8×10⁻5</a:t>
                      </a:r>
                    </a:p>
                  </a:txBody>
                  <a:tcPr anchor="ctr" marL="128016" marR="91440" marT="27432" marB="27432"/>
                </a:tc>
                <a:tc>
                  <a:txBody>
                    <a:bodyPr/>
                    <a:lstStyle/>
                    <a:p>
                      <a:r>
                        <a:rPr sz="1900" b="1" i="0">
                          <a:solidFill>
                            <a:srgbClr val="C1272D"/>
                          </a:solidFill>
                          <a:latin typeface="Times New Roman"/>
                        </a:rPr>
                        <a:t>significant</a:t>
                      </a:r>
                    </a:p>
                  </a:txBody>
                  <a:tcPr anchor="ctr" marL="128016" marR="91440" marT="27432" marB="27432"/>
                </a:tc>
              </a:tr>
              <a:tr h="561702">
                <a:tc>
                  <a:txBody>
                    <a:bodyPr/>
                    <a:lstStyle/>
                    <a:p>
                      <a:r>
                        <a:rPr sz="1900" b="0" i="0">
                          <a:solidFill>
                            <a:srgbClr val="1A1A1A"/>
                          </a:solidFill>
                          <a:latin typeface="Times New Roman"/>
                        </a:rPr>
                        <a:t>P1-S select  vs  RAG store-all</a:t>
                      </a:r>
                    </a:p>
                  </a:txBody>
                  <a:tcPr anchor="ctr" marL="128016" marR="91440" marT="27432" marB="27432"/>
                </a:tc>
                <a:tc>
                  <a:txBody>
                    <a:bodyPr/>
                    <a:lstStyle/>
                    <a:p>
                      <a:r>
                        <a:rPr sz="1900" b="0" i="0">
                          <a:solidFill>
                            <a:srgbClr val="1A1A1A"/>
                          </a:solidFill>
                          <a:latin typeface="Times New Roman"/>
                        </a:rPr>
                        <a:t>evidence recall</a:t>
                      </a:r>
                    </a:p>
                  </a:txBody>
                  <a:tcPr anchor="ctr" marL="128016" marR="91440" marT="27432" marB="27432"/>
                </a:tc>
                <a:tc>
                  <a:txBody>
                    <a:bodyPr/>
                    <a:lstStyle/>
                    <a:p>
                      <a:pPr algn="r"/>
                      <a:r>
                        <a:rPr sz="1900" b="0" i="0">
                          <a:solidFill>
                            <a:srgbClr val="1A1A1A"/>
                          </a:solidFill>
                          <a:latin typeface="Times New Roman"/>
                        </a:rPr>
                        <a:t>+2.42</a:t>
                      </a:r>
                    </a:p>
                  </a:txBody>
                  <a:tcPr anchor="ctr" marL="128016" marR="91440" marT="27432" marB="27432"/>
                </a:tc>
                <a:tc>
                  <a:txBody>
                    <a:bodyPr/>
                    <a:lstStyle/>
                    <a:p>
                      <a:r>
                        <a:rPr sz="1900" b="0" i="0">
                          <a:solidFill>
                            <a:srgbClr val="1A1A1A"/>
                          </a:solidFill>
                          <a:latin typeface="Times New Roman"/>
                        </a:rPr>
                        <a:t>[-1.48, +6.43]</a:t>
                      </a:r>
                    </a:p>
                  </a:txBody>
                  <a:tcPr anchor="ctr" marL="128016" marR="91440" marT="27432" marB="27432"/>
                </a:tc>
                <a:tc>
                  <a:txBody>
                    <a:bodyPr/>
                    <a:lstStyle/>
                    <a:p>
                      <a:pPr algn="r"/>
                      <a:r>
                        <a:rPr sz="1900" b="0" i="0">
                          <a:solidFill>
                            <a:srgbClr val="1A1A1A"/>
                          </a:solidFill>
                          <a:latin typeface="Times New Roman"/>
                        </a:rPr>
                        <a:t>0.08</a:t>
                      </a:r>
                    </a:p>
                  </a:txBody>
                  <a:tcPr anchor="ctr" marL="128016" marR="91440" marT="27432" marB="27432"/>
                </a:tc>
                <a:tc>
                  <a:txBody>
                    <a:bodyPr/>
                    <a:lstStyle/>
                    <a:p>
                      <a:r>
                        <a:rPr sz="1900" b="1" i="0">
                          <a:solidFill>
                            <a:srgbClr val="5A5A5A"/>
                          </a:solidFill>
                          <a:latin typeface="Times New Roman"/>
                        </a:rPr>
                        <a:t>not significant</a:t>
                      </a:r>
                    </a:p>
                  </a:txBody>
                  <a:tcPr anchor="ctr" marL="128016" marR="91440" marT="27432" marB="27432"/>
                </a:tc>
              </a:tr>
              <a:tr h="561702">
                <a:tc>
                  <a:txBody>
                    <a:bodyPr/>
                    <a:lstStyle/>
                    <a:p>
                      <a:r>
                        <a:rPr sz="1900" b="0" i="0">
                          <a:solidFill>
                            <a:srgbClr val="1A1A1A"/>
                          </a:solidFill>
                          <a:latin typeface="Times New Roman"/>
                        </a:rPr>
                        <a:t>P1-S select  vs  P1-A compress</a:t>
                      </a:r>
                    </a:p>
                  </a:txBody>
                  <a:tcPr anchor="ctr" marL="128016" marR="91440" marT="27432" marB="27432"/>
                </a:tc>
                <a:tc>
                  <a:txBody>
                    <a:bodyPr/>
                    <a:lstStyle/>
                    <a:p>
                      <a:r>
                        <a:rPr sz="1900" b="0" i="0">
                          <a:solidFill>
                            <a:srgbClr val="1A1A1A"/>
                          </a:solidFill>
                          <a:latin typeface="Times New Roman"/>
                        </a:rPr>
                        <a:t>answer recall</a:t>
                      </a:r>
                    </a:p>
                  </a:txBody>
                  <a:tcPr anchor="ctr" marL="128016" marR="91440" marT="27432" marB="27432"/>
                </a:tc>
                <a:tc>
                  <a:txBody>
                    <a:bodyPr/>
                    <a:lstStyle/>
                    <a:p>
                      <a:pPr algn="r"/>
                      <a:r>
                        <a:rPr sz="1900" b="0" i="0">
                          <a:solidFill>
                            <a:srgbClr val="1A1A1A"/>
                          </a:solidFill>
                          <a:latin typeface="Times New Roman"/>
                        </a:rPr>
                        <a:t>+7.13</a:t>
                      </a:r>
                    </a:p>
                  </a:txBody>
                  <a:tcPr anchor="ctr" marL="128016" marR="91440" marT="27432" marB="27432"/>
                </a:tc>
                <a:tc>
                  <a:txBody>
                    <a:bodyPr/>
                    <a:lstStyle/>
                    <a:p>
                      <a:r>
                        <a:rPr sz="1900" b="0" i="0">
                          <a:solidFill>
                            <a:srgbClr val="1A1A1A"/>
                          </a:solidFill>
                          <a:latin typeface="Times New Roman"/>
                        </a:rPr>
                        <a:t>[+4.32, +10.28]</a:t>
                      </a:r>
                    </a:p>
                  </a:txBody>
                  <a:tcPr anchor="ctr" marL="128016" marR="91440" marT="27432" marB="27432"/>
                </a:tc>
                <a:tc>
                  <a:txBody>
                    <a:bodyPr/>
                    <a:lstStyle/>
                    <a:p>
                      <a:pPr algn="r"/>
                      <a:r>
                        <a:rPr sz="1900" b="0" i="0">
                          <a:solidFill>
                            <a:srgbClr val="1A1A1A"/>
                          </a:solidFill>
                          <a:latin typeface="Times New Roman"/>
                        </a:rPr>
                        <a:t>2.1×10⁻5</a:t>
                      </a:r>
                    </a:p>
                  </a:txBody>
                  <a:tcPr anchor="ctr" marL="128016" marR="91440" marT="27432" marB="27432"/>
                </a:tc>
                <a:tc>
                  <a:txBody>
                    <a:bodyPr/>
                    <a:lstStyle/>
                    <a:p>
                      <a:r>
                        <a:rPr sz="1900" b="0" i="0">
                          <a:solidFill>
                            <a:srgbClr val="1A1A1A"/>
                          </a:solidFill>
                          <a:latin typeface="Times New Roman"/>
                        </a:rPr>
                        <a:t>significant</a:t>
                      </a:r>
                    </a:p>
                  </a:txBody>
                  <a:tcPr anchor="ctr" marL="128016" marR="91440" marT="27432" marB="27432"/>
                </a:tc>
              </a:tr>
              <a:tr h="561702">
                <a:tc>
                  <a:txBody>
                    <a:bodyPr/>
                    <a:lstStyle/>
                    <a:p>
                      <a:r>
                        <a:rPr sz="1900" b="0" i="0">
                          <a:solidFill>
                            <a:srgbClr val="1A1A1A"/>
                          </a:solidFill>
                          <a:latin typeface="Times New Roman"/>
                        </a:rPr>
                        <a:t>P1-S select  vs  P1-A compress</a:t>
                      </a:r>
                    </a:p>
                  </a:txBody>
                  <a:tcPr anchor="ctr" marL="128016" marR="91440" marT="27432" marB="27432"/>
                </a:tc>
                <a:tc>
                  <a:txBody>
                    <a:bodyPr/>
                    <a:lstStyle/>
                    <a:p>
                      <a:r>
                        <a:rPr sz="1900" b="0" i="0">
                          <a:solidFill>
                            <a:srgbClr val="1A1A1A"/>
                          </a:solidFill>
                          <a:latin typeface="Times New Roman"/>
                        </a:rPr>
                        <a:t>evidence recall</a:t>
                      </a:r>
                    </a:p>
                  </a:txBody>
                  <a:tcPr anchor="ctr" marL="128016" marR="91440" marT="27432" marB="27432"/>
                </a:tc>
                <a:tc>
                  <a:txBody>
                    <a:bodyPr/>
                    <a:lstStyle/>
                    <a:p>
                      <a:pPr algn="r"/>
                      <a:r>
                        <a:rPr sz="1900" b="0" i="0">
                          <a:solidFill>
                            <a:srgbClr val="1A1A1A"/>
                          </a:solidFill>
                          <a:latin typeface="Times New Roman"/>
                        </a:rPr>
                        <a:t>-11.53</a:t>
                      </a:r>
                    </a:p>
                  </a:txBody>
                  <a:tcPr anchor="ctr" marL="128016" marR="91440" marT="27432" marB="27432"/>
                </a:tc>
                <a:tc>
                  <a:txBody>
                    <a:bodyPr/>
                    <a:lstStyle/>
                    <a:p>
                      <a:r>
                        <a:rPr sz="1900" b="0" i="0">
                          <a:solidFill>
                            <a:srgbClr val="1A1A1A"/>
                          </a:solidFill>
                          <a:latin typeface="Times New Roman"/>
                        </a:rPr>
                        <a:t>[-14.73, -8.47]</a:t>
                      </a:r>
                    </a:p>
                  </a:txBody>
                  <a:tcPr anchor="ctr" marL="128016" marR="91440" marT="27432" marB="27432"/>
                </a:tc>
                <a:tc>
                  <a:txBody>
                    <a:bodyPr/>
                    <a:lstStyle/>
                    <a:p>
                      <a:pPr algn="r"/>
                      <a:r>
                        <a:rPr sz="1900" b="0" i="0">
                          <a:solidFill>
                            <a:srgbClr val="1A1A1A"/>
                          </a:solidFill>
                          <a:latin typeface="Times New Roman"/>
                        </a:rPr>
                        <a:t>1.8×10⁻23</a:t>
                      </a:r>
                    </a:p>
                  </a:txBody>
                  <a:tcPr anchor="ctr" marL="128016" marR="91440" marT="27432" marB="27432"/>
                </a:tc>
                <a:tc>
                  <a:txBody>
                    <a:bodyPr/>
                    <a:lstStyle/>
                    <a:p>
                      <a:r>
                        <a:rPr sz="1900" b="0" i="0">
                          <a:solidFill>
                            <a:srgbClr val="1A1A1A"/>
                          </a:solidFill>
                          <a:latin typeface="Times New Roman"/>
                        </a:rPr>
                        <a:t>significant</a:t>
                      </a:r>
                    </a:p>
                  </a:txBody>
                  <a:tcPr anchor="ctr" marL="128016" marR="91440" marT="27432" marB="27432"/>
                </a:tc>
              </a:tr>
              <a:tr h="561702">
                <a:tc>
                  <a:txBody>
                    <a:bodyPr/>
                    <a:lstStyle/>
                    <a:p>
                      <a:r>
                        <a:rPr sz="1900" b="0" i="0">
                          <a:solidFill>
                            <a:srgbClr val="1A1A1A"/>
                          </a:solidFill>
                          <a:latin typeface="Times New Roman"/>
                        </a:rPr>
                        <a:t>P1-S select  vs  P0 recency</a:t>
                      </a:r>
                    </a:p>
                  </a:txBody>
                  <a:tcPr anchor="ctr" marL="128016" marR="91440" marT="27432" marB="27432"/>
                </a:tc>
                <a:tc>
                  <a:txBody>
                    <a:bodyPr/>
                    <a:lstStyle/>
                    <a:p>
                      <a:r>
                        <a:rPr sz="1900" b="0" i="0">
                          <a:solidFill>
                            <a:srgbClr val="1A1A1A"/>
                          </a:solidFill>
                          <a:latin typeface="Times New Roman"/>
                        </a:rPr>
                        <a:t>answer recall</a:t>
                      </a:r>
                    </a:p>
                  </a:txBody>
                  <a:tcPr anchor="ctr" marL="128016" marR="91440" marT="27432" marB="27432"/>
                </a:tc>
                <a:tc>
                  <a:txBody>
                    <a:bodyPr/>
                    <a:lstStyle/>
                    <a:p>
                      <a:pPr algn="r"/>
                      <a:r>
                        <a:rPr sz="1900" b="0" i="0">
                          <a:solidFill>
                            <a:srgbClr val="1A1A1A"/>
                          </a:solidFill>
                          <a:latin typeface="Times New Roman"/>
                        </a:rPr>
                        <a:t>+19.16</a:t>
                      </a:r>
                    </a:p>
                  </a:txBody>
                  <a:tcPr anchor="ctr" marL="128016" marR="91440" marT="27432" marB="27432"/>
                </a:tc>
                <a:tc>
                  <a:txBody>
                    <a:bodyPr/>
                    <a:lstStyle/>
                    <a:p>
                      <a:r>
                        <a:rPr sz="1900" b="0" i="0">
                          <a:solidFill>
                            <a:srgbClr val="1A1A1A"/>
                          </a:solidFill>
                          <a:latin typeface="Times New Roman"/>
                        </a:rPr>
                        <a:t>[+15.42, +24.13]</a:t>
                      </a:r>
                    </a:p>
                  </a:txBody>
                  <a:tcPr anchor="ctr" marL="128016" marR="91440" marT="27432" marB="27432"/>
                </a:tc>
                <a:tc>
                  <a:txBody>
                    <a:bodyPr/>
                    <a:lstStyle/>
                    <a:p>
                      <a:pPr algn="r"/>
                      <a:r>
                        <a:rPr sz="1900" b="0" i="0">
                          <a:solidFill>
                            <a:srgbClr val="1A1A1A"/>
                          </a:solidFill>
                          <a:latin typeface="Times New Roman"/>
                        </a:rPr>
                        <a:t>8.2×10⁻19</a:t>
                      </a:r>
                    </a:p>
                  </a:txBody>
                  <a:tcPr anchor="ctr" marL="128016" marR="91440" marT="27432" marB="27432"/>
                </a:tc>
                <a:tc>
                  <a:txBody>
                    <a:bodyPr/>
                    <a:lstStyle/>
                    <a:p>
                      <a:r>
                        <a:rPr sz="1900" b="0" i="0">
                          <a:solidFill>
                            <a:srgbClr val="1A1A1A"/>
                          </a:solidFill>
                          <a:latin typeface="Times New Roman"/>
                        </a:rPr>
                        <a:t>significant</a:t>
                      </a:r>
                    </a:p>
                  </a:txBody>
                  <a:tcPr anchor="ctr" marL="128016" marR="91440" marT="27432" marB="27432"/>
                </a:tc>
              </a:tr>
              <a:tr h="561702">
                <a:tc>
                  <a:txBody>
                    <a:bodyPr/>
                    <a:lstStyle/>
                    <a:p>
                      <a:r>
                        <a:rPr sz="1900" b="0" i="0">
                          <a:solidFill>
                            <a:srgbClr val="1A1A1A"/>
                          </a:solidFill>
                          <a:latin typeface="Times New Roman"/>
                        </a:rPr>
                        <a:t>P1-S select  vs  P0 recency</a:t>
                      </a:r>
                    </a:p>
                  </a:txBody>
                  <a:tcPr anchor="ctr" marL="128016" marR="91440" marT="27432" marB="27432"/>
                </a:tc>
                <a:tc>
                  <a:txBody>
                    <a:bodyPr/>
                    <a:lstStyle/>
                    <a:p>
                      <a:r>
                        <a:rPr sz="1900" b="0" i="0">
                          <a:solidFill>
                            <a:srgbClr val="1A1A1A"/>
                          </a:solidFill>
                          <a:latin typeface="Times New Roman"/>
                        </a:rPr>
                        <a:t>evidence recall</a:t>
                      </a:r>
                    </a:p>
                  </a:txBody>
                  <a:tcPr anchor="ctr" marL="128016" marR="91440" marT="27432" marB="27432"/>
                </a:tc>
                <a:tc>
                  <a:txBody>
                    <a:bodyPr/>
                    <a:lstStyle/>
                    <a:p>
                      <a:pPr algn="r"/>
                      <a:r>
                        <a:rPr sz="1900" b="0" i="0">
                          <a:solidFill>
                            <a:srgbClr val="1A1A1A"/>
                          </a:solidFill>
                          <a:latin typeface="Times New Roman"/>
                        </a:rPr>
                        <a:t>+10.15</a:t>
                      </a:r>
                    </a:p>
                  </a:txBody>
                  <a:tcPr anchor="ctr" marL="128016" marR="91440" marT="27432" marB="27432"/>
                </a:tc>
                <a:tc>
                  <a:txBody>
                    <a:bodyPr/>
                    <a:lstStyle/>
                    <a:p>
                      <a:r>
                        <a:rPr sz="1900" b="0" i="0">
                          <a:solidFill>
                            <a:srgbClr val="1A1A1A"/>
                          </a:solidFill>
                          <a:latin typeface="Times New Roman"/>
                        </a:rPr>
                        <a:t>[+6.58, +13.84]</a:t>
                      </a:r>
                    </a:p>
                  </a:txBody>
                  <a:tcPr anchor="ctr" marL="128016" marR="91440" marT="27432" marB="27432"/>
                </a:tc>
                <a:tc>
                  <a:txBody>
                    <a:bodyPr/>
                    <a:lstStyle/>
                    <a:p>
                      <a:pPr algn="r"/>
                      <a:r>
                        <a:rPr sz="1900" b="0" i="0">
                          <a:solidFill>
                            <a:srgbClr val="1A1A1A"/>
                          </a:solidFill>
                          <a:latin typeface="Times New Roman"/>
                        </a:rPr>
                        <a:t>1.2×10⁻15</a:t>
                      </a:r>
                    </a:p>
                  </a:txBody>
                  <a:tcPr anchor="ctr" marL="128016" marR="91440" marT="27432" marB="27432"/>
                </a:tc>
                <a:tc>
                  <a:txBody>
                    <a:bodyPr/>
                    <a:lstStyle/>
                    <a:p>
                      <a:r>
                        <a:rPr sz="1900" b="0" i="0">
                          <a:solidFill>
                            <a:srgbClr val="1A1A1A"/>
                          </a:solidFill>
                          <a:latin typeface="Times New Roman"/>
                        </a:rPr>
                        <a:t>significant</a:t>
                      </a:r>
                    </a:p>
                  </a:txBody>
                  <a:tcPr anchor="ctr" marL="128016" marR="91440" marT="27432" marB="27432"/>
                </a:tc>
              </a:tr>
            </a:tbl>
          </a:graphicData>
        </a:graphic>
      </p:graphicFrame>
      <p:sp>
        <p:nvSpPr>
          <p:cNvPr id="5" name="Rectangle 4"/>
          <p:cNvSpPr/>
          <p:nvPr/>
        </p:nvSpPr>
        <p:spPr>
          <a:xfrm>
            <a:off x="822960" y="6858000"/>
            <a:ext cx="64008" cy="1234440"/>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86968" y="6858000"/>
            <a:ext cx="16578072" cy="1234440"/>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6949440"/>
            <a:ext cx="16002000" cy="1051560"/>
          </a:xfrm>
          <a:prstGeom prst="rect">
            <a:avLst/>
          </a:prstGeom>
          <a:noFill/>
        </p:spPr>
        <p:txBody>
          <a:bodyPr wrap="square" anchor="ctr">
            <a:spAutoFit/>
          </a:bodyPr>
          <a:lstStyle/>
          <a:p>
            <a:pPr>
              <a:lnSpc>
                <a:spcPct val="105000"/>
              </a:lnSpc>
            </a:pPr>
            <a:r>
              <a:rPr sz="1700" b="1" i="0">
                <a:solidFill>
                  <a:srgbClr val="C1272D"/>
                </a:solidFill>
                <a:latin typeface="Times New Roman"/>
              </a:rPr>
              <a:t>REPORTED AS IT STANDS   </a:t>
            </a:r>
            <a:r>
              <a:rPr sz="2300" b="1" i="0">
                <a:solidFill>
                  <a:srgbClr val="1A1A1A"/>
                </a:solidFill>
                <a:latin typeface="Times New Roman"/>
              </a:rPr>
              <a:t>We do not claim an evidence-recall improvement over RAG.</a:t>
            </a:r>
            <a:r>
              <a:rPr sz="2300" b="0" i="0">
                <a:solidFill>
                  <a:srgbClr val="1A1A1A"/>
                </a:solidFill>
                <a:latin typeface="Times New Roman"/>
              </a:rPr>
              <a:t/>
            </a:r>
            <a:r>
              <a:rPr sz="2300" b="1" i="0">
                <a:solidFill>
                  <a:srgbClr val="1A1A1A"/>
                </a:solidFill>
                <a:latin typeface="Times New Roman"/>
              </a:rPr>
              <a:t> +2.42 points does not survive clustering (p = 0.08). The answer-recall claim, +9.37 with the interval clear of zero, does.</a:t>
            </a:r>
          </a:p>
        </p:txBody>
      </p:sp>
      <p:sp>
        <p:nvSpPr>
          <p:cNvPr id="8" name="TextBox 7"/>
          <p:cNvSpPr txBox="1"/>
          <p:nvPr/>
        </p:nvSpPr>
        <p:spPr>
          <a:xfrm>
            <a:off x="822960" y="9628632"/>
            <a:ext cx="16642080" cy="457200"/>
          </a:xfrm>
          <a:prstGeom prst="rect">
            <a:avLst/>
          </a:prstGeom>
          <a:noFill/>
        </p:spPr>
        <p:txBody>
          <a:bodyPr wrap="square">
            <a:spAutoFit/>
          </a:bodyPr>
          <a:lstStyle/>
          <a:p>
            <a:r>
              <a:rPr sz="1400" b="0" i="0">
                <a:solidFill>
                  <a:srgbClr val="5A5A5A"/>
                </a:solidFill>
                <a:latin typeface="Times New Roman"/>
              </a:rPr>
              <a:t>A claim reported as not significant is a claim the panel does not have to find.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4200" b="1" i="0">
                <a:solidFill>
                  <a:srgbClr val="111111"/>
                </a:solidFill>
                <a:latin typeface="Times New Roman"/>
              </a:rPr>
              <a:t>The rate–distortion prediction fails</a:t>
            </a:r>
          </a:p>
        </p:txBody>
      </p:sp>
      <p:sp>
        <p:nvSpPr>
          <p:cNvPr id="3" name="TextBox 2"/>
          <p:cNvSpPr txBox="1"/>
          <p:nvPr/>
        </p:nvSpPr>
        <p:spPr>
          <a:xfrm>
            <a:off x="2834640" y="1700784"/>
            <a:ext cx="12618720" cy="731520"/>
          </a:xfrm>
          <a:prstGeom prst="rect">
            <a:avLst/>
          </a:prstGeom>
          <a:noFill/>
        </p:spPr>
        <p:txBody>
          <a:bodyPr wrap="square" tIns="0" bIns="0">
            <a:spAutoFit/>
          </a:bodyPr>
          <a:lstStyle/>
          <a:p>
            <a:pPr algn="ctr"/>
            <a:r>
              <a:rPr sz="1800" b="0" i="1">
                <a:solidFill>
                  <a:srgbClr val="5A5A5A"/>
                </a:solidFill>
                <a:latin typeface="Times New Roman"/>
              </a:rPr>
              <a:t>Theory says compression must eventually win. It does not, anywhere we can reach.</a:t>
            </a:r>
          </a:p>
        </p:txBody>
      </p:sp>
      <p:sp>
        <p:nvSpPr>
          <p:cNvPr id="4" name="TextBox 3"/>
          <p:cNvSpPr txBox="1"/>
          <p:nvPr/>
        </p:nvSpPr>
        <p:spPr>
          <a:xfrm>
            <a:off x="822960" y="2514600"/>
            <a:ext cx="16642080" cy="1863344"/>
          </a:xfrm>
          <a:prstGeom prst="rect">
            <a:avLst/>
          </a:prstGeom>
          <a:noFill/>
        </p:spPr>
        <p:txBody>
          <a:bodyPr wrap="square">
            <a:spAutoFit/>
          </a:bodyPr>
          <a:lstStyle/>
          <a:p>
            <a:pPr>
              <a:lnSpc>
                <a:spcPct val="105000"/>
              </a:lnSpc>
              <a:spcAft>
                <a:spcPts val="1000"/>
              </a:spcAft>
            </a:pPr>
            <a:r>
              <a:rPr sz="2300" b="0" i="0">
                <a:solidFill>
                  <a:srgbClr val="C1272D"/>
                </a:solidFill>
                <a:latin typeface="Times New Roman"/>
              </a:rPr>
              <a:t>•  </a:t>
            </a:r>
            <a:r>
              <a:rPr sz="2300" b="1" i="0">
                <a:solidFill>
                  <a:srgbClr val="1A1A1A"/>
                </a:solidFill>
                <a:latin typeface="Times New Roman"/>
              </a:rPr>
              <a:t>Sweeping S downward cannot test it. </a:t>
            </a:r>
            <a:r>
              <a:rPr sz="2300" b="0" i="0">
                <a:solidFill>
                  <a:srgbClr val="1A1A1A"/>
                </a:solidFill>
                <a:latin typeface="Times New Roman"/>
              </a:rPr>
              <a:t>By S = 256 every policy sits at ~0.2% evidence recall — below the floor where anything works.</a:t>
            </a:r>
          </a:p>
          <a:p>
            <a:pPr>
              <a:lnSpc>
                <a:spcPct val="105000"/>
              </a:lnSpc>
              <a:spcAft>
                <a:spcPts val="1000"/>
              </a:spcAft>
            </a:pPr>
            <a:r>
              <a:rPr sz="2300" b="0" i="0">
                <a:solidFill>
                  <a:srgbClr val="C1272D"/>
                </a:solidFill>
                <a:latin typeface="Times New Roman"/>
              </a:rPr>
              <a:t>•  </a:t>
            </a:r>
            <a:r>
              <a:rPr sz="2300" b="1" i="0">
                <a:solidFill>
                  <a:srgbClr val="1A1A1A"/>
                </a:solidFill>
                <a:latin typeface="Times New Roman"/>
              </a:rPr>
              <a:t>The missing axis is length. </a:t>
            </a:r>
            <a:r>
              <a:rPr sz="2300" b="0" i="0">
                <a:solidFill>
                  <a:srgbClr val="1A1A1A"/>
                </a:solidFill>
                <a:latin typeface="Times New Roman"/>
              </a:rPr>
              <a:t>We concatenate up to 10 LoCoMo conversations (186K tokens) and hold S fixed, so the compression ratio rises to 182×.</a:t>
            </a:r>
          </a:p>
        </p:txBody>
      </p:sp>
      <p:graphicFrame>
        <p:nvGraphicFramePr>
          <p:cNvPr id="5" name="Table 4"/>
          <p:cNvGraphicFramePr>
            <a:graphicFrameLocks noGrp="1"/>
          </p:cNvGraphicFramePr>
          <p:nvPr/>
        </p:nvGraphicFramePr>
        <p:xfrm>
          <a:off x="822960" y="4617720"/>
          <a:ext cx="10058398" cy="2651760"/>
        </p:xfrm>
        <a:graphic>
          <a:graphicData uri="http://schemas.openxmlformats.org/drawingml/2006/table">
            <a:tbl>
              <a:tblPr firstRow="1" bandRow="1">
                <a:tableStyleId>{5C22544A-7EE6-4342-B048-85BDC9FD1C3A}</a:tableStyleId>
              </a:tblPr>
              <a:tblGrid>
                <a:gridCol w="2754085"/>
                <a:gridCol w="2155371"/>
                <a:gridCol w="2754085"/>
                <a:gridCol w="2394857"/>
              </a:tblGrid>
              <a:tr h="530352">
                <a:tc>
                  <a:txBody>
                    <a:bodyPr/>
                    <a:lstStyle/>
                    <a:p>
                      <a:r>
                        <a:rPr sz="2000" b="1" i="0">
                          <a:solidFill>
                            <a:srgbClr val="111111"/>
                          </a:solidFill>
                          <a:latin typeface="Times New Roman"/>
                        </a:rPr>
                        <a:t>Compression ratio</a:t>
                      </a:r>
                    </a:p>
                  </a:txBody>
                  <a:tcPr anchor="ctr" marL="128016" marR="91440" marT="27432" marB="27432"/>
                </a:tc>
                <a:tc>
                  <a:txBody>
                    <a:bodyPr/>
                    <a:lstStyle/>
                    <a:p>
                      <a:r>
                        <a:rPr sz="2000" b="1" i="0">
                          <a:solidFill>
                            <a:srgbClr val="111111"/>
                          </a:solidFill>
                          <a:latin typeface="Times New Roman"/>
                        </a:rPr>
                        <a:t>RAG</a:t>
                      </a:r>
                    </a:p>
                  </a:txBody>
                  <a:tcPr anchor="ctr" marL="128016" marR="91440" marT="27432" marB="27432"/>
                </a:tc>
                <a:tc>
                  <a:txBody>
                    <a:bodyPr/>
                    <a:lstStyle/>
                    <a:p>
                      <a:r>
                        <a:rPr sz="2000" b="1" i="0">
                          <a:solidFill>
                            <a:srgbClr val="111111"/>
                          </a:solidFill>
                          <a:latin typeface="Times New Roman"/>
                        </a:rPr>
                        <a:t>P1-A (compress)</a:t>
                      </a:r>
                    </a:p>
                  </a:txBody>
                  <a:tcPr anchor="ctr" marL="128016" marR="91440" marT="27432" marB="27432"/>
                </a:tc>
                <a:tc>
                  <a:txBody>
                    <a:bodyPr/>
                    <a:lstStyle/>
                    <a:p>
                      <a:r>
                        <a:rPr sz="2000" b="1" i="0">
                          <a:solidFill>
                            <a:srgbClr val="111111"/>
                          </a:solidFill>
                          <a:latin typeface="Times New Roman"/>
                        </a:rPr>
                        <a:t>P1-S (drop)</a:t>
                      </a:r>
                    </a:p>
                  </a:txBody>
                  <a:tcPr anchor="ctr" marL="128016" marR="91440" marT="27432" marB="27432"/>
                </a:tc>
              </a:tr>
              <a:tr h="530352">
                <a:tc>
                  <a:txBody>
                    <a:bodyPr/>
                    <a:lstStyle/>
                    <a:p>
                      <a:r>
                        <a:rPr sz="2000" b="0" i="0">
                          <a:solidFill>
                            <a:srgbClr val="1A1A1A"/>
                          </a:solidFill>
                          <a:latin typeface="Times New Roman"/>
                        </a:rPr>
                        <a:t>9×</a:t>
                      </a:r>
                    </a:p>
                  </a:txBody>
                  <a:tcPr anchor="ctr" marL="128016" marR="91440" marT="27432" marB="27432"/>
                </a:tc>
                <a:tc>
                  <a:txBody>
                    <a:bodyPr/>
                    <a:lstStyle/>
                    <a:p>
                      <a:pPr algn="r"/>
                      <a:r>
                        <a:rPr sz="2000" b="0" i="0">
                          <a:solidFill>
                            <a:srgbClr val="1A1A1A"/>
                          </a:solidFill>
                          <a:latin typeface="Times New Roman"/>
                        </a:rPr>
                        <a:t>18.3%</a:t>
                      </a:r>
                    </a:p>
                  </a:txBody>
                  <a:tcPr anchor="ctr" marL="128016" marR="91440" marT="27432" marB="27432"/>
                </a:tc>
                <a:tc>
                  <a:txBody>
                    <a:bodyPr/>
                    <a:lstStyle/>
                    <a:p>
                      <a:pPr algn="r"/>
                      <a:r>
                        <a:rPr sz="2000" b="0" i="0">
                          <a:solidFill>
                            <a:srgbClr val="1A1A1A"/>
                          </a:solidFill>
                          <a:latin typeface="Times New Roman"/>
                        </a:rPr>
                        <a:t>22.7%</a:t>
                      </a:r>
                    </a:p>
                  </a:txBody>
                  <a:tcPr anchor="ctr" marL="128016" marR="91440" marT="27432" marB="27432"/>
                </a:tc>
                <a:tc>
                  <a:txBody>
                    <a:bodyPr/>
                    <a:lstStyle/>
                    <a:p>
                      <a:r>
                        <a:rPr sz="2000" b="1" i="0">
                          <a:solidFill>
                            <a:srgbClr val="C1272D"/>
                          </a:solidFill>
                          <a:latin typeface="Times New Roman"/>
                        </a:rPr>
                        <a:t>27.8%</a:t>
                      </a:r>
                    </a:p>
                  </a:txBody>
                  <a:tcPr anchor="ctr" marL="128016" marR="91440" marT="27432" marB="27432"/>
                </a:tc>
              </a:tr>
              <a:tr h="530352">
                <a:tc>
                  <a:txBody>
                    <a:bodyPr/>
                    <a:lstStyle/>
                    <a:p>
                      <a:r>
                        <a:rPr sz="2000" b="0" i="0">
                          <a:solidFill>
                            <a:srgbClr val="1A1A1A"/>
                          </a:solidFill>
                          <a:latin typeface="Times New Roman"/>
                        </a:rPr>
                        <a:t>18×</a:t>
                      </a:r>
                    </a:p>
                  </a:txBody>
                  <a:tcPr anchor="ctr" marL="128016" marR="91440" marT="27432" marB="27432"/>
                </a:tc>
                <a:tc>
                  <a:txBody>
                    <a:bodyPr/>
                    <a:lstStyle/>
                    <a:p>
                      <a:pPr algn="r"/>
                      <a:r>
                        <a:rPr sz="2000" b="0" i="0">
                          <a:solidFill>
                            <a:srgbClr val="1A1A1A"/>
                          </a:solidFill>
                          <a:latin typeface="Times New Roman"/>
                        </a:rPr>
                        <a:t>10.8%</a:t>
                      </a:r>
                    </a:p>
                  </a:txBody>
                  <a:tcPr anchor="ctr" marL="128016" marR="91440" marT="27432" marB="27432"/>
                </a:tc>
                <a:tc>
                  <a:txBody>
                    <a:bodyPr/>
                    <a:lstStyle/>
                    <a:p>
                      <a:pPr algn="r"/>
                      <a:r>
                        <a:rPr sz="2000" b="0" i="0">
                          <a:solidFill>
                            <a:srgbClr val="1A1A1A"/>
                          </a:solidFill>
                          <a:latin typeface="Times New Roman"/>
                        </a:rPr>
                        <a:t>13.0%</a:t>
                      </a:r>
                    </a:p>
                  </a:txBody>
                  <a:tcPr anchor="ctr" marL="128016" marR="91440" marT="27432" marB="27432"/>
                </a:tc>
                <a:tc>
                  <a:txBody>
                    <a:bodyPr/>
                    <a:lstStyle/>
                    <a:p>
                      <a:r>
                        <a:rPr sz="2000" b="1" i="0">
                          <a:solidFill>
                            <a:srgbClr val="C1272D"/>
                          </a:solidFill>
                          <a:latin typeface="Times New Roman"/>
                        </a:rPr>
                        <a:t>18.9%</a:t>
                      </a:r>
                    </a:p>
                  </a:txBody>
                  <a:tcPr anchor="ctr" marL="128016" marR="91440" marT="27432" marB="27432"/>
                </a:tc>
              </a:tr>
              <a:tr h="530352">
                <a:tc>
                  <a:txBody>
                    <a:bodyPr/>
                    <a:lstStyle/>
                    <a:p>
                      <a:r>
                        <a:rPr sz="2000" b="0" i="0">
                          <a:solidFill>
                            <a:srgbClr val="1A1A1A"/>
                          </a:solidFill>
                          <a:latin typeface="Times New Roman"/>
                        </a:rPr>
                        <a:t>45×</a:t>
                      </a:r>
                    </a:p>
                  </a:txBody>
                  <a:tcPr anchor="ctr" marL="128016" marR="91440" marT="27432" marB="27432"/>
                </a:tc>
                <a:tc>
                  <a:txBody>
                    <a:bodyPr/>
                    <a:lstStyle/>
                    <a:p>
                      <a:pPr algn="r"/>
                      <a:r>
                        <a:rPr sz="2000" b="0" i="0">
                          <a:solidFill>
                            <a:srgbClr val="1A1A1A"/>
                          </a:solidFill>
                          <a:latin typeface="Times New Roman"/>
                        </a:rPr>
                        <a:t>7.8%</a:t>
                      </a:r>
                    </a:p>
                  </a:txBody>
                  <a:tcPr anchor="ctr" marL="128016" marR="91440" marT="27432" marB="27432"/>
                </a:tc>
                <a:tc>
                  <a:txBody>
                    <a:bodyPr/>
                    <a:lstStyle/>
                    <a:p>
                      <a:pPr algn="r"/>
                      <a:r>
                        <a:rPr sz="2000" b="0" i="0">
                          <a:solidFill>
                            <a:srgbClr val="1A1A1A"/>
                          </a:solidFill>
                          <a:latin typeface="Times New Roman"/>
                        </a:rPr>
                        <a:t>10.3%</a:t>
                      </a:r>
                    </a:p>
                  </a:txBody>
                  <a:tcPr anchor="ctr" marL="128016" marR="91440" marT="27432" marB="27432"/>
                </a:tc>
                <a:tc>
                  <a:txBody>
                    <a:bodyPr/>
                    <a:lstStyle/>
                    <a:p>
                      <a:r>
                        <a:rPr sz="2000" b="1" i="0">
                          <a:solidFill>
                            <a:srgbClr val="C1272D"/>
                          </a:solidFill>
                          <a:latin typeface="Times New Roman"/>
                        </a:rPr>
                        <a:t>11.6%</a:t>
                      </a:r>
                    </a:p>
                  </a:txBody>
                  <a:tcPr anchor="ctr" marL="128016" marR="91440" marT="27432" marB="27432"/>
                </a:tc>
              </a:tr>
              <a:tr h="530352">
                <a:tc>
                  <a:txBody>
                    <a:bodyPr/>
                    <a:lstStyle/>
                    <a:p>
                      <a:r>
                        <a:rPr sz="2000" b="0" i="0">
                          <a:solidFill>
                            <a:srgbClr val="1A1A1A"/>
                          </a:solidFill>
                          <a:latin typeface="Times New Roman"/>
                        </a:rPr>
                        <a:t>91×</a:t>
                      </a:r>
                    </a:p>
                  </a:txBody>
                  <a:tcPr anchor="ctr" marL="128016" marR="91440" marT="27432" marB="27432"/>
                </a:tc>
                <a:tc>
                  <a:txBody>
                    <a:bodyPr/>
                    <a:lstStyle/>
                    <a:p>
                      <a:pPr algn="r"/>
                      <a:r>
                        <a:rPr sz="2000" b="0" i="0">
                          <a:solidFill>
                            <a:srgbClr val="1A1A1A"/>
                          </a:solidFill>
                          <a:latin typeface="Times New Roman"/>
                        </a:rPr>
                        <a:t>4.6%</a:t>
                      </a:r>
                    </a:p>
                  </a:txBody>
                  <a:tcPr anchor="ctr" marL="128016" marR="91440" marT="27432" marB="27432"/>
                </a:tc>
                <a:tc>
                  <a:txBody>
                    <a:bodyPr/>
                    <a:lstStyle/>
                    <a:p>
                      <a:pPr algn="r"/>
                      <a:r>
                        <a:rPr sz="2000" b="0" i="0">
                          <a:solidFill>
                            <a:srgbClr val="1A1A1A"/>
                          </a:solidFill>
                          <a:latin typeface="Times New Roman"/>
                        </a:rPr>
                        <a:t>7.4%</a:t>
                      </a:r>
                    </a:p>
                  </a:txBody>
                  <a:tcPr anchor="ctr" marL="128016" marR="91440" marT="27432" marB="27432"/>
                </a:tc>
                <a:tc>
                  <a:txBody>
                    <a:bodyPr/>
                    <a:lstStyle/>
                    <a:p>
                      <a:r>
                        <a:rPr sz="2000" b="1" i="0">
                          <a:solidFill>
                            <a:srgbClr val="C1272D"/>
                          </a:solidFill>
                          <a:latin typeface="Times New Roman"/>
                        </a:rPr>
                        <a:t>8.7%</a:t>
                      </a:r>
                    </a:p>
                  </a:txBody>
                  <a:tcPr anchor="ctr" marL="128016" marR="91440" marT="27432" marB="27432"/>
                </a:tc>
              </a:tr>
            </a:tbl>
          </a:graphicData>
        </a:graphic>
      </p:graphicFrame>
      <p:pic>
        <p:nvPicPr>
          <p:cNvPr id="6" name="Picture 5" descr="fig2_scaling.png"/>
          <p:cNvPicPr>
            <a:picLocks noChangeAspect="1"/>
          </p:cNvPicPr>
          <p:nvPr/>
        </p:nvPicPr>
        <p:blipFill>
          <a:blip r:embed="rId2"/>
          <a:stretch>
            <a:fillRect/>
          </a:stretch>
        </p:blipFill>
        <p:spPr>
          <a:xfrm>
            <a:off x="11521440" y="4617720"/>
            <a:ext cx="4129548" cy="3200400"/>
          </a:xfrm>
          <a:prstGeom prst="rect">
            <a:avLst/>
          </a:prstGeom>
        </p:spPr>
      </p:pic>
      <p:sp>
        <p:nvSpPr>
          <p:cNvPr id="7" name="Rectangle 6"/>
          <p:cNvSpPr/>
          <p:nvPr/>
        </p:nvSpPr>
        <p:spPr>
          <a:xfrm>
            <a:off x="822960" y="8138160"/>
            <a:ext cx="64008" cy="1051560"/>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86968" y="8138160"/>
            <a:ext cx="16578072" cy="1051560"/>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8229600"/>
            <a:ext cx="16002000" cy="868680"/>
          </a:xfrm>
          <a:prstGeom prst="rect">
            <a:avLst/>
          </a:prstGeom>
          <a:noFill/>
        </p:spPr>
        <p:txBody>
          <a:bodyPr wrap="square" anchor="ctr">
            <a:spAutoFit/>
          </a:bodyPr>
          <a:lstStyle/>
          <a:p>
            <a:pPr>
              <a:lnSpc>
                <a:spcPct val="105000"/>
              </a:lnSpc>
            </a:pPr>
            <a:r>
              <a:rPr sz="1700" b="1" i="0">
                <a:solidFill>
                  <a:srgbClr val="C1272D"/>
                </a:solidFill>
                <a:latin typeface="Times New Roman"/>
              </a:rPr>
              <a:t>RESULT   </a:t>
            </a:r>
            <a:r>
              <a:rPr sz="2300" b="0" i="0">
                <a:solidFill>
                  <a:srgbClr val="1A1A1A"/>
                </a:solidFill>
                <a:latin typeface="Times New Roman"/>
              </a:rPr>
              <a:t>No crossover to 182×: selection stays ahead of both RAG and compression at every ratio. At LoCoMo scale the optimum sits at the vertex: a subset at full fidelity beats everything at reduced fidelity.</a:t>
            </a:r>
          </a:p>
        </p:txBody>
      </p:sp>
      <p:sp>
        <p:nvSpPr>
          <p:cNvPr id="10" name="TextBox 9"/>
          <p:cNvSpPr txBox="1"/>
          <p:nvPr/>
        </p:nvSpPr>
        <p:spPr>
          <a:xfrm>
            <a:off x="822960" y="9326880"/>
            <a:ext cx="16642080" cy="658368"/>
          </a:xfrm>
          <a:prstGeom prst="rect">
            <a:avLst/>
          </a:prstGeom>
          <a:noFill/>
        </p:spPr>
        <p:txBody>
          <a:bodyPr wrap="square">
            <a:spAutoFit/>
          </a:bodyPr>
          <a:lstStyle/>
          <a:p>
            <a:pPr algn="l"/>
            <a:r>
              <a:rPr sz="1600" b="0" i="1">
                <a:solidFill>
                  <a:srgbClr val="5A5A5A"/>
                </a:solidFill>
                <a:latin typeface="Times New Roman"/>
              </a:rPr>
              <a:t>Caveat: a concatenated stream is not a natural long conversation — each question concerns one constituent conversation, so the others act as distractors. It is a stress test of retention under pressure, not a long-dialogue benchmark.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4200" b="1" i="0">
                <a:solidFill>
                  <a:srgbClr val="111111"/>
                </a:solidFill>
                <a:latin typeface="Times New Roman"/>
              </a:rPr>
              <a:t>The index is not free</a:t>
            </a:r>
          </a:p>
        </p:txBody>
      </p:sp>
      <p:sp>
        <p:nvSpPr>
          <p:cNvPr id="3" name="TextBox 2"/>
          <p:cNvSpPr txBox="1"/>
          <p:nvPr/>
        </p:nvSpPr>
        <p:spPr>
          <a:xfrm>
            <a:off x="2834640" y="1700784"/>
            <a:ext cx="12618720" cy="731520"/>
          </a:xfrm>
          <a:prstGeom prst="rect">
            <a:avLst/>
          </a:prstGeom>
          <a:noFill/>
        </p:spPr>
        <p:txBody>
          <a:bodyPr wrap="square" tIns="0" bIns="0">
            <a:spAutoFit/>
          </a:bodyPr>
          <a:lstStyle/>
          <a:p>
            <a:pPr algn="ctr"/>
            <a:r>
              <a:rPr sz="1800" b="0" i="1">
                <a:solidFill>
                  <a:srgbClr val="5A5A5A"/>
                </a:solidFill>
                <a:latin typeface="Times New Roman"/>
              </a:rPr>
              <a:t>Storage denominated in text tokens silently gives the embedding index away.</a:t>
            </a:r>
          </a:p>
        </p:txBody>
      </p:sp>
      <p:sp>
        <p:nvSpPr>
          <p:cNvPr id="4" name="TextBox 3"/>
          <p:cNvSpPr txBox="1"/>
          <p:nvPr/>
        </p:nvSpPr>
        <p:spPr>
          <a:xfrm>
            <a:off x="822960" y="2514600"/>
            <a:ext cx="16642080" cy="1000252"/>
          </a:xfrm>
          <a:prstGeom prst="rect">
            <a:avLst/>
          </a:prstGeom>
          <a:noFill/>
        </p:spPr>
        <p:txBody>
          <a:bodyPr wrap="square">
            <a:spAutoFit/>
          </a:bodyPr>
          <a:lstStyle/>
          <a:p>
            <a:pPr>
              <a:lnSpc>
                <a:spcPct val="105000"/>
              </a:lnSpc>
              <a:spcAft>
                <a:spcPts val="1000"/>
              </a:spcAft>
            </a:pPr>
            <a:r>
              <a:rPr sz="2300" b="0" i="0">
                <a:solidFill>
                  <a:srgbClr val="C1272D"/>
                </a:solidFill>
                <a:latin typeface="Times New Roman"/>
              </a:rPr>
              <a:t>•  </a:t>
            </a:r>
            <a:r>
              <a:rPr sz="2300" b="1" i="0">
                <a:solidFill>
                  <a:srgbClr val="1A1A1A"/>
                </a:solidFill>
                <a:latin typeface="Times New Roman"/>
              </a:rPr>
              <a:t>A 384-d float32 vector is 1,536 bytes </a:t>
            </a:r>
            <a:r>
              <a:rPr sz="2300" b="0" i="0">
                <a:solidFill>
                  <a:srgbClr val="1A1A1A"/>
                </a:solidFill>
                <a:latin typeface="Times New Roman"/>
              </a:rPr>
              <a:t>against a turn’s ~130 bytes of text. The index outweighs the content ~12×, and the binding cost becomes the number of items, not their length.</a:t>
            </a:r>
          </a:p>
        </p:txBody>
      </p:sp>
      <p:graphicFrame>
        <p:nvGraphicFramePr>
          <p:cNvPr id="5" name="Table 4"/>
          <p:cNvGraphicFramePr>
            <a:graphicFrameLocks noGrp="1"/>
          </p:cNvGraphicFramePr>
          <p:nvPr/>
        </p:nvGraphicFramePr>
        <p:xfrm>
          <a:off x="822960" y="3794760"/>
          <a:ext cx="9875518" cy="2103120"/>
        </p:xfrm>
        <a:graphic>
          <a:graphicData uri="http://schemas.openxmlformats.org/drawingml/2006/table">
            <a:tbl>
              <a:tblPr firstRow="1" bandRow="1">
                <a:tableStyleId>{5C22544A-7EE6-4342-B048-85BDC9FD1C3A}</a:tableStyleId>
              </a:tblPr>
              <a:tblGrid>
                <a:gridCol w="2135247"/>
                <a:gridCol w="3069418"/>
                <a:gridCol w="2402153"/>
                <a:gridCol w="2268700"/>
              </a:tblGrid>
              <a:tr h="525780">
                <a:tc>
                  <a:txBody>
                    <a:bodyPr/>
                    <a:lstStyle/>
                    <a:p>
                      <a:r>
                        <a:rPr sz="2100" b="1" i="0">
                          <a:solidFill>
                            <a:srgbClr val="111111"/>
                          </a:solidFill>
                          <a:latin typeface="Times New Roman"/>
                        </a:rPr>
                        <a:t>Budget</a:t>
                      </a:r>
                    </a:p>
                  </a:txBody>
                  <a:tcPr anchor="ctr" marL="128016" marR="91440" marT="27432" marB="27432"/>
                </a:tc>
                <a:tc>
                  <a:txBody>
                    <a:bodyPr/>
                    <a:lstStyle/>
                    <a:p>
                      <a:r>
                        <a:rPr sz="2100" b="1" i="0">
                          <a:solidFill>
                            <a:srgbClr val="111111"/>
                          </a:solidFill>
                          <a:latin typeface="Times New Roman"/>
                        </a:rPr>
                        <a:t>P0 (keeps no index)</a:t>
                      </a:r>
                    </a:p>
                  </a:txBody>
                  <a:tcPr anchor="ctr" marL="128016" marR="91440" marT="27432" marB="27432"/>
                </a:tc>
                <a:tc>
                  <a:txBody>
                    <a:bodyPr/>
                    <a:lstStyle/>
                    <a:p>
                      <a:r>
                        <a:rPr sz="2100" b="1" i="0">
                          <a:solidFill>
                            <a:srgbClr val="111111"/>
                          </a:solidFill>
                          <a:latin typeface="Times New Roman"/>
                        </a:rPr>
                        <a:t>RAG store-all</a:t>
                      </a:r>
                    </a:p>
                  </a:txBody>
                  <a:tcPr anchor="ctr" marL="128016" marR="91440" marT="27432" marB="27432"/>
                </a:tc>
                <a:tc>
                  <a:txBody>
                    <a:bodyPr/>
                    <a:lstStyle/>
                    <a:p>
                      <a:r>
                        <a:rPr sz="2100" b="1" i="0">
                          <a:solidFill>
                            <a:srgbClr val="111111"/>
                          </a:solidFill>
                          <a:latin typeface="Times New Roman"/>
                        </a:rPr>
                        <a:t>P1-S select</a:t>
                      </a:r>
                    </a:p>
                  </a:txBody>
                  <a:tcPr anchor="ctr" marL="128016" marR="91440" marT="27432" marB="27432"/>
                </a:tc>
              </a:tr>
              <a:tr h="525780">
                <a:tc>
                  <a:txBody>
                    <a:bodyPr/>
                    <a:lstStyle/>
                    <a:p>
                      <a:r>
                        <a:rPr sz="2100" b="0" i="0">
                          <a:solidFill>
                            <a:srgbClr val="1A1A1A"/>
                          </a:solidFill>
                          <a:latin typeface="Times New Roman"/>
                        </a:rPr>
                        <a:t>32 KiB</a:t>
                      </a:r>
                    </a:p>
                  </a:txBody>
                  <a:tcPr anchor="ctr" marL="128016" marR="91440" marT="27432" marB="27432"/>
                </a:tc>
                <a:tc>
                  <a:txBody>
                    <a:bodyPr/>
                    <a:lstStyle/>
                    <a:p>
                      <a:r>
                        <a:rPr sz="2100" b="1" i="0">
                          <a:solidFill>
                            <a:srgbClr val="C1272D"/>
                          </a:solidFill>
                          <a:latin typeface="Times New Roman"/>
                        </a:rPr>
                        <a:t>18.3%</a:t>
                      </a:r>
                    </a:p>
                  </a:txBody>
                  <a:tcPr anchor="ctr" marL="128016" marR="91440" marT="27432" marB="27432"/>
                </a:tc>
                <a:tc>
                  <a:txBody>
                    <a:bodyPr/>
                    <a:lstStyle/>
                    <a:p>
                      <a:pPr algn="r"/>
                      <a:r>
                        <a:rPr sz="2100" b="0" i="0">
                          <a:solidFill>
                            <a:srgbClr val="1A1A1A"/>
                          </a:solidFill>
                          <a:latin typeface="Times New Roman"/>
                        </a:rPr>
                        <a:t>5.0%</a:t>
                      </a:r>
                    </a:p>
                  </a:txBody>
                  <a:tcPr anchor="ctr" marL="128016" marR="91440" marT="27432" marB="27432"/>
                </a:tc>
                <a:tc>
                  <a:txBody>
                    <a:bodyPr/>
                    <a:lstStyle/>
                    <a:p>
                      <a:pPr algn="r"/>
                      <a:r>
                        <a:rPr sz="2100" b="0" i="0">
                          <a:solidFill>
                            <a:srgbClr val="1A1A1A"/>
                          </a:solidFill>
                          <a:latin typeface="Times New Roman"/>
                        </a:rPr>
                        <a:t>15.1%</a:t>
                      </a:r>
                    </a:p>
                  </a:txBody>
                  <a:tcPr anchor="ctr" marL="128016" marR="91440" marT="27432" marB="27432"/>
                </a:tc>
              </a:tr>
              <a:tr h="525780">
                <a:tc>
                  <a:txBody>
                    <a:bodyPr/>
                    <a:lstStyle/>
                    <a:p>
                      <a:r>
                        <a:rPr sz="2100" b="0" i="0">
                          <a:solidFill>
                            <a:srgbClr val="1A1A1A"/>
                          </a:solidFill>
                          <a:latin typeface="Times New Roman"/>
                        </a:rPr>
                        <a:t>64 KiB</a:t>
                      </a:r>
                    </a:p>
                  </a:txBody>
                  <a:tcPr anchor="ctr" marL="128016" marR="91440" marT="27432" marB="27432"/>
                </a:tc>
                <a:tc>
                  <a:txBody>
                    <a:bodyPr/>
                    <a:lstStyle/>
                    <a:p>
                      <a:pPr algn="r"/>
                      <a:r>
                        <a:rPr sz="2100" b="0" i="0">
                          <a:solidFill>
                            <a:srgbClr val="1A1A1A"/>
                          </a:solidFill>
                          <a:latin typeface="Times New Roman"/>
                        </a:rPr>
                        <a:t>18.3%</a:t>
                      </a:r>
                    </a:p>
                  </a:txBody>
                  <a:tcPr anchor="ctr" marL="128016" marR="91440" marT="27432" marB="27432"/>
                </a:tc>
                <a:tc>
                  <a:txBody>
                    <a:bodyPr/>
                    <a:lstStyle/>
                    <a:p>
                      <a:pPr algn="r"/>
                      <a:r>
                        <a:rPr sz="2100" b="0" i="0">
                          <a:solidFill>
                            <a:srgbClr val="1A1A1A"/>
                          </a:solidFill>
                          <a:latin typeface="Times New Roman"/>
                        </a:rPr>
                        <a:t>11.0%</a:t>
                      </a:r>
                    </a:p>
                  </a:txBody>
                  <a:tcPr anchor="ctr" marL="128016" marR="91440" marT="27432" marB="27432"/>
                </a:tc>
                <a:tc>
                  <a:txBody>
                    <a:bodyPr/>
                    <a:lstStyle/>
                    <a:p>
                      <a:r>
                        <a:rPr sz="2100" b="1" i="0">
                          <a:solidFill>
                            <a:srgbClr val="C1272D"/>
                          </a:solidFill>
                          <a:latin typeface="Times New Roman"/>
                        </a:rPr>
                        <a:t>24.9%</a:t>
                      </a:r>
                    </a:p>
                  </a:txBody>
                  <a:tcPr anchor="ctr" marL="128016" marR="91440" marT="27432" marB="27432"/>
                </a:tc>
              </a:tr>
              <a:tr h="525780">
                <a:tc>
                  <a:txBody>
                    <a:bodyPr/>
                    <a:lstStyle/>
                    <a:p>
                      <a:r>
                        <a:rPr sz="2100" b="0" i="0">
                          <a:solidFill>
                            <a:srgbClr val="1A1A1A"/>
                          </a:solidFill>
                          <a:latin typeface="Times New Roman"/>
                        </a:rPr>
                        <a:t>256 KiB</a:t>
                      </a:r>
                    </a:p>
                  </a:txBody>
                  <a:tcPr anchor="ctr" marL="128016" marR="91440" marT="27432" marB="27432"/>
                </a:tc>
                <a:tc>
                  <a:txBody>
                    <a:bodyPr/>
                    <a:lstStyle/>
                    <a:p>
                      <a:pPr algn="r"/>
                      <a:r>
                        <a:rPr sz="2100" b="0" i="0">
                          <a:solidFill>
                            <a:srgbClr val="1A1A1A"/>
                          </a:solidFill>
                          <a:latin typeface="Times New Roman"/>
                        </a:rPr>
                        <a:t>18.3%</a:t>
                      </a:r>
                    </a:p>
                  </a:txBody>
                  <a:tcPr anchor="ctr" marL="128016" marR="91440" marT="27432" marB="27432"/>
                </a:tc>
                <a:tc>
                  <a:txBody>
                    <a:bodyPr/>
                    <a:lstStyle/>
                    <a:p>
                      <a:pPr algn="r"/>
                      <a:r>
                        <a:rPr sz="2100" b="0" i="0">
                          <a:solidFill>
                            <a:srgbClr val="1A1A1A"/>
                          </a:solidFill>
                          <a:latin typeface="Times New Roman"/>
                        </a:rPr>
                        <a:t>33.0%</a:t>
                      </a:r>
                    </a:p>
                  </a:txBody>
                  <a:tcPr anchor="ctr" marL="128016" marR="91440" marT="27432" marB="27432"/>
                </a:tc>
                <a:tc>
                  <a:txBody>
                    <a:bodyPr/>
                    <a:lstStyle/>
                    <a:p>
                      <a:r>
                        <a:rPr sz="2100" b="1" i="0">
                          <a:solidFill>
                            <a:srgbClr val="C1272D"/>
                          </a:solidFill>
                          <a:latin typeface="Times New Roman"/>
                        </a:rPr>
                        <a:t>46.0%</a:t>
                      </a:r>
                    </a:p>
                  </a:txBody>
                  <a:tcPr anchor="ctr" marL="128016" marR="91440" marT="27432" marB="27432"/>
                </a:tc>
              </a:tr>
            </a:tbl>
          </a:graphicData>
        </a:graphic>
      </p:graphicFrame>
      <p:pic>
        <p:nvPicPr>
          <p:cNvPr id="6" name="Picture 5" descr="fig4_cost_model.png"/>
          <p:cNvPicPr>
            <a:picLocks noChangeAspect="1"/>
          </p:cNvPicPr>
          <p:nvPr/>
        </p:nvPicPr>
        <p:blipFill>
          <a:blip r:embed="rId2"/>
          <a:stretch>
            <a:fillRect/>
          </a:stretch>
        </p:blipFill>
        <p:spPr>
          <a:xfrm>
            <a:off x="11155680" y="3703320"/>
            <a:ext cx="4918376" cy="3657600"/>
          </a:xfrm>
          <a:prstGeom prst="rect">
            <a:avLst/>
          </a:prstGeom>
        </p:spPr>
      </p:pic>
      <p:sp>
        <p:nvSpPr>
          <p:cNvPr id="7" name="Rectangle 6"/>
          <p:cNvSpPr/>
          <p:nvPr/>
        </p:nvSpPr>
        <p:spPr>
          <a:xfrm>
            <a:off x="822960" y="8138160"/>
            <a:ext cx="64008" cy="1463040"/>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86968" y="8138160"/>
            <a:ext cx="16578072" cy="1463040"/>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8229600"/>
            <a:ext cx="16002000" cy="1280160"/>
          </a:xfrm>
          <a:prstGeom prst="rect">
            <a:avLst/>
          </a:prstGeom>
          <a:noFill/>
        </p:spPr>
        <p:txBody>
          <a:bodyPr wrap="square" anchor="ctr">
            <a:spAutoFit/>
          </a:bodyPr>
          <a:lstStyle/>
          <a:p>
            <a:pPr>
              <a:lnSpc>
                <a:spcPct val="105000"/>
              </a:lnSpc>
            </a:pPr>
            <a:r>
              <a:rPr sz="2300" b="1" i="0">
                <a:solidFill>
                  <a:srgbClr val="1A1A1A"/>
                </a:solidFill>
                <a:latin typeface="Times New Roman"/>
              </a:rPr>
              <a:t>Two results. </a:t>
            </a:r>
            <a:r>
              <a:rPr sz="2300" b="0" i="0">
                <a:solidFill>
                  <a:srgbClr val="1A1A1A"/>
                </a:solidFill>
                <a:latin typeface="Times New Roman"/>
              </a:rPr>
              <a:t/>
            </a:r>
            <a:r>
              <a:rPr sz="2300" b="1" i="0">
                <a:solidFill>
                  <a:srgbClr val="1A1A1A"/>
                </a:solidFill>
                <a:latin typeface="Times New Roman"/>
              </a:rPr>
              <a:t>The selection finding is unit-robust — it holds when the budget is counted in bytes. And below ~40 KiB an embedding index cannot earn its own storage: plain recency, which keeps no vectors at all, wins outright. That regime is invisible when the budget counts text alone.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3600" b="1" i="0">
                <a:solidFill>
                  <a:srgbClr val="111111"/>
                </a:solidFill>
                <a:latin typeface="Times New Roman"/>
              </a:rPr>
              <a:t>The scorer matters — and learning it helps only modestly</a:t>
            </a:r>
          </a:p>
        </p:txBody>
      </p:sp>
      <p:graphicFrame>
        <p:nvGraphicFramePr>
          <p:cNvPr id="3" name="Table 2"/>
          <p:cNvGraphicFramePr>
            <a:graphicFrameLocks noGrp="1"/>
          </p:cNvGraphicFramePr>
          <p:nvPr/>
        </p:nvGraphicFramePr>
        <p:xfrm>
          <a:off x="822960" y="2286000"/>
          <a:ext cx="9509759" cy="3291834"/>
        </p:xfrm>
        <a:graphic>
          <a:graphicData uri="http://schemas.openxmlformats.org/drawingml/2006/table">
            <a:tbl>
              <a:tblPr firstRow="1" bandRow="1">
                <a:tableStyleId>{5C22544A-7EE6-4342-B048-85BDC9FD1C3A}</a:tableStyleId>
              </a:tblPr>
              <a:tblGrid>
                <a:gridCol w="6515946"/>
                <a:gridCol w="2993813"/>
              </a:tblGrid>
              <a:tr h="470262">
                <a:tc>
                  <a:txBody>
                    <a:bodyPr/>
                    <a:lstStyle/>
                    <a:p>
                      <a:r>
                        <a:rPr sz="2000" b="1" i="0">
                          <a:solidFill>
                            <a:srgbClr val="111111"/>
                          </a:solidFill>
                          <a:latin typeface="Times New Roman"/>
                        </a:rPr>
                        <a:t>Component removed</a:t>
                      </a:r>
                    </a:p>
                  </a:txBody>
                  <a:tcPr anchor="ctr" marL="128016" marR="91440" marT="27432" marB="27432"/>
                </a:tc>
                <a:tc>
                  <a:txBody>
                    <a:bodyPr/>
                    <a:lstStyle/>
                    <a:p>
                      <a:r>
                        <a:rPr sz="2000" b="1" i="0">
                          <a:solidFill>
                            <a:srgbClr val="111111"/>
                          </a:solidFill>
                          <a:latin typeface="Times New Roman"/>
                        </a:rPr>
                        <a:t>Δ evidence recall</a:t>
                      </a:r>
                    </a:p>
                  </a:txBody>
                  <a:tcPr anchor="ctr" marL="128016" marR="91440" marT="27432" marB="27432"/>
                </a:tc>
              </a:tr>
              <a:tr h="470262">
                <a:tc>
                  <a:txBody>
                    <a:bodyPr/>
                    <a:lstStyle/>
                    <a:p>
                      <a:r>
                        <a:rPr sz="2000" b="0" i="0">
                          <a:solidFill>
                            <a:srgbClr val="1A1A1A"/>
                          </a:solidFill>
                          <a:latin typeface="Times New Roman"/>
                        </a:rPr>
                        <a:t>retrieval (tier 3)</a:t>
                      </a:r>
                    </a:p>
                  </a:txBody>
                  <a:tcPr anchor="ctr" marL="128016" marR="91440" marT="27432" marB="27432"/>
                </a:tc>
                <a:tc>
                  <a:txBody>
                    <a:bodyPr/>
                    <a:lstStyle/>
                    <a:p>
                      <a:pPr algn="r"/>
                      <a:r>
                        <a:rPr sz="2000" b="0" i="0">
                          <a:solidFill>
                            <a:srgbClr val="1A1A1A"/>
                          </a:solidFill>
                          <a:latin typeface="Times New Roman"/>
                        </a:rPr>
                        <a:t>-31.57</a:t>
                      </a:r>
                    </a:p>
                  </a:txBody>
                  <a:tcPr anchor="ctr" marL="128016" marR="91440" marT="27432" marB="27432"/>
                </a:tc>
              </a:tr>
              <a:tr h="470262">
                <a:tc>
                  <a:txBody>
                    <a:bodyPr/>
                    <a:lstStyle/>
                    <a:p>
                      <a:r>
                        <a:rPr sz="2000" b="0" i="0">
                          <a:solidFill>
                            <a:srgbClr val="1A1A1A"/>
                          </a:solidFill>
                          <a:latin typeface="Times New Roman"/>
                        </a:rPr>
                        <a:t>demotion on pressure   (but answer recall +7.1)</a:t>
                      </a:r>
                    </a:p>
                  </a:txBody>
                  <a:tcPr anchor="ctr" marL="128016" marR="91440" marT="27432" marB="27432"/>
                </a:tc>
                <a:tc>
                  <a:txBody>
                    <a:bodyPr/>
                    <a:lstStyle/>
                    <a:p>
                      <a:pPr algn="r"/>
                      <a:r>
                        <a:rPr sz="2000" b="0" i="0">
                          <a:solidFill>
                            <a:srgbClr val="1A1A1A"/>
                          </a:solidFill>
                          <a:latin typeface="Times New Roman"/>
                        </a:rPr>
                        <a:t>-11.53</a:t>
                      </a:r>
                    </a:p>
                  </a:txBody>
                  <a:tcPr anchor="ctr" marL="128016" marR="91440" marT="27432" marB="27432"/>
                </a:tc>
              </a:tr>
              <a:tr h="470262">
                <a:tc>
                  <a:txBody>
                    <a:bodyPr/>
                    <a:lstStyle/>
                    <a:p>
                      <a:r>
                        <a:rPr sz="2000" b="0" i="0">
                          <a:solidFill>
                            <a:srgbClr val="1A1A1A"/>
                          </a:solidFill>
                          <a:latin typeface="Times New Roman"/>
                        </a:rPr>
                        <a:t>scored eviction (FIFO)</a:t>
                      </a:r>
                    </a:p>
                  </a:txBody>
                  <a:tcPr anchor="ctr" marL="128016" marR="91440" marT="27432" marB="27432"/>
                </a:tc>
                <a:tc>
                  <a:txBody>
                    <a:bodyPr/>
                    <a:lstStyle/>
                    <a:p>
                      <a:pPr algn="r"/>
                      <a:r>
                        <a:rPr sz="2000" b="0" i="0">
                          <a:solidFill>
                            <a:srgbClr val="1A1A1A"/>
                          </a:solidFill>
                          <a:latin typeface="Times New Roman"/>
                        </a:rPr>
                        <a:t>-6.42</a:t>
                      </a:r>
                    </a:p>
                  </a:txBody>
                  <a:tcPr anchor="ctr" marL="128016" marR="91440" marT="27432" marB="27432"/>
                </a:tc>
              </a:tr>
              <a:tr h="470262">
                <a:tc>
                  <a:txBody>
                    <a:bodyPr/>
                    <a:lstStyle/>
                    <a:p>
                      <a:r>
                        <a:rPr sz="2000" b="0" i="0">
                          <a:solidFill>
                            <a:srgbClr val="1A1A1A"/>
                          </a:solidFill>
                          <a:latin typeface="Times New Roman"/>
                        </a:rPr>
                        <a:t>informative compressor</a:t>
                      </a:r>
                    </a:p>
                  </a:txBody>
                  <a:tcPr anchor="ctr" marL="128016" marR="91440" marT="27432" marB="27432"/>
                </a:tc>
                <a:tc>
                  <a:txBody>
                    <a:bodyPr/>
                    <a:lstStyle/>
                    <a:p>
                      <a:pPr algn="r"/>
                      <a:r>
                        <a:rPr sz="2000" b="0" i="0">
                          <a:solidFill>
                            <a:srgbClr val="1A1A1A"/>
                          </a:solidFill>
                          <a:latin typeface="Times New Roman"/>
                        </a:rPr>
                        <a:t>-4.45</a:t>
                      </a:r>
                    </a:p>
                  </a:txBody>
                  <a:tcPr anchor="ctr" marL="128016" marR="91440" marT="27432" marB="27432"/>
                </a:tc>
              </a:tr>
              <a:tr h="470262">
                <a:tc>
                  <a:txBody>
                    <a:bodyPr/>
                    <a:lstStyle/>
                    <a:p>
                      <a:r>
                        <a:rPr sz="2000" b="0" i="0">
                          <a:solidFill>
                            <a:srgbClr val="1A1A1A"/>
                          </a:solidFill>
                          <a:latin typeface="Times New Roman"/>
                        </a:rPr>
                        <a:t>consolidation merge</a:t>
                      </a:r>
                    </a:p>
                  </a:txBody>
                  <a:tcPr anchor="ctr" marL="128016" marR="91440" marT="27432" marB="27432"/>
                </a:tc>
                <a:tc>
                  <a:txBody>
                    <a:bodyPr/>
                    <a:lstStyle/>
                    <a:p>
                      <a:pPr algn="r"/>
                      <a:r>
                        <a:rPr sz="2000" b="0" i="0">
                          <a:solidFill>
                            <a:srgbClr val="1A1A1A"/>
                          </a:solidFill>
                          <a:latin typeface="Times New Roman"/>
                        </a:rPr>
                        <a:t>-3.41</a:t>
                      </a:r>
                    </a:p>
                  </a:txBody>
                  <a:tcPr anchor="ctr" marL="128016" marR="91440" marT="27432" marB="27432"/>
                </a:tc>
              </a:tr>
              <a:tr h="470262">
                <a:tc>
                  <a:txBody>
                    <a:bodyPr/>
                    <a:lstStyle/>
                    <a:p>
                      <a:r>
                        <a:rPr sz="2000" b="0" i="0">
                          <a:solidFill>
                            <a:srgbClr val="1A1A1A"/>
                          </a:solidFill>
                          <a:latin typeface="Times New Roman"/>
                        </a:rPr>
                        <a:t>supersession</a:t>
                      </a:r>
                    </a:p>
                  </a:txBody>
                  <a:tcPr anchor="ctr" marL="128016" marR="91440" marT="27432" marB="27432"/>
                </a:tc>
                <a:tc>
                  <a:txBody>
                    <a:bodyPr/>
                    <a:lstStyle/>
                    <a:p>
                      <a:pPr algn="r"/>
                      <a:r>
                        <a:rPr sz="2000" b="0" i="0">
                          <a:solidFill>
                            <a:srgbClr val="1A1A1A"/>
                          </a:solidFill>
                          <a:latin typeface="Times New Roman"/>
                        </a:rPr>
                        <a:t>-0.33</a:t>
                      </a:r>
                    </a:p>
                  </a:txBody>
                  <a:tcPr anchor="ctr" marL="128016" marR="91440" marT="27432" marB="27432"/>
                </a:tc>
              </a:tr>
            </a:tbl>
          </a:graphicData>
        </a:graphic>
      </p:graphicFrame>
      <p:graphicFrame>
        <p:nvGraphicFramePr>
          <p:cNvPr id="4" name="Table 3"/>
          <p:cNvGraphicFramePr>
            <a:graphicFrameLocks noGrp="1"/>
          </p:cNvGraphicFramePr>
          <p:nvPr/>
        </p:nvGraphicFramePr>
        <p:xfrm>
          <a:off x="822960" y="5943600"/>
          <a:ext cx="9509760" cy="1920240"/>
        </p:xfrm>
        <a:graphic>
          <a:graphicData uri="http://schemas.openxmlformats.org/drawingml/2006/table">
            <a:tbl>
              <a:tblPr firstRow="1" bandRow="1">
                <a:tableStyleId>{5C22544A-7EE6-4342-B048-85BDC9FD1C3A}</a:tableStyleId>
              </a:tblPr>
              <a:tblGrid>
                <a:gridCol w="5669280"/>
                <a:gridCol w="1828800"/>
                <a:gridCol w="2011680"/>
              </a:tblGrid>
              <a:tr h="480060">
                <a:tc>
                  <a:txBody>
                    <a:bodyPr/>
                    <a:lstStyle/>
                    <a:p>
                      <a:r>
                        <a:rPr sz="2000" b="1" i="0">
                          <a:solidFill>
                            <a:srgbClr val="111111"/>
                          </a:solidFill>
                          <a:latin typeface="Times New Roman"/>
                        </a:rPr>
                        <a:t>Scorer</a:t>
                      </a:r>
                    </a:p>
                  </a:txBody>
                  <a:tcPr anchor="ctr" marL="128016" marR="91440" marT="27432" marB="27432"/>
                </a:tc>
                <a:tc>
                  <a:txBody>
                    <a:bodyPr/>
                    <a:lstStyle/>
                    <a:p>
                      <a:r>
                        <a:rPr sz="2000" b="1" i="0">
                          <a:solidFill>
                            <a:srgbClr val="111111"/>
                          </a:solidFill>
                          <a:latin typeface="Times New Roman"/>
                        </a:rPr>
                        <a:t>AUC</a:t>
                      </a:r>
                    </a:p>
                  </a:txBody>
                  <a:tcPr anchor="ctr" marL="128016" marR="91440" marT="27432" marB="27432"/>
                </a:tc>
                <a:tc>
                  <a:txBody>
                    <a:bodyPr/>
                    <a:lstStyle/>
                    <a:p>
                      <a:r>
                        <a:rPr sz="2000" b="1" i="0">
                          <a:solidFill>
                            <a:srgbClr val="111111"/>
                          </a:solidFill>
                          <a:latin typeface="Times New Roman"/>
                        </a:rPr>
                        <a:t>Answer recall</a:t>
                      </a:r>
                    </a:p>
                  </a:txBody>
                  <a:tcPr anchor="ctr" marL="128016" marR="91440" marT="27432" marB="27432"/>
                </a:tc>
              </a:tr>
              <a:tr h="480060">
                <a:tc>
                  <a:txBody>
                    <a:bodyPr/>
                    <a:lstStyle/>
                    <a:p>
                      <a:r>
                        <a:rPr sz="2000" b="0" i="0">
                          <a:solidFill>
                            <a:srgbClr val="1A1A1A"/>
                          </a:solidFill>
                          <a:latin typeface="Times New Roman"/>
                        </a:rPr>
                        <a:t>P1 heuristic (hand-tuned)</a:t>
                      </a:r>
                    </a:p>
                  </a:txBody>
                  <a:tcPr anchor="ctr" marL="128016" marR="91440" marT="27432" marB="27432"/>
                </a:tc>
                <a:tc>
                  <a:txBody>
                    <a:bodyPr/>
                    <a:lstStyle/>
                    <a:p>
                      <a:r>
                        <a:rPr sz="2000" b="0" i="0">
                          <a:solidFill>
                            <a:srgbClr val="1A1A1A"/>
                          </a:solidFill>
                          <a:latin typeface="Times New Roman"/>
                        </a:rPr>
                        <a:t>—</a:t>
                      </a:r>
                    </a:p>
                  </a:txBody>
                  <a:tcPr anchor="ctr" marL="128016" marR="91440" marT="27432" marB="27432"/>
                </a:tc>
                <a:tc>
                  <a:txBody>
                    <a:bodyPr/>
                    <a:lstStyle/>
                    <a:p>
                      <a:pPr algn="r"/>
                      <a:r>
                        <a:rPr sz="2000" b="0" i="0">
                          <a:solidFill>
                            <a:srgbClr val="1A1A1A"/>
                          </a:solidFill>
                          <a:latin typeface="Times New Roman"/>
                        </a:rPr>
                        <a:t>27.8%</a:t>
                      </a:r>
                    </a:p>
                  </a:txBody>
                  <a:tcPr anchor="ctr" marL="128016" marR="91440" marT="27432" marB="27432"/>
                </a:tc>
              </a:tr>
              <a:tr h="480060">
                <a:tc>
                  <a:txBody>
                    <a:bodyPr/>
                    <a:lstStyle/>
                    <a:p>
                      <a:r>
                        <a:rPr sz="2000" b="0" i="0">
                          <a:solidFill>
                            <a:srgbClr val="1A1A1A"/>
                          </a:solidFill>
                          <a:latin typeface="Times New Roman"/>
                        </a:rPr>
                        <a:t>P3 learned, hand features</a:t>
                      </a:r>
                    </a:p>
                  </a:txBody>
                  <a:tcPr anchor="ctr" marL="128016" marR="91440" marT="27432" marB="27432"/>
                </a:tc>
                <a:tc>
                  <a:txBody>
                    <a:bodyPr/>
                    <a:lstStyle/>
                    <a:p>
                      <a:pPr algn="r"/>
                      <a:r>
                        <a:rPr sz="2000" b="0" i="0">
                          <a:solidFill>
                            <a:srgbClr val="1A1A1A"/>
                          </a:solidFill>
                          <a:latin typeface="Times New Roman"/>
                        </a:rPr>
                        <a:t>0.747</a:t>
                      </a:r>
                    </a:p>
                  </a:txBody>
                  <a:tcPr anchor="ctr" marL="128016" marR="91440" marT="27432" marB="27432"/>
                </a:tc>
                <a:tc>
                  <a:txBody>
                    <a:bodyPr/>
                    <a:lstStyle/>
                    <a:p>
                      <a:pPr algn="r"/>
                      <a:r>
                        <a:rPr sz="2000" b="0" i="0">
                          <a:solidFill>
                            <a:srgbClr val="1A1A1A"/>
                          </a:solidFill>
                          <a:latin typeface="Times New Roman"/>
                        </a:rPr>
                        <a:t>27.8%</a:t>
                      </a:r>
                    </a:p>
                  </a:txBody>
                  <a:tcPr anchor="ctr" marL="128016" marR="91440" marT="27432" marB="27432"/>
                </a:tc>
              </a:tr>
              <a:tr h="480060">
                <a:tc>
                  <a:txBody>
                    <a:bodyPr/>
                    <a:lstStyle/>
                    <a:p>
                      <a:r>
                        <a:rPr sz="2000" b="1" i="0">
                          <a:solidFill>
                            <a:srgbClr val="C1272D"/>
                          </a:solidFill>
                          <a:latin typeface="Times New Roman"/>
                        </a:rPr>
                        <a:t>P3 learned, + MiniLM</a:t>
                      </a:r>
                    </a:p>
                  </a:txBody>
                  <a:tcPr anchor="ctr" marL="128016" marR="91440" marT="27432" marB="27432"/>
                </a:tc>
                <a:tc>
                  <a:txBody>
                    <a:bodyPr/>
                    <a:lstStyle/>
                    <a:p>
                      <a:r>
                        <a:rPr sz="2000" b="1" i="0">
                          <a:solidFill>
                            <a:srgbClr val="C1272D"/>
                          </a:solidFill>
                          <a:latin typeface="Times New Roman"/>
                        </a:rPr>
                        <a:t>0.793</a:t>
                      </a:r>
                    </a:p>
                  </a:txBody>
                  <a:tcPr anchor="ctr" marL="128016" marR="91440" marT="27432" marB="27432"/>
                </a:tc>
                <a:tc>
                  <a:txBody>
                    <a:bodyPr/>
                    <a:lstStyle/>
                    <a:p>
                      <a:r>
                        <a:rPr sz="2000" b="1" i="0">
                          <a:solidFill>
                            <a:srgbClr val="C1272D"/>
                          </a:solidFill>
                          <a:latin typeface="Times New Roman"/>
                        </a:rPr>
                        <a:t>30.5%</a:t>
                      </a:r>
                    </a:p>
                  </a:txBody>
                  <a:tcPr anchor="ctr" marL="128016" marR="91440" marT="27432" marB="27432"/>
                </a:tc>
              </a:tr>
            </a:tbl>
          </a:graphicData>
        </a:graphic>
      </p:graphicFrame>
      <p:pic>
        <p:nvPicPr>
          <p:cNvPr id="5" name="Picture 4" descr="fig3_scorer.png"/>
          <p:cNvPicPr>
            <a:picLocks noChangeAspect="1"/>
          </p:cNvPicPr>
          <p:nvPr/>
        </p:nvPicPr>
        <p:blipFill>
          <a:blip r:embed="rId2"/>
          <a:stretch>
            <a:fillRect/>
          </a:stretch>
        </p:blipFill>
        <p:spPr>
          <a:xfrm>
            <a:off x="10607040" y="2468880"/>
            <a:ext cx="5774808" cy="4206240"/>
          </a:xfrm>
          <a:prstGeom prst="rect">
            <a:avLst/>
          </a:prstGeom>
        </p:spPr>
      </p:pic>
      <p:sp>
        <p:nvSpPr>
          <p:cNvPr id="6" name="TextBox 5"/>
          <p:cNvSpPr txBox="1"/>
          <p:nvPr/>
        </p:nvSpPr>
        <p:spPr>
          <a:xfrm>
            <a:off x="822960" y="8001000"/>
            <a:ext cx="9509760" cy="401193"/>
          </a:xfrm>
          <a:prstGeom prst="rect">
            <a:avLst/>
          </a:prstGeom>
          <a:noFill/>
        </p:spPr>
        <p:txBody>
          <a:bodyPr wrap="square">
            <a:spAutoFit/>
          </a:bodyPr>
          <a:lstStyle/>
          <a:p>
            <a:pPr algn="l"/>
            <a:r>
              <a:rPr sz="1700" b="0" i="1">
                <a:solidFill>
                  <a:srgbClr val="5A5A5A"/>
                </a:solidFill>
                <a:latin typeface="Times New Roman"/>
              </a:rPr>
              <a:t>Leave-one-conversation-out: the model scoring a conversation never saw it in training.</a:t>
            </a:r>
          </a:p>
        </p:txBody>
      </p:sp>
      <p:sp>
        <p:nvSpPr>
          <p:cNvPr id="7" name="Rectangle 6"/>
          <p:cNvSpPr/>
          <p:nvPr/>
        </p:nvSpPr>
        <p:spPr>
          <a:xfrm>
            <a:off x="822960" y="8732520"/>
            <a:ext cx="64008" cy="960120"/>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86968" y="8732520"/>
            <a:ext cx="16578072" cy="960120"/>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8823960"/>
            <a:ext cx="16002000" cy="777240"/>
          </a:xfrm>
          <a:prstGeom prst="rect">
            <a:avLst/>
          </a:prstGeom>
          <a:noFill/>
        </p:spPr>
        <p:txBody>
          <a:bodyPr wrap="square" anchor="ctr">
            <a:spAutoFit/>
          </a:bodyPr>
          <a:lstStyle/>
          <a:p>
            <a:pPr>
              <a:lnSpc>
                <a:spcPct val="105000"/>
              </a:lnSpc>
            </a:pPr>
            <a:r>
              <a:rPr sz="1700" b="1" i="0">
                <a:solidFill>
                  <a:srgbClr val="C1272D"/>
                </a:solidFill>
                <a:latin typeface="Times New Roman"/>
              </a:rPr>
              <a:t>WHAT THE MODEL LEARNED   </a:t>
            </a:r>
            <a:r>
              <a:rPr sz="2300" b="0" i="0">
                <a:solidFill>
                  <a:srgbClr val="1A1A1A"/>
                </a:solidFill>
                <a:latin typeface="Times New Roman"/>
              </a:rPr>
              <a:t>The fitted weights say something the heuristic never encoded: turn length is the strongest single predictor of evidence-worthiness — ahead of every hand-designed cue.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3600" b="1" i="0">
                <a:solidFill>
                  <a:srgbClr val="111111"/>
                </a:solidFill>
                <a:latin typeface="Times New Roman"/>
              </a:rPr>
              <a:t>An LLM judge is the wrong instrument for salience</a:t>
            </a:r>
          </a:p>
        </p:txBody>
      </p:sp>
      <p:sp>
        <p:nvSpPr>
          <p:cNvPr id="3" name="TextBox 2"/>
          <p:cNvSpPr txBox="1"/>
          <p:nvPr/>
        </p:nvSpPr>
        <p:spPr>
          <a:xfrm>
            <a:off x="2834640" y="1700784"/>
            <a:ext cx="12618720" cy="731520"/>
          </a:xfrm>
          <a:prstGeom prst="rect">
            <a:avLst/>
          </a:prstGeom>
          <a:noFill/>
        </p:spPr>
        <p:txBody>
          <a:bodyPr wrap="square" tIns="0" bIns="0">
            <a:spAutoFit/>
          </a:bodyPr>
          <a:lstStyle/>
          <a:p>
            <a:pPr algn="ctr"/>
            <a:r>
              <a:rPr sz="1600" b="0" i="1">
                <a:solidFill>
                  <a:srgbClr val="5A5A5A"/>
                </a:solidFill>
                <a:latin typeface="Times New Roman"/>
              </a:rPr>
              <a:t>A single-component swap: policy, storage, retrieval and compression pinned at the winner — only the scorer varies, so anything that moves is the scorer.</a:t>
            </a:r>
          </a:p>
        </p:txBody>
      </p:sp>
      <p:graphicFrame>
        <p:nvGraphicFramePr>
          <p:cNvPr id="4" name="Table 3"/>
          <p:cNvGraphicFramePr>
            <a:graphicFrameLocks noGrp="1"/>
          </p:cNvGraphicFramePr>
          <p:nvPr/>
        </p:nvGraphicFramePr>
        <p:xfrm>
          <a:off x="822960" y="2514600"/>
          <a:ext cx="16642080" cy="2743200"/>
        </p:xfrm>
        <a:graphic>
          <a:graphicData uri="http://schemas.openxmlformats.org/drawingml/2006/table">
            <a:tbl>
              <a:tblPr firstRow="1" bandRow="1">
                <a:tableStyleId>{5C22544A-7EE6-4342-B048-85BDC9FD1C3A}</a:tableStyleId>
              </a:tblPr>
              <a:tblGrid>
                <a:gridCol w="6240780"/>
                <a:gridCol w="2253615"/>
                <a:gridCol w="2253615"/>
                <a:gridCol w="2253615"/>
                <a:gridCol w="3640455"/>
              </a:tblGrid>
              <a:tr h="548640">
                <a:tc>
                  <a:txBody>
                    <a:bodyPr/>
                    <a:lstStyle/>
                    <a:p>
                      <a:r>
                        <a:rPr sz="2100" b="1" i="0">
                          <a:solidFill>
                            <a:srgbClr val="111111"/>
                          </a:solidFill>
                          <a:latin typeface="Times New Roman"/>
                        </a:rPr>
                        <a:t>Scorer</a:t>
                      </a:r>
                    </a:p>
                  </a:txBody>
                  <a:tcPr anchor="ctr" marL="128016" marR="91440" marT="27432" marB="27432"/>
                </a:tc>
                <a:tc>
                  <a:txBody>
                    <a:bodyPr/>
                    <a:lstStyle/>
                    <a:p>
                      <a:r>
                        <a:rPr sz="2100" b="1" i="0">
                          <a:solidFill>
                            <a:srgbClr val="111111"/>
                          </a:solidFill>
                          <a:latin typeface="Times New Roman"/>
                        </a:rPr>
                        <a:t>Evidence</a:t>
                      </a:r>
                    </a:p>
                  </a:txBody>
                  <a:tcPr anchor="ctr" marL="128016" marR="91440" marT="27432" marB="27432"/>
                </a:tc>
                <a:tc>
                  <a:txBody>
                    <a:bodyPr/>
                    <a:lstStyle/>
                    <a:p>
                      <a:r>
                        <a:rPr sz="2100" b="1" i="0">
                          <a:solidFill>
                            <a:srgbClr val="111111"/>
                          </a:solidFill>
                          <a:latin typeface="Times New Roman"/>
                        </a:rPr>
                        <a:t>Answer</a:t>
                      </a:r>
                    </a:p>
                  </a:txBody>
                  <a:tcPr anchor="ctr" marL="128016" marR="91440" marT="27432" marB="27432"/>
                </a:tc>
                <a:tc>
                  <a:txBody>
                    <a:bodyPr/>
                    <a:lstStyle/>
                    <a:p>
                      <a:r>
                        <a:rPr sz="2100" b="1" i="0">
                          <a:solidFill>
                            <a:srgbClr val="111111"/>
                          </a:solidFill>
                          <a:latin typeface="Times New Roman"/>
                        </a:rPr>
                        <a:t>Δ vs P1</a:t>
                      </a:r>
                    </a:p>
                  </a:txBody>
                  <a:tcPr anchor="ctr" marL="128016" marR="91440" marT="27432" marB="27432"/>
                </a:tc>
                <a:tc>
                  <a:txBody>
                    <a:bodyPr/>
                    <a:lstStyle/>
                    <a:p>
                      <a:pPr algn="r"/>
                      <a:r>
                        <a:rPr sz="2100" b="1" i="0">
                          <a:solidFill>
                            <a:srgbClr val="111111"/>
                          </a:solidFill>
                          <a:latin typeface="Times New Roman"/>
                        </a:rPr>
                        <a:t>95% CI (clustered)</a:t>
                      </a:r>
                    </a:p>
                  </a:txBody>
                  <a:tcPr anchor="ctr" marL="128016" marR="91440" marT="27432" marB="27432"/>
                </a:tc>
              </a:tr>
              <a:tr h="548640">
                <a:tc>
                  <a:txBody>
                    <a:bodyPr/>
                    <a:lstStyle/>
                    <a:p>
                      <a:r>
                        <a:rPr sz="2100" b="0" i="0">
                          <a:solidFill>
                            <a:srgbClr val="1A1A1A"/>
                          </a:solidFill>
                          <a:latin typeface="Times New Roman"/>
                        </a:rPr>
                        <a:t>P0  recency — no content judgement</a:t>
                      </a:r>
                    </a:p>
                  </a:txBody>
                  <a:tcPr anchor="ctr" marL="128016" marR="91440" marT="27432" marB="27432"/>
                </a:tc>
                <a:tc>
                  <a:txBody>
                    <a:bodyPr/>
                    <a:lstStyle/>
                    <a:p>
                      <a:pPr algn="r"/>
                      <a:r>
                        <a:rPr sz="2100" b="0" i="0">
                          <a:solidFill>
                            <a:srgbClr val="1A1A1A"/>
                          </a:solidFill>
                          <a:latin typeface="Times New Roman"/>
                        </a:rPr>
                        <a:t>12.6%</a:t>
                      </a:r>
                    </a:p>
                  </a:txBody>
                  <a:tcPr anchor="ctr" marL="128016" marR="91440" marT="27432" marB="27432"/>
                </a:tc>
                <a:tc>
                  <a:txBody>
                    <a:bodyPr/>
                    <a:lstStyle/>
                    <a:p>
                      <a:pPr algn="r"/>
                      <a:r>
                        <a:rPr sz="2100" b="0" i="0">
                          <a:solidFill>
                            <a:srgbClr val="1A1A1A"/>
                          </a:solidFill>
                          <a:latin typeface="Times New Roman"/>
                        </a:rPr>
                        <a:t>25.6%</a:t>
                      </a:r>
                    </a:p>
                  </a:txBody>
                  <a:tcPr anchor="ctr" marL="128016" marR="91440" marT="27432" marB="27432"/>
                </a:tc>
                <a:tc>
                  <a:txBody>
                    <a:bodyPr/>
                    <a:lstStyle/>
                    <a:p>
                      <a:pPr algn="r"/>
                      <a:r>
                        <a:rPr sz="2100" b="0" i="0">
                          <a:solidFill>
                            <a:srgbClr val="1A1A1A"/>
                          </a:solidFill>
                          <a:latin typeface="Times New Roman"/>
                        </a:rPr>
                        <a:t>-11.19</a:t>
                      </a:r>
                    </a:p>
                  </a:txBody>
                  <a:tcPr anchor="ctr" marL="128016" marR="91440" marT="27432" marB="27432"/>
                </a:tc>
                <a:tc>
                  <a:txBody>
                    <a:bodyPr/>
                    <a:lstStyle/>
                    <a:p>
                      <a:r>
                        <a:rPr sz="2100" b="0" i="0">
                          <a:solidFill>
                            <a:srgbClr val="1A1A1A"/>
                          </a:solidFill>
                          <a:latin typeface="Times New Roman"/>
                        </a:rPr>
                        <a:t>[-17.24, -6.19]</a:t>
                      </a:r>
                    </a:p>
                  </a:txBody>
                  <a:tcPr anchor="ctr" marL="128016" marR="91440" marT="27432" marB="27432"/>
                </a:tc>
              </a:tr>
              <a:tr h="548640">
                <a:tc>
                  <a:txBody>
                    <a:bodyPr/>
                    <a:lstStyle/>
                    <a:p>
                      <a:r>
                        <a:rPr sz="2100" b="1" i="0">
                          <a:solidFill>
                            <a:srgbClr val="C1272D"/>
                          </a:solidFill>
                          <a:latin typeface="Times New Roman"/>
                        </a:rPr>
                        <a:t>P1  heuristic — regex + shallow NER</a:t>
                      </a:r>
                    </a:p>
                  </a:txBody>
                  <a:tcPr anchor="ctr" marL="128016" marR="91440" marT="27432" marB="27432"/>
                </a:tc>
                <a:tc>
                  <a:txBody>
                    <a:bodyPr/>
                    <a:lstStyle/>
                    <a:p>
                      <a:pPr algn="r"/>
                      <a:r>
                        <a:rPr sz="2100" b="0" i="0">
                          <a:solidFill>
                            <a:srgbClr val="1A1A1A"/>
                          </a:solidFill>
                          <a:latin typeface="Times New Roman"/>
                        </a:rPr>
                        <a:t>19.8%</a:t>
                      </a:r>
                    </a:p>
                  </a:txBody>
                  <a:tcPr anchor="ctr" marL="128016" marR="91440" marT="27432" marB="27432"/>
                </a:tc>
                <a:tc>
                  <a:txBody>
                    <a:bodyPr/>
                    <a:lstStyle/>
                    <a:p>
                      <a:r>
                        <a:rPr sz="2100" b="1" i="0">
                          <a:solidFill>
                            <a:srgbClr val="C1272D"/>
                          </a:solidFill>
                          <a:latin typeface="Times New Roman"/>
                        </a:rPr>
                        <a:t>36.8%</a:t>
                      </a:r>
                    </a:p>
                  </a:txBody>
                  <a:tcPr anchor="ctr" marL="128016" marR="91440" marT="27432" marB="27432"/>
                </a:tc>
                <a:tc>
                  <a:txBody>
                    <a:bodyPr/>
                    <a:lstStyle/>
                    <a:p>
                      <a:r>
                        <a:rPr sz="2100" b="0" i="0">
                          <a:solidFill>
                            <a:srgbClr val="1A1A1A"/>
                          </a:solidFill>
                          <a:latin typeface="Times New Roman"/>
                        </a:rPr>
                        <a:t>—</a:t>
                      </a:r>
                    </a:p>
                  </a:txBody>
                  <a:tcPr anchor="ctr" marL="128016" marR="91440" marT="27432" marB="27432"/>
                </a:tc>
                <a:tc>
                  <a:txBody>
                    <a:bodyPr/>
                    <a:lstStyle/>
                    <a:p>
                      <a:r>
                        <a:rPr sz="2100" b="0" i="0">
                          <a:solidFill>
                            <a:srgbClr val="1A1A1A"/>
                          </a:solidFill>
                          <a:latin typeface="Times New Roman"/>
                        </a:rPr>
                        <a:t>—</a:t>
                      </a:r>
                    </a:p>
                  </a:txBody>
                  <a:tcPr anchor="ctr" marL="128016" marR="91440" marT="27432" marB="27432"/>
                </a:tc>
              </a:tr>
              <a:tr h="548640">
                <a:tc>
                  <a:txBody>
                    <a:bodyPr/>
                    <a:lstStyle/>
                    <a:p>
                      <a:r>
                        <a:rPr sz="2100" b="0" i="0">
                          <a:solidFill>
                            <a:srgbClr val="1A1A1A"/>
                          </a:solidFill>
                          <a:latin typeface="Times New Roman"/>
                        </a:rPr>
                        <a:t>P2  LLM judge — Qwen2.5-0.5B</a:t>
                      </a:r>
                    </a:p>
                  </a:txBody>
                  <a:tcPr anchor="ctr" marL="128016" marR="91440" marT="27432" marB="27432"/>
                </a:tc>
                <a:tc>
                  <a:txBody>
                    <a:bodyPr/>
                    <a:lstStyle/>
                    <a:p>
                      <a:pPr algn="r"/>
                      <a:r>
                        <a:rPr sz="2100" b="0" i="0">
                          <a:solidFill>
                            <a:srgbClr val="1A1A1A"/>
                          </a:solidFill>
                          <a:latin typeface="Times New Roman"/>
                        </a:rPr>
                        <a:t>14.0%</a:t>
                      </a:r>
                    </a:p>
                  </a:txBody>
                  <a:tcPr anchor="ctr" marL="128016" marR="91440" marT="27432" marB="27432"/>
                </a:tc>
                <a:tc>
                  <a:txBody>
                    <a:bodyPr/>
                    <a:lstStyle/>
                    <a:p>
                      <a:pPr algn="r"/>
                      <a:r>
                        <a:rPr sz="2100" b="0" i="0">
                          <a:solidFill>
                            <a:srgbClr val="1A1A1A"/>
                          </a:solidFill>
                          <a:latin typeface="Times New Roman"/>
                        </a:rPr>
                        <a:t>30.9%</a:t>
                      </a:r>
                    </a:p>
                  </a:txBody>
                  <a:tcPr anchor="ctr" marL="128016" marR="91440" marT="27432" marB="27432"/>
                </a:tc>
                <a:tc>
                  <a:txBody>
                    <a:bodyPr/>
                    <a:lstStyle/>
                    <a:p>
                      <a:pPr algn="r"/>
                      <a:r>
                        <a:rPr sz="2100" b="0" i="0">
                          <a:solidFill>
                            <a:srgbClr val="1A1A1A"/>
                          </a:solidFill>
                          <a:latin typeface="Times New Roman"/>
                        </a:rPr>
                        <a:t>-5.87</a:t>
                      </a:r>
                    </a:p>
                  </a:txBody>
                  <a:tcPr anchor="ctr" marL="128016" marR="91440" marT="27432" marB="27432"/>
                </a:tc>
                <a:tc>
                  <a:txBody>
                    <a:bodyPr/>
                    <a:lstStyle/>
                    <a:p>
                      <a:r>
                        <a:rPr sz="2100" b="0" i="0">
                          <a:solidFill>
                            <a:srgbClr val="1A1A1A"/>
                          </a:solidFill>
                          <a:latin typeface="Times New Roman"/>
                        </a:rPr>
                        <a:t>[-10.77, -1.76]</a:t>
                      </a:r>
                    </a:p>
                  </a:txBody>
                  <a:tcPr anchor="ctr" marL="128016" marR="91440" marT="27432" marB="27432"/>
                </a:tc>
              </a:tr>
              <a:tr h="548640">
                <a:tc>
                  <a:txBody>
                    <a:bodyPr/>
                    <a:lstStyle/>
                    <a:p>
                      <a:r>
                        <a:rPr sz="2100" b="0" i="0">
                          <a:solidFill>
                            <a:srgbClr val="1A1A1A"/>
                          </a:solidFill>
                          <a:latin typeface="Times New Roman"/>
                        </a:rPr>
                        <a:t>P3  learned — LOCO, a bound</a:t>
                      </a:r>
                    </a:p>
                  </a:txBody>
                  <a:tcPr anchor="ctr" marL="128016" marR="91440" marT="27432" marB="27432"/>
                </a:tc>
                <a:tc>
                  <a:txBody>
                    <a:bodyPr/>
                    <a:lstStyle/>
                    <a:p>
                      <a:pPr algn="r"/>
                      <a:r>
                        <a:rPr sz="2100" b="0" i="0">
                          <a:solidFill>
                            <a:srgbClr val="1A1A1A"/>
                          </a:solidFill>
                          <a:latin typeface="Times New Roman"/>
                        </a:rPr>
                        <a:t>33.4%</a:t>
                      </a:r>
                    </a:p>
                  </a:txBody>
                  <a:tcPr anchor="ctr" marL="128016" marR="91440" marT="27432" marB="27432"/>
                </a:tc>
                <a:tc>
                  <a:txBody>
                    <a:bodyPr/>
                    <a:lstStyle/>
                    <a:p>
                      <a:pPr algn="r"/>
                      <a:r>
                        <a:rPr sz="2100" b="0" i="0">
                          <a:solidFill>
                            <a:srgbClr val="1A1A1A"/>
                          </a:solidFill>
                          <a:latin typeface="Times New Roman"/>
                        </a:rPr>
                        <a:t>48.3%</a:t>
                      </a:r>
                    </a:p>
                  </a:txBody>
                  <a:tcPr anchor="ctr" marL="128016" marR="91440" marT="27432" marB="27432"/>
                </a:tc>
                <a:tc>
                  <a:txBody>
                    <a:bodyPr/>
                    <a:lstStyle/>
                    <a:p>
                      <a:pPr algn="r"/>
                      <a:r>
                        <a:rPr sz="2100" b="0" i="0">
                          <a:solidFill>
                            <a:srgbClr val="1A1A1A"/>
                          </a:solidFill>
                          <a:latin typeface="Times New Roman"/>
                        </a:rPr>
                        <a:t>+11.47</a:t>
                      </a:r>
                    </a:p>
                  </a:txBody>
                  <a:tcPr anchor="ctr" marL="128016" marR="91440" marT="27432" marB="27432"/>
                </a:tc>
                <a:tc>
                  <a:txBody>
                    <a:bodyPr/>
                    <a:lstStyle/>
                    <a:p>
                      <a:r>
                        <a:rPr sz="2100" b="0" i="0">
                          <a:solidFill>
                            <a:srgbClr val="1A1A1A"/>
                          </a:solidFill>
                          <a:latin typeface="Times New Roman"/>
                        </a:rPr>
                        <a:t>[+4.90, +17.86]</a:t>
                      </a:r>
                    </a:p>
                  </a:txBody>
                  <a:tcPr anchor="ctr" marL="128016" marR="91440" marT="27432" marB="27432"/>
                </a:tc>
              </a:tr>
            </a:tbl>
          </a:graphicData>
        </a:graphic>
      </p:graphicFrame>
      <p:sp>
        <p:nvSpPr>
          <p:cNvPr id="5" name="TextBox 4"/>
          <p:cNvSpPr txBox="1"/>
          <p:nvPr/>
        </p:nvSpPr>
        <p:spPr>
          <a:xfrm>
            <a:off x="822960" y="5623560"/>
            <a:ext cx="16642080" cy="2630424"/>
          </a:xfrm>
          <a:prstGeom prst="rect">
            <a:avLst/>
          </a:prstGeom>
          <a:noFill/>
        </p:spPr>
        <p:txBody>
          <a:bodyPr wrap="square">
            <a:spAutoFit/>
          </a:bodyPr>
          <a:lstStyle/>
          <a:p>
            <a:pPr>
              <a:lnSpc>
                <a:spcPct val="105000"/>
              </a:lnSpc>
              <a:spcAft>
                <a:spcPts val="1000"/>
              </a:spcAft>
            </a:pPr>
            <a:r>
              <a:rPr sz="2200" b="0" i="0">
                <a:solidFill>
                  <a:srgbClr val="C1272D"/>
                </a:solidFill>
                <a:latin typeface="Times New Roman"/>
              </a:rPr>
              <a:t>•  </a:t>
            </a:r>
            <a:r>
              <a:rPr sz="2200" b="1" i="0">
                <a:solidFill>
                  <a:srgbClr val="1A1A1A"/>
                </a:solidFill>
                <a:latin typeface="Times New Roman"/>
              </a:rPr>
              <a:t>Scoring at all is load-bearing. </a:t>
            </a:r>
            <a:r>
              <a:rPr sz="2200" b="0" i="0">
                <a:solidFill>
                  <a:srgbClr val="1A1A1A"/>
                </a:solidFill>
                <a:latin typeface="Times New Roman"/>
              </a:rPr>
              <a:t>+11.19 points over unscored recency — without this row the rest of the table would not be worth reading.</a:t>
            </a:r>
          </a:p>
          <a:p>
            <a:pPr>
              <a:lnSpc>
                <a:spcPct val="105000"/>
              </a:lnSpc>
              <a:spcAft>
                <a:spcPts val="1000"/>
              </a:spcAft>
            </a:pPr>
            <a:r>
              <a:rPr sz="2200" b="0" i="0">
                <a:solidFill>
                  <a:srgbClr val="C1272D"/>
                </a:solidFill>
                <a:latin typeface="Times New Roman"/>
              </a:rPr>
              <a:t>•  </a:t>
            </a:r>
            <a:r>
              <a:rPr sz="2200" b="1" i="0">
                <a:solidFill>
                  <a:srgbClr val="1A1A1A"/>
                </a:solidFill>
                <a:latin typeface="Times New Roman"/>
              </a:rPr>
              <a:t>The judge fails at it anyway. </a:t>
            </a:r>
            <a:r>
              <a:rPr sz="2200" b="0" i="0">
                <a:solidFill>
                  <a:srgbClr val="1A1A1A"/>
                </a:solidFill>
                <a:latin typeface="Times New Roman"/>
              </a:rPr>
              <a:t>It loses to the regex by 5.87 points and the interval excludes zero, for ~15 minutes of GPU per corpus against microseconds.</a:t>
            </a:r>
          </a:p>
          <a:p>
            <a:pPr>
              <a:lnSpc>
                <a:spcPct val="105000"/>
              </a:lnSpc>
              <a:spcAft>
                <a:spcPts val="1000"/>
              </a:spcAft>
            </a:pPr>
            <a:r>
              <a:rPr sz="2200" b="0" i="0">
                <a:solidFill>
                  <a:srgbClr val="C1272D"/>
                </a:solidFill>
                <a:latin typeface="Times New Roman"/>
              </a:rPr>
              <a:t>•  </a:t>
            </a:r>
            <a:r>
              <a:rPr sz="2200" b="1" i="0">
                <a:solidFill>
                  <a:srgbClr val="1A1A1A"/>
                </a:solidFill>
                <a:latin typeface="Times New Roman"/>
              </a:rPr>
              <a:t>The headroom is real. </a:t>
            </a:r>
            <a:r>
              <a:rPr sz="2200" b="0" i="0">
                <a:solidFill>
                  <a:srgbClr val="1A1A1A"/>
                </a:solidFill>
                <a:latin typeface="Times New Roman"/>
              </a:rPr>
              <a:t>+11.47 to the learned bound, so P2 was not defeated by a missing ceiling. The ceiling it failed to reach genuinely exists.</a:t>
            </a:r>
          </a:p>
        </p:txBody>
      </p:sp>
      <p:sp>
        <p:nvSpPr>
          <p:cNvPr id="6" name="Rectangle 5"/>
          <p:cNvSpPr/>
          <p:nvPr/>
        </p:nvSpPr>
        <p:spPr>
          <a:xfrm>
            <a:off x="822960" y="8503920"/>
            <a:ext cx="64008" cy="1188720"/>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86968" y="8503920"/>
            <a:ext cx="16578072" cy="1188720"/>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 y="8595360"/>
            <a:ext cx="16002000" cy="1005840"/>
          </a:xfrm>
          <a:prstGeom prst="rect">
            <a:avLst/>
          </a:prstGeom>
          <a:noFill/>
        </p:spPr>
        <p:txBody>
          <a:bodyPr wrap="square" anchor="ctr">
            <a:spAutoFit/>
          </a:bodyPr>
          <a:lstStyle/>
          <a:p>
            <a:pPr>
              <a:lnSpc>
                <a:spcPct val="105000"/>
              </a:lnSpc>
            </a:pPr>
            <a:r>
              <a:rPr sz="1700" b="1" i="0">
                <a:solidFill>
                  <a:srgbClr val="C1272D"/>
                </a:solidFill>
                <a:latin typeface="Times New Roman"/>
              </a:rPr>
              <a:t>WHY IT LOSES   </a:t>
            </a:r>
            <a:r>
              <a:rPr sz="2300" b="0" i="0">
                <a:solidFill>
                  <a:srgbClr val="1A1A1A"/>
                </a:solidFill>
                <a:latin typeface="Times New Roman"/>
              </a:rPr>
              <a:t>The diagnosis is what the judge is shown: it rates each turn in isolation, and salience is not a property of a turn on its own. A phone number matters because something later asks for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3600" b="1" i="0">
                <a:solidFill>
                  <a:srgbClr val="111111"/>
                </a:solidFill>
                <a:latin typeface="Times New Roman"/>
              </a:rPr>
              <a:t>End-task accuracy — the gap survives a real reader</a:t>
            </a:r>
          </a:p>
        </p:txBody>
      </p:sp>
      <p:sp>
        <p:nvSpPr>
          <p:cNvPr id="3" name="TextBox 2"/>
          <p:cNvSpPr txBox="1"/>
          <p:nvPr/>
        </p:nvSpPr>
        <p:spPr>
          <a:xfrm>
            <a:off x="2834640" y="1700784"/>
            <a:ext cx="12618720" cy="731520"/>
          </a:xfrm>
          <a:prstGeom prst="rect">
            <a:avLst/>
          </a:prstGeom>
          <a:noFill/>
        </p:spPr>
        <p:txBody>
          <a:bodyPr wrap="square" tIns="0" bIns="0">
            <a:spAutoFit/>
          </a:bodyPr>
          <a:lstStyle/>
          <a:p>
            <a:pPr algn="ctr"/>
            <a:r>
              <a:rPr sz="1600" b="0" i="1">
                <a:solidFill>
                  <a:srgbClr val="5A5A5A"/>
                </a:solidFill>
                <a:latin typeface="Times New Roman"/>
              </a:rPr>
              <a:t>Every number so far is context recall: did the evidence reach the prompt? That is the ceiling on accuracy. This is the accuracy.</a:t>
            </a:r>
          </a:p>
        </p:txBody>
      </p:sp>
      <p:graphicFrame>
        <p:nvGraphicFramePr>
          <p:cNvPr id="4" name="Table 3"/>
          <p:cNvGraphicFramePr>
            <a:graphicFrameLocks noGrp="1"/>
          </p:cNvGraphicFramePr>
          <p:nvPr/>
        </p:nvGraphicFramePr>
        <p:xfrm>
          <a:off x="822960" y="2514600"/>
          <a:ext cx="9509758" cy="3108959"/>
        </p:xfrm>
        <a:graphic>
          <a:graphicData uri="http://schemas.openxmlformats.org/drawingml/2006/table">
            <a:tbl>
              <a:tblPr firstRow="1" bandRow="1">
                <a:tableStyleId>{5C22544A-7EE6-4342-B048-85BDC9FD1C3A}</a:tableStyleId>
              </a:tblPr>
              <a:tblGrid>
                <a:gridCol w="3169920"/>
                <a:gridCol w="1791693"/>
                <a:gridCol w="1516048"/>
                <a:gridCol w="3032097"/>
              </a:tblGrid>
              <a:tr h="444137">
                <a:tc>
                  <a:txBody>
                    <a:bodyPr/>
                    <a:lstStyle/>
                    <a:p>
                      <a:r>
                        <a:rPr sz="2000" b="1" i="0">
                          <a:solidFill>
                            <a:srgbClr val="111111"/>
                          </a:solidFill>
                          <a:latin typeface="Times New Roman"/>
                        </a:rPr>
                        <a:t>Arm</a:t>
                      </a:r>
                    </a:p>
                  </a:txBody>
                  <a:tcPr anchor="ctr" marL="128016" marR="91440" marT="27432" marB="27432"/>
                </a:tc>
                <a:tc>
                  <a:txBody>
                    <a:bodyPr/>
                    <a:lstStyle/>
                    <a:p>
                      <a:r>
                        <a:rPr sz="2000" b="1" i="0">
                          <a:solidFill>
                            <a:srgbClr val="111111"/>
                          </a:solidFill>
                          <a:latin typeface="Times New Roman"/>
                        </a:rPr>
                        <a:t>Accuracy</a:t>
                      </a:r>
                    </a:p>
                  </a:txBody>
                  <a:tcPr anchor="ctr" marL="128016" marR="91440" marT="27432" marB="27432"/>
                </a:tc>
                <a:tc>
                  <a:txBody>
                    <a:bodyPr/>
                    <a:lstStyle/>
                    <a:p>
                      <a:r>
                        <a:rPr sz="2000" b="1" i="0">
                          <a:solidFill>
                            <a:srgbClr val="111111"/>
                          </a:solidFill>
                          <a:latin typeface="Times New Roman"/>
                        </a:rPr>
                        <a:t>F1</a:t>
                      </a:r>
                    </a:p>
                  </a:txBody>
                  <a:tcPr anchor="ctr" marL="128016" marR="91440" marT="27432" marB="27432"/>
                </a:tc>
                <a:tc>
                  <a:txBody>
                    <a:bodyPr/>
                    <a:lstStyle/>
                    <a:p>
                      <a:r>
                        <a:rPr sz="2000" b="1" i="0">
                          <a:solidFill>
                            <a:srgbClr val="111111"/>
                          </a:solidFill>
                          <a:latin typeface="Times New Roman"/>
                        </a:rPr>
                        <a:t>Answer present in context</a:t>
                      </a:r>
                    </a:p>
                  </a:txBody>
                  <a:tcPr anchor="ctr" marL="128016" marR="91440" marT="27432" marB="27432"/>
                </a:tc>
              </a:tr>
              <a:tr h="444137">
                <a:tc>
                  <a:txBody>
                    <a:bodyPr/>
                    <a:lstStyle/>
                    <a:p>
                      <a:r>
                        <a:rPr sz="2000" b="0" i="0">
                          <a:solidFill>
                            <a:srgbClr val="1A1A1A"/>
                          </a:solidFill>
                          <a:latin typeface="Times New Roman"/>
                        </a:rPr>
                        <a:t>closed-book</a:t>
                      </a:r>
                    </a:p>
                  </a:txBody>
                  <a:tcPr anchor="ctr" marL="128016" marR="91440" marT="27432" marB="27432"/>
                </a:tc>
                <a:tc>
                  <a:txBody>
                    <a:bodyPr/>
                    <a:lstStyle/>
                    <a:p>
                      <a:pPr algn="r"/>
                      <a:r>
                        <a:rPr sz="2000" b="0" i="0">
                          <a:solidFill>
                            <a:srgbClr val="1A1A1A"/>
                          </a:solidFill>
                          <a:latin typeface="Times New Roman"/>
                        </a:rPr>
                        <a:t>1.7%</a:t>
                      </a:r>
                    </a:p>
                  </a:txBody>
                  <a:tcPr anchor="ctr" marL="128016" marR="91440" marT="27432" marB="27432"/>
                </a:tc>
                <a:tc>
                  <a:txBody>
                    <a:bodyPr/>
                    <a:lstStyle/>
                    <a:p>
                      <a:pPr algn="r"/>
                      <a:r>
                        <a:rPr sz="2000" b="0" i="0">
                          <a:solidFill>
                            <a:srgbClr val="1A1A1A"/>
                          </a:solidFill>
                          <a:latin typeface="Times New Roman"/>
                        </a:rPr>
                        <a:t>5.0</a:t>
                      </a:r>
                    </a:p>
                  </a:txBody>
                  <a:tcPr anchor="ctr" marL="128016" marR="91440" marT="27432" marB="27432"/>
                </a:tc>
                <a:tc>
                  <a:txBody>
                    <a:bodyPr/>
                    <a:lstStyle/>
                    <a:p>
                      <a:pPr algn="r"/>
                      <a:r>
                        <a:rPr sz="2000" b="0" i="0">
                          <a:solidFill>
                            <a:srgbClr val="1A1A1A"/>
                          </a:solidFill>
                          <a:latin typeface="Times New Roman"/>
                        </a:rPr>
                        <a:t>0.0%</a:t>
                      </a:r>
                    </a:p>
                  </a:txBody>
                  <a:tcPr anchor="ctr" marL="128016" marR="91440" marT="27432" marB="27432"/>
                </a:tc>
              </a:tr>
              <a:tr h="444137">
                <a:tc>
                  <a:txBody>
                    <a:bodyPr/>
                    <a:lstStyle/>
                    <a:p>
                      <a:r>
                        <a:rPr sz="2000" b="0" i="0">
                          <a:solidFill>
                            <a:srgbClr val="1A1A1A"/>
                          </a:solidFill>
                          <a:latin typeface="Times New Roman"/>
                        </a:rPr>
                        <a:t>P0 sliding-window</a:t>
                      </a:r>
                    </a:p>
                  </a:txBody>
                  <a:tcPr anchor="ctr" marL="128016" marR="91440" marT="27432" marB="27432"/>
                </a:tc>
                <a:tc>
                  <a:txBody>
                    <a:bodyPr/>
                    <a:lstStyle/>
                    <a:p>
                      <a:pPr algn="r"/>
                      <a:r>
                        <a:rPr sz="2000" b="0" i="0">
                          <a:solidFill>
                            <a:srgbClr val="1A1A1A"/>
                          </a:solidFill>
                          <a:latin typeface="Times New Roman"/>
                        </a:rPr>
                        <a:t>8.3%</a:t>
                      </a:r>
                    </a:p>
                  </a:txBody>
                  <a:tcPr anchor="ctr" marL="128016" marR="91440" marT="27432" marB="27432"/>
                </a:tc>
                <a:tc>
                  <a:txBody>
                    <a:bodyPr/>
                    <a:lstStyle/>
                    <a:p>
                      <a:pPr algn="r"/>
                      <a:r>
                        <a:rPr sz="2000" b="0" i="0">
                          <a:solidFill>
                            <a:srgbClr val="1A1A1A"/>
                          </a:solidFill>
                          <a:latin typeface="Times New Roman"/>
                        </a:rPr>
                        <a:t>11.9</a:t>
                      </a:r>
                    </a:p>
                  </a:txBody>
                  <a:tcPr anchor="ctr" marL="128016" marR="91440" marT="27432" marB="27432"/>
                </a:tc>
                <a:tc>
                  <a:txBody>
                    <a:bodyPr/>
                    <a:lstStyle/>
                    <a:p>
                      <a:pPr algn="r"/>
                      <a:r>
                        <a:rPr sz="2000" b="0" i="0">
                          <a:solidFill>
                            <a:srgbClr val="1A1A1A"/>
                          </a:solidFill>
                          <a:latin typeface="Times New Roman"/>
                        </a:rPr>
                        <a:t>18.3%</a:t>
                      </a:r>
                    </a:p>
                  </a:txBody>
                  <a:tcPr anchor="ctr" marL="128016" marR="91440" marT="27432" marB="27432"/>
                </a:tc>
              </a:tr>
              <a:tr h="444137">
                <a:tc>
                  <a:txBody>
                    <a:bodyPr/>
                    <a:lstStyle/>
                    <a:p>
                      <a:r>
                        <a:rPr sz="2000" b="0" i="0">
                          <a:solidFill>
                            <a:srgbClr val="1A1A1A"/>
                          </a:solidFill>
                          <a:latin typeface="Times New Roman"/>
                        </a:rPr>
                        <a:t>RAG store-all</a:t>
                      </a:r>
                    </a:p>
                  </a:txBody>
                  <a:tcPr anchor="ctr" marL="128016" marR="91440" marT="27432" marB="27432"/>
                </a:tc>
                <a:tc>
                  <a:txBody>
                    <a:bodyPr/>
                    <a:lstStyle/>
                    <a:p>
                      <a:pPr algn="r"/>
                      <a:r>
                        <a:rPr sz="2000" b="0" i="0">
                          <a:solidFill>
                            <a:srgbClr val="1A1A1A"/>
                          </a:solidFill>
                          <a:latin typeface="Times New Roman"/>
                        </a:rPr>
                        <a:t>12.4%</a:t>
                      </a:r>
                    </a:p>
                  </a:txBody>
                  <a:tcPr anchor="ctr" marL="128016" marR="91440" marT="27432" marB="27432"/>
                </a:tc>
                <a:tc>
                  <a:txBody>
                    <a:bodyPr/>
                    <a:lstStyle/>
                    <a:p>
                      <a:pPr algn="r"/>
                      <a:r>
                        <a:rPr sz="2000" b="0" i="0">
                          <a:solidFill>
                            <a:srgbClr val="1A1A1A"/>
                          </a:solidFill>
                          <a:latin typeface="Times New Roman"/>
                        </a:rPr>
                        <a:t>17.7</a:t>
                      </a:r>
                    </a:p>
                  </a:txBody>
                  <a:tcPr anchor="ctr" marL="128016" marR="91440" marT="27432" marB="27432"/>
                </a:tc>
                <a:tc>
                  <a:txBody>
                    <a:bodyPr/>
                    <a:lstStyle/>
                    <a:p>
                      <a:pPr algn="r"/>
                      <a:r>
                        <a:rPr sz="2000" b="0" i="0">
                          <a:solidFill>
                            <a:srgbClr val="1A1A1A"/>
                          </a:solidFill>
                          <a:latin typeface="Times New Roman"/>
                        </a:rPr>
                        <a:t>28.1%</a:t>
                      </a:r>
                    </a:p>
                  </a:txBody>
                  <a:tcPr anchor="ctr" marL="128016" marR="91440" marT="27432" marB="27432"/>
                </a:tc>
              </a:tr>
              <a:tr h="444137">
                <a:tc>
                  <a:txBody>
                    <a:bodyPr/>
                    <a:lstStyle/>
                    <a:p>
                      <a:r>
                        <a:rPr sz="2000" b="0" i="0">
                          <a:solidFill>
                            <a:srgbClr val="1A1A1A"/>
                          </a:solidFill>
                          <a:latin typeface="Times New Roman"/>
                        </a:rPr>
                        <a:t>P1-A adaptive</a:t>
                      </a:r>
                    </a:p>
                  </a:txBody>
                  <a:tcPr anchor="ctr" marL="128016" marR="91440" marT="27432" marB="27432"/>
                </a:tc>
                <a:tc>
                  <a:txBody>
                    <a:bodyPr/>
                    <a:lstStyle/>
                    <a:p>
                      <a:pPr algn="r"/>
                      <a:r>
                        <a:rPr sz="2000" b="0" i="0">
                          <a:solidFill>
                            <a:srgbClr val="1A1A1A"/>
                          </a:solidFill>
                          <a:latin typeface="Times New Roman"/>
                        </a:rPr>
                        <a:t>13.1%</a:t>
                      </a:r>
                    </a:p>
                  </a:txBody>
                  <a:tcPr anchor="ctr" marL="128016" marR="91440" marT="27432" marB="27432"/>
                </a:tc>
                <a:tc>
                  <a:txBody>
                    <a:bodyPr/>
                    <a:lstStyle/>
                    <a:p>
                      <a:pPr algn="r"/>
                      <a:r>
                        <a:rPr sz="2000" b="0" i="0">
                          <a:solidFill>
                            <a:srgbClr val="1A1A1A"/>
                          </a:solidFill>
                          <a:latin typeface="Times New Roman"/>
                        </a:rPr>
                        <a:t>19.9</a:t>
                      </a:r>
                    </a:p>
                  </a:txBody>
                  <a:tcPr anchor="ctr" marL="128016" marR="91440" marT="27432" marB="27432"/>
                </a:tc>
                <a:tc>
                  <a:txBody>
                    <a:bodyPr/>
                    <a:lstStyle/>
                    <a:p>
                      <a:pPr algn="r"/>
                      <a:r>
                        <a:rPr sz="2000" b="0" i="0">
                          <a:solidFill>
                            <a:srgbClr val="1A1A1A"/>
                          </a:solidFill>
                          <a:latin typeface="Times New Roman"/>
                        </a:rPr>
                        <a:t>30.1%</a:t>
                      </a:r>
                    </a:p>
                  </a:txBody>
                  <a:tcPr anchor="ctr" marL="128016" marR="91440" marT="27432" marB="27432"/>
                </a:tc>
              </a:tr>
              <a:tr h="444137">
                <a:tc>
                  <a:txBody>
                    <a:bodyPr/>
                    <a:lstStyle/>
                    <a:p>
                      <a:r>
                        <a:rPr sz="2000" b="1" i="0">
                          <a:solidFill>
                            <a:srgbClr val="C1272D"/>
                          </a:solidFill>
                          <a:latin typeface="Times New Roman"/>
                        </a:rPr>
                        <a:t>P1-S select</a:t>
                      </a:r>
                    </a:p>
                  </a:txBody>
                  <a:tcPr anchor="ctr" marL="128016" marR="91440" marT="27432" marB="27432"/>
                </a:tc>
                <a:tc>
                  <a:txBody>
                    <a:bodyPr/>
                    <a:lstStyle/>
                    <a:p>
                      <a:r>
                        <a:rPr sz="2000" b="1" i="0">
                          <a:solidFill>
                            <a:srgbClr val="C1272D"/>
                          </a:solidFill>
                          <a:latin typeface="Times New Roman"/>
                        </a:rPr>
                        <a:t>18.5%</a:t>
                      </a:r>
                    </a:p>
                  </a:txBody>
                  <a:tcPr anchor="ctr" marL="128016" marR="91440" marT="27432" marB="27432"/>
                </a:tc>
                <a:tc>
                  <a:txBody>
                    <a:bodyPr/>
                    <a:lstStyle/>
                    <a:p>
                      <a:r>
                        <a:rPr sz="2000" b="1" i="0">
                          <a:solidFill>
                            <a:srgbClr val="C1272D"/>
                          </a:solidFill>
                          <a:latin typeface="Times New Roman"/>
                        </a:rPr>
                        <a:t>24.7</a:t>
                      </a:r>
                    </a:p>
                  </a:txBody>
                  <a:tcPr anchor="ctr" marL="128016" marR="91440" marT="27432" marB="27432"/>
                </a:tc>
                <a:tc>
                  <a:txBody>
                    <a:bodyPr/>
                    <a:lstStyle/>
                    <a:p>
                      <a:r>
                        <a:rPr sz="2000" b="1" i="0">
                          <a:solidFill>
                            <a:srgbClr val="C1272D"/>
                          </a:solidFill>
                          <a:latin typeface="Times New Roman"/>
                        </a:rPr>
                        <a:t>36.8%</a:t>
                      </a:r>
                    </a:p>
                  </a:txBody>
                  <a:tcPr anchor="ctr" marL="128016" marR="91440" marT="27432" marB="27432"/>
                </a:tc>
              </a:tr>
              <a:tr h="444137">
                <a:tc>
                  <a:txBody>
                    <a:bodyPr/>
                    <a:lstStyle/>
                    <a:p>
                      <a:r>
                        <a:rPr sz="2000" b="0" i="0">
                          <a:solidFill>
                            <a:srgbClr val="1A1A1A"/>
                          </a:solidFill>
                          <a:latin typeface="Times New Roman"/>
                        </a:rPr>
                        <a:t>Oracle</a:t>
                      </a:r>
                    </a:p>
                  </a:txBody>
                  <a:tcPr anchor="ctr" marL="128016" marR="91440" marT="27432" marB="27432"/>
                </a:tc>
                <a:tc>
                  <a:txBody>
                    <a:bodyPr/>
                    <a:lstStyle/>
                    <a:p>
                      <a:pPr algn="r"/>
                      <a:r>
                        <a:rPr sz="2000" b="0" i="0">
                          <a:solidFill>
                            <a:srgbClr val="1A1A1A"/>
                          </a:solidFill>
                          <a:latin typeface="Times New Roman"/>
                        </a:rPr>
                        <a:t>67.3%</a:t>
                      </a:r>
                    </a:p>
                  </a:txBody>
                  <a:tcPr anchor="ctr" marL="128016" marR="91440" marT="27432" marB="27432"/>
                </a:tc>
                <a:tc>
                  <a:txBody>
                    <a:bodyPr/>
                    <a:lstStyle/>
                    <a:p>
                      <a:pPr algn="r"/>
                      <a:r>
                        <a:rPr sz="2000" b="0" i="0">
                          <a:solidFill>
                            <a:srgbClr val="1A1A1A"/>
                          </a:solidFill>
                          <a:latin typeface="Times New Roman"/>
                        </a:rPr>
                        <a:t>75.7</a:t>
                      </a:r>
                    </a:p>
                  </a:txBody>
                  <a:tcPr anchor="ctr" marL="128016" marR="91440" marT="27432" marB="27432"/>
                </a:tc>
                <a:tc>
                  <a:txBody>
                    <a:bodyPr/>
                    <a:lstStyle/>
                    <a:p>
                      <a:pPr algn="r"/>
                      <a:r>
                        <a:rPr sz="2000" b="0" i="0">
                          <a:solidFill>
                            <a:srgbClr val="1A1A1A"/>
                          </a:solidFill>
                          <a:latin typeface="Times New Roman"/>
                        </a:rPr>
                        <a:t>100.0%</a:t>
                      </a:r>
                    </a:p>
                  </a:txBody>
                  <a:tcPr anchor="ctr" marL="128016" marR="91440" marT="27432" marB="27432"/>
                </a:tc>
              </a:tr>
            </a:tbl>
          </a:graphicData>
        </a:graphic>
      </p:graphicFrame>
      <p:pic>
        <p:nvPicPr>
          <p:cNvPr id="5" name="Picture 4" descr="fig5_endtask.png"/>
          <p:cNvPicPr>
            <a:picLocks noChangeAspect="1"/>
          </p:cNvPicPr>
          <p:nvPr/>
        </p:nvPicPr>
        <p:blipFill>
          <a:blip r:embed="rId2"/>
          <a:stretch>
            <a:fillRect/>
          </a:stretch>
        </p:blipFill>
        <p:spPr>
          <a:xfrm>
            <a:off x="10607040" y="2606040"/>
            <a:ext cx="5801426" cy="3840480"/>
          </a:xfrm>
          <a:prstGeom prst="rect">
            <a:avLst/>
          </a:prstGeom>
        </p:spPr>
      </p:pic>
      <p:sp>
        <p:nvSpPr>
          <p:cNvPr id="6" name="TextBox 5"/>
          <p:cNvSpPr txBox="1"/>
          <p:nvPr/>
        </p:nvSpPr>
        <p:spPr>
          <a:xfrm>
            <a:off x="822960" y="5989320"/>
            <a:ext cx="9509760" cy="1272286"/>
          </a:xfrm>
          <a:prstGeom prst="rect">
            <a:avLst/>
          </a:prstGeom>
          <a:noFill/>
        </p:spPr>
        <p:txBody>
          <a:bodyPr wrap="square">
            <a:spAutoFit/>
          </a:bodyPr>
          <a:lstStyle/>
          <a:p>
            <a:pPr>
              <a:lnSpc>
                <a:spcPct val="105000"/>
              </a:lnSpc>
              <a:spcAft>
                <a:spcPts val="1000"/>
              </a:spcAft>
            </a:pPr>
            <a:r>
              <a:rPr sz="2100" b="0" i="0">
                <a:solidFill>
                  <a:srgbClr val="C1272D"/>
                </a:solidFill>
                <a:latin typeface="Times New Roman"/>
              </a:rPr>
              <a:t>•  </a:t>
            </a:r>
            <a:r>
              <a:rPr sz="2100" b="1" i="0">
                <a:solidFill>
                  <a:srgbClr val="1A1A1A"/>
                </a:solidFill>
                <a:latin typeface="Times New Roman"/>
              </a:rPr>
              <a:t>Two controls the comparison cannot be read without. </a:t>
            </a:r>
            <a:r>
              <a:rPr sz="2100" b="0" i="0">
                <a:solidFill>
                  <a:srgbClr val="1A1A1A"/>
                </a:solidFill>
                <a:latin typeface="Times New Roman"/>
              </a:rPr>
              <a:t>Closed-book is the floor — a model answering from parametric knowledge would make every policy look good. Oracle is the ceiling: exactly the cited evidence, perfectly selected.</a:t>
            </a:r>
          </a:p>
        </p:txBody>
      </p:sp>
      <p:sp>
        <p:nvSpPr>
          <p:cNvPr id="7" name="Rectangle 6"/>
          <p:cNvSpPr/>
          <p:nvPr/>
        </p:nvSpPr>
        <p:spPr>
          <a:xfrm>
            <a:off x="822960" y="8366760"/>
            <a:ext cx="64008" cy="1325880"/>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86968" y="8366760"/>
            <a:ext cx="16578072" cy="1325880"/>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8458200"/>
            <a:ext cx="16002000" cy="1143000"/>
          </a:xfrm>
          <a:prstGeom prst="rect">
            <a:avLst/>
          </a:prstGeom>
          <a:noFill/>
        </p:spPr>
        <p:txBody>
          <a:bodyPr wrap="square" anchor="ctr">
            <a:spAutoFit/>
          </a:bodyPr>
          <a:lstStyle/>
          <a:p>
            <a:pPr>
              <a:lnSpc>
                <a:spcPct val="105000"/>
              </a:lnSpc>
            </a:pPr>
            <a:r>
              <a:rPr sz="1700" b="1" i="0">
                <a:solidFill>
                  <a:srgbClr val="C1272D"/>
                </a:solidFill>
                <a:latin typeface="Times New Roman"/>
              </a:rPr>
              <a:t>WHAT THE READER ACTUALLY ANSWERED   </a:t>
            </a:r>
            <a:r>
              <a:rPr sz="2300" b="1" i="0">
                <a:solidFill>
                  <a:srgbClr val="1A1A1A"/>
                </a:solidFill>
                <a:latin typeface="Times New Roman"/>
              </a:rPr>
              <a:t>+6.0 points of the +8.7 recall gap convert into correct answers</a:t>
            </a:r>
            <a:r>
              <a:rPr sz="2300" b="0" i="0">
                <a:solidFill>
                  <a:srgbClr val="1A1A1A"/>
                </a:solidFill>
                <a:latin typeface="Times New Roman"/>
              </a:rPr>
              <a:t/>
            </a:r>
            <a:r>
              <a:rPr sz="2300" b="1" i="0">
                <a:solidFill>
                  <a:srgbClr val="1A1A1A"/>
                </a:solidFill>
                <a:latin typeface="Times New Roman"/>
              </a:rPr>
              <a:t> — 95% CI [+3.3, +9.1] clustered by conversation, which is 69% of the ceiling gap. All 715 answer-recoverable questions, one fixed reader. Closed-book scores 1.7%, so the margin above it is the memory system and almost nothing else.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3600" b="1" i="0">
                <a:solidFill>
                  <a:srgbClr val="111111"/>
                </a:solidFill>
                <a:latin typeface="Times New Roman"/>
              </a:rPr>
              <a:t>We tested our own headline on a second benchmark — it failed</a:t>
            </a:r>
          </a:p>
        </p:txBody>
      </p:sp>
      <p:sp>
        <p:nvSpPr>
          <p:cNvPr id="3" name="TextBox 2"/>
          <p:cNvSpPr txBox="1"/>
          <p:nvPr/>
        </p:nvSpPr>
        <p:spPr>
          <a:xfrm>
            <a:off x="2834640" y="1700784"/>
            <a:ext cx="12618720" cy="731520"/>
          </a:xfrm>
          <a:prstGeom prst="rect">
            <a:avLst/>
          </a:prstGeom>
          <a:noFill/>
        </p:spPr>
        <p:txBody>
          <a:bodyPr wrap="square" tIns="0" bIns="0">
            <a:spAutoFit/>
          </a:bodyPr>
          <a:lstStyle/>
          <a:p>
            <a:pPr algn="ctr"/>
            <a:r>
              <a:rPr sz="1600" b="0" i="1">
                <a:solidFill>
                  <a:srgbClr val="5A5A5A"/>
                </a:solidFill>
                <a:latin typeface="Times New Roman"/>
              </a:rPr>
              <a:t>LoCoMo is ten conversations. LongMemEval is 94 independent haystacks of 38–62 sessions each. The claim should survive the move. It does not.</a:t>
            </a:r>
          </a:p>
        </p:txBody>
      </p:sp>
      <p:graphicFrame>
        <p:nvGraphicFramePr>
          <p:cNvPr id="4" name="Table 3"/>
          <p:cNvGraphicFramePr>
            <a:graphicFrameLocks noGrp="1"/>
          </p:cNvGraphicFramePr>
          <p:nvPr/>
        </p:nvGraphicFramePr>
        <p:xfrm>
          <a:off x="822960" y="2514600"/>
          <a:ext cx="15179037" cy="3291840"/>
        </p:xfrm>
        <a:graphic>
          <a:graphicData uri="http://schemas.openxmlformats.org/drawingml/2006/table">
            <a:tbl>
              <a:tblPr firstRow="1" bandRow="1">
                <a:tableStyleId>{5C22544A-7EE6-4342-B048-85BDC9FD1C3A}</a:tableStyleId>
              </a:tblPr>
              <a:tblGrid>
                <a:gridCol w="2743199"/>
                <a:gridCol w="2194560"/>
                <a:gridCol w="2743199"/>
                <a:gridCol w="2926079"/>
                <a:gridCol w="4572000"/>
              </a:tblGrid>
              <a:tr h="548640">
                <a:tc>
                  <a:txBody>
                    <a:bodyPr/>
                    <a:lstStyle/>
                    <a:p>
                      <a:r>
                        <a:rPr sz="1900" b="1" i="0">
                          <a:solidFill>
                            <a:srgbClr val="111111"/>
                          </a:solidFill>
                          <a:latin typeface="Times New Roman"/>
                        </a:rPr>
                        <a:t>Store budget</a:t>
                      </a:r>
                    </a:p>
                  </a:txBody>
                  <a:tcPr anchor="ctr" marL="128016" marR="91440" marT="27432" marB="27432"/>
                </a:tc>
                <a:tc>
                  <a:txBody>
                    <a:bodyPr/>
                    <a:lstStyle/>
                    <a:p>
                      <a:r>
                        <a:rPr sz="1900" b="1" i="0">
                          <a:solidFill>
                            <a:srgbClr val="111111"/>
                          </a:solidFill>
                          <a:latin typeface="Times New Roman"/>
                        </a:rPr>
                        <a:t>Retention</a:t>
                      </a:r>
                    </a:p>
                  </a:txBody>
                  <a:tcPr anchor="ctr" marL="128016" marR="91440" marT="27432" marB="27432"/>
                </a:tc>
                <a:tc>
                  <a:txBody>
                    <a:bodyPr/>
                    <a:lstStyle/>
                    <a:p>
                      <a:r>
                        <a:rPr sz="1900" b="1" i="0">
                          <a:solidFill>
                            <a:srgbClr val="111111"/>
                          </a:solidFill>
                          <a:latin typeface="Times New Roman"/>
                        </a:rPr>
                        <a:t>P1-S select</a:t>
                      </a:r>
                    </a:p>
                  </a:txBody>
                  <a:tcPr anchor="ctr" marL="128016" marR="91440" marT="27432" marB="27432"/>
                </a:tc>
                <a:tc>
                  <a:txBody>
                    <a:bodyPr/>
                    <a:lstStyle/>
                    <a:p>
                      <a:r>
                        <a:rPr sz="1900" b="1" i="0">
                          <a:solidFill>
                            <a:srgbClr val="111111"/>
                          </a:solidFill>
                          <a:latin typeface="Times New Roman"/>
                        </a:rPr>
                        <a:t>RAG store-all</a:t>
                      </a:r>
                    </a:p>
                  </a:txBody>
                  <a:tcPr anchor="ctr" marL="128016" marR="91440" marT="27432" marB="27432"/>
                </a:tc>
                <a:tc>
                  <a:txBody>
                    <a:bodyPr/>
                    <a:lstStyle/>
                    <a:p>
                      <a:r>
                        <a:rPr sz="1900" b="1" i="0">
                          <a:solidFill>
                            <a:srgbClr val="111111"/>
                          </a:solidFill>
                          <a:latin typeface="Times New Roman"/>
                        </a:rPr>
                        <a:t>Selection − FIFO</a:t>
                      </a:r>
                    </a:p>
                  </a:txBody>
                  <a:tcPr anchor="ctr" marL="128016" marR="91440" marT="27432" marB="27432"/>
                </a:tc>
              </a:tr>
              <a:tr h="548640">
                <a:tc>
                  <a:txBody>
                    <a:bodyPr/>
                    <a:lstStyle/>
                    <a:p>
                      <a:r>
                        <a:rPr sz="1900" b="0" i="0">
                          <a:solidFill>
                            <a:srgbClr val="1A1A1A"/>
                          </a:solidFill>
                          <a:latin typeface="Times New Roman"/>
                        </a:rPr>
                        <a:t>4,096</a:t>
                      </a:r>
                    </a:p>
                  </a:txBody>
                  <a:tcPr anchor="ctr" marL="128016" marR="91440" marT="27432" marB="27432"/>
                </a:tc>
                <a:tc>
                  <a:txBody>
                    <a:bodyPr/>
                    <a:lstStyle/>
                    <a:p>
                      <a:pPr algn="r"/>
                      <a:r>
                        <a:rPr sz="1900" b="0" i="0">
                          <a:solidFill>
                            <a:srgbClr val="1A1A1A"/>
                          </a:solidFill>
                          <a:latin typeface="Times New Roman"/>
                        </a:rPr>
                        <a:t>3.9%</a:t>
                      </a:r>
                    </a:p>
                  </a:txBody>
                  <a:tcPr anchor="ctr" marL="128016" marR="91440" marT="27432" marB="27432"/>
                </a:tc>
                <a:tc>
                  <a:txBody>
                    <a:bodyPr/>
                    <a:lstStyle/>
                    <a:p>
                      <a:pPr algn="r"/>
                      <a:r>
                        <a:rPr sz="1900" b="0" i="0">
                          <a:solidFill>
                            <a:srgbClr val="1A1A1A"/>
                          </a:solidFill>
                          <a:latin typeface="Times New Roman"/>
                        </a:rPr>
                        <a:t>14.5%</a:t>
                      </a:r>
                    </a:p>
                  </a:txBody>
                  <a:tcPr anchor="ctr" marL="128016" marR="91440" marT="27432" marB="27432"/>
                </a:tc>
                <a:tc>
                  <a:txBody>
                    <a:bodyPr/>
                    <a:lstStyle/>
                    <a:p>
                      <a:pPr algn="r"/>
                      <a:r>
                        <a:rPr sz="1900" b="0" i="0">
                          <a:solidFill>
                            <a:srgbClr val="1A1A1A"/>
                          </a:solidFill>
                          <a:latin typeface="Times New Roman"/>
                        </a:rPr>
                        <a:t>9.7%</a:t>
                      </a:r>
                    </a:p>
                  </a:txBody>
                  <a:tcPr anchor="ctr" marL="128016" marR="91440" marT="27432" marB="27432"/>
                </a:tc>
                <a:tc>
                  <a:txBody>
                    <a:bodyPr/>
                    <a:lstStyle/>
                    <a:p>
                      <a:pPr algn="r"/>
                      <a:r>
                        <a:rPr sz="1900" b="0" i="0">
                          <a:solidFill>
                            <a:srgbClr val="1A1A1A"/>
                          </a:solidFill>
                          <a:latin typeface="Times New Roman"/>
                        </a:rPr>
                        <a:t>+4.8  [-3.2, +12.9]</a:t>
                      </a:r>
                    </a:p>
                  </a:txBody>
                  <a:tcPr anchor="ctr" marL="128016" marR="91440" marT="27432" marB="27432"/>
                </a:tc>
              </a:tr>
              <a:tr h="548640">
                <a:tc>
                  <a:txBody>
                    <a:bodyPr/>
                    <a:lstStyle/>
                    <a:p>
                      <a:r>
                        <a:rPr sz="1900" b="0" i="0">
                          <a:solidFill>
                            <a:srgbClr val="1A1A1A"/>
                          </a:solidFill>
                          <a:latin typeface="Times New Roman"/>
                        </a:rPr>
                        <a:t>8,192</a:t>
                      </a:r>
                    </a:p>
                  </a:txBody>
                  <a:tcPr anchor="ctr" marL="128016" marR="91440" marT="27432" marB="27432"/>
                </a:tc>
                <a:tc>
                  <a:txBody>
                    <a:bodyPr/>
                    <a:lstStyle/>
                    <a:p>
                      <a:pPr algn="r"/>
                      <a:r>
                        <a:rPr sz="1900" b="0" i="0">
                          <a:solidFill>
                            <a:srgbClr val="1A1A1A"/>
                          </a:solidFill>
                          <a:latin typeface="Times New Roman"/>
                        </a:rPr>
                        <a:t>7.9%</a:t>
                      </a:r>
                    </a:p>
                  </a:txBody>
                  <a:tcPr anchor="ctr" marL="128016" marR="91440" marT="27432" marB="27432"/>
                </a:tc>
                <a:tc>
                  <a:txBody>
                    <a:bodyPr/>
                    <a:lstStyle/>
                    <a:p>
                      <a:pPr algn="r"/>
                      <a:r>
                        <a:rPr sz="1900" b="0" i="0">
                          <a:solidFill>
                            <a:srgbClr val="1A1A1A"/>
                          </a:solidFill>
                          <a:latin typeface="Times New Roman"/>
                        </a:rPr>
                        <a:t>22.6%</a:t>
                      </a:r>
                    </a:p>
                  </a:txBody>
                  <a:tcPr anchor="ctr" marL="128016" marR="91440" marT="27432" marB="27432"/>
                </a:tc>
                <a:tc>
                  <a:txBody>
                    <a:bodyPr/>
                    <a:lstStyle/>
                    <a:p>
                      <a:pPr algn="r"/>
                      <a:r>
                        <a:rPr sz="1900" b="0" i="0">
                          <a:solidFill>
                            <a:srgbClr val="1A1A1A"/>
                          </a:solidFill>
                          <a:latin typeface="Times New Roman"/>
                        </a:rPr>
                        <a:t>14.5%</a:t>
                      </a:r>
                    </a:p>
                  </a:txBody>
                  <a:tcPr anchor="ctr" marL="128016" marR="91440" marT="27432" marB="27432"/>
                </a:tc>
                <a:tc>
                  <a:txBody>
                    <a:bodyPr/>
                    <a:lstStyle/>
                    <a:p>
                      <a:pPr algn="r"/>
                      <a:r>
                        <a:rPr sz="1900" b="0" i="0">
                          <a:solidFill>
                            <a:srgbClr val="1A1A1A"/>
                          </a:solidFill>
                          <a:latin typeface="Times New Roman"/>
                        </a:rPr>
                        <a:t>+8.1  [-1.6, +17.7]</a:t>
                      </a:r>
                    </a:p>
                  </a:txBody>
                  <a:tcPr anchor="ctr" marL="128016" marR="91440" marT="27432" marB="27432"/>
                </a:tc>
              </a:tr>
              <a:tr h="548640">
                <a:tc>
                  <a:txBody>
                    <a:bodyPr/>
                    <a:lstStyle/>
                    <a:p>
                      <a:r>
                        <a:rPr sz="1900" b="0" i="0">
                          <a:solidFill>
                            <a:srgbClr val="1A1A1A"/>
                          </a:solidFill>
                          <a:latin typeface="Times New Roman"/>
                        </a:rPr>
                        <a:t>16,384</a:t>
                      </a:r>
                    </a:p>
                  </a:txBody>
                  <a:tcPr anchor="ctr" marL="128016" marR="91440" marT="27432" marB="27432"/>
                </a:tc>
                <a:tc>
                  <a:txBody>
                    <a:bodyPr/>
                    <a:lstStyle/>
                    <a:p>
                      <a:pPr algn="r"/>
                      <a:r>
                        <a:rPr sz="1900" b="0" i="0">
                          <a:solidFill>
                            <a:srgbClr val="1A1A1A"/>
                          </a:solidFill>
                          <a:latin typeface="Times New Roman"/>
                        </a:rPr>
                        <a:t>15.7%</a:t>
                      </a:r>
                    </a:p>
                  </a:txBody>
                  <a:tcPr anchor="ctr" marL="128016" marR="91440" marT="27432" marB="27432"/>
                </a:tc>
                <a:tc>
                  <a:txBody>
                    <a:bodyPr/>
                    <a:lstStyle/>
                    <a:p>
                      <a:pPr algn="r"/>
                      <a:r>
                        <a:rPr sz="1900" b="0" i="0">
                          <a:solidFill>
                            <a:srgbClr val="1A1A1A"/>
                          </a:solidFill>
                          <a:latin typeface="Times New Roman"/>
                        </a:rPr>
                        <a:t>21.0%</a:t>
                      </a:r>
                    </a:p>
                  </a:txBody>
                  <a:tcPr anchor="ctr" marL="128016" marR="91440" marT="27432" marB="27432"/>
                </a:tc>
                <a:tc>
                  <a:txBody>
                    <a:bodyPr/>
                    <a:lstStyle/>
                    <a:p>
                      <a:pPr algn="r"/>
                      <a:r>
                        <a:rPr sz="1900" b="0" i="0">
                          <a:solidFill>
                            <a:srgbClr val="1A1A1A"/>
                          </a:solidFill>
                          <a:latin typeface="Times New Roman"/>
                        </a:rPr>
                        <a:t>27.4%</a:t>
                      </a:r>
                    </a:p>
                  </a:txBody>
                  <a:tcPr anchor="ctr" marL="128016" marR="91440" marT="27432" marB="27432"/>
                </a:tc>
                <a:tc>
                  <a:txBody>
                    <a:bodyPr/>
                    <a:lstStyle/>
                    <a:p>
                      <a:pPr algn="r"/>
                      <a:r>
                        <a:rPr sz="1900" b="0" i="0">
                          <a:solidFill>
                            <a:srgbClr val="1A1A1A"/>
                          </a:solidFill>
                          <a:latin typeface="Times New Roman"/>
                        </a:rPr>
                        <a:t>-6.5  [-17.7, +4.8]</a:t>
                      </a:r>
                    </a:p>
                  </a:txBody>
                  <a:tcPr anchor="ctr" marL="128016" marR="91440" marT="27432" marB="27432"/>
                </a:tc>
              </a:tr>
              <a:tr h="548640">
                <a:tc>
                  <a:txBody>
                    <a:bodyPr/>
                    <a:lstStyle/>
                    <a:p>
                      <a:r>
                        <a:rPr sz="1900" b="1" i="0">
                          <a:solidFill>
                            <a:srgbClr val="C1272D"/>
                          </a:solidFill>
                          <a:latin typeface="Times New Roman"/>
                        </a:rPr>
                        <a:t>23,000</a:t>
                      </a:r>
                    </a:p>
                  </a:txBody>
                  <a:tcPr anchor="ctr" marL="128016" marR="91440" marT="27432" marB="27432"/>
                </a:tc>
                <a:tc>
                  <a:txBody>
                    <a:bodyPr/>
                    <a:lstStyle/>
                    <a:p>
                      <a:r>
                        <a:rPr sz="1900" b="1" i="0">
                          <a:solidFill>
                            <a:srgbClr val="C1272D"/>
                          </a:solidFill>
                          <a:latin typeface="Times New Roman"/>
                        </a:rPr>
                        <a:t>22.1%</a:t>
                      </a:r>
                    </a:p>
                  </a:txBody>
                  <a:tcPr anchor="ctr" marL="128016" marR="91440" marT="27432" marB="27432"/>
                </a:tc>
                <a:tc>
                  <a:txBody>
                    <a:bodyPr/>
                    <a:lstStyle/>
                    <a:p>
                      <a:r>
                        <a:rPr sz="1900" b="1" i="0">
                          <a:solidFill>
                            <a:srgbClr val="C1272D"/>
                          </a:solidFill>
                          <a:latin typeface="Times New Roman"/>
                        </a:rPr>
                        <a:t>19.4%</a:t>
                      </a:r>
                    </a:p>
                  </a:txBody>
                  <a:tcPr anchor="ctr" marL="128016" marR="91440" marT="27432" marB="27432"/>
                </a:tc>
                <a:tc>
                  <a:txBody>
                    <a:bodyPr/>
                    <a:lstStyle/>
                    <a:p>
                      <a:r>
                        <a:rPr sz="1900" b="1" i="0">
                          <a:solidFill>
                            <a:srgbClr val="C1272D"/>
                          </a:solidFill>
                          <a:latin typeface="Times New Roman"/>
                        </a:rPr>
                        <a:t>40.3%</a:t>
                      </a:r>
                    </a:p>
                  </a:txBody>
                  <a:tcPr anchor="ctr" marL="128016" marR="91440" marT="27432" marB="27432"/>
                </a:tc>
                <a:tc>
                  <a:txBody>
                    <a:bodyPr/>
                    <a:lstStyle/>
                    <a:p>
                      <a:r>
                        <a:rPr sz="1900" b="1" i="0">
                          <a:solidFill>
                            <a:srgbClr val="C1272D"/>
                          </a:solidFill>
                          <a:latin typeface="Times New Roman"/>
                        </a:rPr>
                        <a:t>-21.0  [-33.9, -8.1]</a:t>
                      </a:r>
                    </a:p>
                  </a:txBody>
                  <a:tcPr anchor="ctr" marL="128016" marR="91440" marT="27432" marB="27432"/>
                </a:tc>
              </a:tr>
              <a:tr h="548640">
                <a:tc>
                  <a:txBody>
                    <a:bodyPr/>
                    <a:lstStyle/>
                    <a:p>
                      <a:r>
                        <a:rPr sz="1900" b="0" i="0">
                          <a:solidFill>
                            <a:srgbClr val="1A1A1A"/>
                          </a:solidFill>
                          <a:latin typeface="Times New Roman"/>
                        </a:rPr>
                        <a:t>32,768</a:t>
                      </a:r>
                    </a:p>
                  </a:txBody>
                  <a:tcPr anchor="ctr" marL="128016" marR="91440" marT="27432" marB="27432"/>
                </a:tc>
                <a:tc>
                  <a:txBody>
                    <a:bodyPr/>
                    <a:lstStyle/>
                    <a:p>
                      <a:pPr algn="r"/>
                      <a:r>
                        <a:rPr sz="1900" b="0" i="0">
                          <a:solidFill>
                            <a:srgbClr val="1A1A1A"/>
                          </a:solidFill>
                          <a:latin typeface="Times New Roman"/>
                        </a:rPr>
                        <a:t>31.4%</a:t>
                      </a:r>
                    </a:p>
                  </a:txBody>
                  <a:tcPr anchor="ctr" marL="128016" marR="91440" marT="27432" marB="27432"/>
                </a:tc>
                <a:tc>
                  <a:txBody>
                    <a:bodyPr/>
                    <a:lstStyle/>
                    <a:p>
                      <a:pPr algn="r"/>
                      <a:r>
                        <a:rPr sz="1900" b="0" i="0">
                          <a:solidFill>
                            <a:srgbClr val="1A1A1A"/>
                          </a:solidFill>
                          <a:latin typeface="Times New Roman"/>
                        </a:rPr>
                        <a:t>30.6%</a:t>
                      </a:r>
                    </a:p>
                  </a:txBody>
                  <a:tcPr anchor="ctr" marL="128016" marR="91440" marT="27432" marB="27432"/>
                </a:tc>
                <a:tc>
                  <a:txBody>
                    <a:bodyPr/>
                    <a:lstStyle/>
                    <a:p>
                      <a:pPr algn="r"/>
                      <a:r>
                        <a:rPr sz="1900" b="0" i="0">
                          <a:solidFill>
                            <a:srgbClr val="1A1A1A"/>
                          </a:solidFill>
                          <a:latin typeface="Times New Roman"/>
                        </a:rPr>
                        <a:t>51.6%</a:t>
                      </a:r>
                    </a:p>
                  </a:txBody>
                  <a:tcPr anchor="ctr" marL="128016" marR="91440" marT="27432" marB="27432"/>
                </a:tc>
                <a:tc>
                  <a:txBody>
                    <a:bodyPr/>
                    <a:lstStyle/>
                    <a:p>
                      <a:pPr algn="r"/>
                      <a:r>
                        <a:rPr sz="1900" b="0" i="0">
                          <a:solidFill>
                            <a:srgbClr val="1A1A1A"/>
                          </a:solidFill>
                          <a:latin typeface="Times New Roman"/>
                        </a:rPr>
                        <a:t>-21.0  [-35.5, -6.5]</a:t>
                      </a:r>
                    </a:p>
                  </a:txBody>
                  <a:tcPr anchor="ctr" marL="128016" marR="91440" marT="27432" marB="27432"/>
                </a:tc>
              </a:tr>
            </a:tbl>
          </a:graphicData>
        </a:graphic>
      </p:graphicFrame>
      <p:sp>
        <p:nvSpPr>
          <p:cNvPr id="5" name="TextBox 4"/>
          <p:cNvSpPr txBox="1"/>
          <p:nvPr/>
        </p:nvSpPr>
        <p:spPr>
          <a:xfrm>
            <a:off x="822960" y="6172200"/>
            <a:ext cx="16642080" cy="1272286"/>
          </a:xfrm>
          <a:prstGeom prst="rect">
            <a:avLst/>
          </a:prstGeom>
          <a:noFill/>
        </p:spPr>
        <p:txBody>
          <a:bodyPr wrap="square">
            <a:spAutoFit/>
          </a:bodyPr>
          <a:lstStyle/>
          <a:p>
            <a:pPr>
              <a:lnSpc>
                <a:spcPct val="105000"/>
              </a:lnSpc>
              <a:spcAft>
                <a:spcPts val="1000"/>
              </a:spcAft>
            </a:pPr>
            <a:r>
              <a:rPr sz="2100" b="0" i="0">
                <a:solidFill>
                  <a:srgbClr val="C1272D"/>
                </a:solidFill>
                <a:latin typeface="Times New Roman"/>
              </a:rPr>
              <a:t>•  </a:t>
            </a:r>
            <a:r>
              <a:rPr sz="2100" b="1" i="0">
                <a:solidFill>
                  <a:srgbClr val="1A1A1A"/>
                </a:solidFill>
                <a:latin typeface="Times New Roman"/>
              </a:rPr>
              <a:t>At storage matched to LoCoMo's retention (22.1% vs 22.0%), selection loses to FIFO by 21 answer points </a:t>
            </a:r>
            <a:r>
              <a:rPr sz="2100" b="0" i="0">
                <a:solidFill>
                  <a:srgbClr val="1A1A1A"/>
                </a:solidFill>
                <a:latin typeface="Times New Roman"/>
              </a:rPr>
              <a:t>— where LoCoMo gives +9.37, and the deficit is the same −20.97 at the next budget up. Selection does benefit from storage; it benefits consistently less than plain FIFO does.</a:t>
            </a:r>
          </a:p>
        </p:txBody>
      </p:sp>
      <p:sp>
        <p:nvSpPr>
          <p:cNvPr id="6" name="Rectangle 5"/>
          <p:cNvSpPr/>
          <p:nvPr/>
        </p:nvSpPr>
        <p:spPr>
          <a:xfrm>
            <a:off x="822960" y="7360920"/>
            <a:ext cx="64008" cy="1600200"/>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86968" y="7360920"/>
            <a:ext cx="16578072" cy="1600200"/>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 y="7452360"/>
            <a:ext cx="16002000" cy="1417320"/>
          </a:xfrm>
          <a:prstGeom prst="rect">
            <a:avLst/>
          </a:prstGeom>
          <a:noFill/>
        </p:spPr>
        <p:txBody>
          <a:bodyPr wrap="square" anchor="ctr">
            <a:spAutoFit/>
          </a:bodyPr>
          <a:lstStyle/>
          <a:p>
            <a:pPr>
              <a:lnSpc>
                <a:spcPct val="105000"/>
              </a:lnSpc>
            </a:pPr>
            <a:r>
              <a:rPr sz="1700" b="1" i="0">
                <a:solidFill>
                  <a:srgbClr val="C1272D"/>
                </a:solidFill>
                <a:latin typeface="Times New Roman"/>
              </a:rPr>
              <a:t>WHY   </a:t>
            </a:r>
            <a:r>
              <a:rPr sz="2300" b="1" i="0">
                <a:solidFill>
                  <a:srgbClr val="1A1A1A"/>
                </a:solidFill>
                <a:latin typeface="Times New Roman"/>
              </a:rPr>
              <a:t>The mechanism is not what failed. The scorer is.</a:t>
            </a:r>
            <a:r>
              <a:rPr sz="2300" b="0" i="0">
                <a:solidFill>
                  <a:srgbClr val="1A1A1A"/>
                </a:solidFill>
                <a:latin typeface="Times New Roman"/>
              </a:rPr>
              <a:t/>
            </a:r>
            <a:r>
              <a:rPr sz="2300" b="1" i="0">
                <a:solidFill>
                  <a:srgbClr val="1A1A1A"/>
                </a:solidFill>
                <a:latin typeface="Times New Roman"/>
              </a:rPr>
              <a:t>  HeuristicScorer's separation between evidence and non-evidence turns reverses sign between the corpora: +0.0476 on LoCoMo, −0.0346 on LongMemEval. Eviction orders on that utility, so on LongMemEval it discards evidence first — losing to no ranking at all.</a:t>
            </a:r>
          </a:p>
        </p:txBody>
      </p:sp>
      <p:sp>
        <p:nvSpPr>
          <p:cNvPr id="9" name="TextBox 8"/>
          <p:cNvSpPr txBox="1"/>
          <p:nvPr/>
        </p:nvSpPr>
        <p:spPr>
          <a:xfrm>
            <a:off x="822960" y="9052560"/>
            <a:ext cx="16642080" cy="726948"/>
          </a:xfrm>
          <a:prstGeom prst="rect">
            <a:avLst/>
          </a:prstGeom>
          <a:noFill/>
        </p:spPr>
        <p:txBody>
          <a:bodyPr wrap="square">
            <a:spAutoFit/>
          </a:bodyPr>
          <a:lstStyle/>
          <a:p>
            <a:pPr algn="l"/>
            <a:r>
              <a:rPr sz="1800" b="0" i="1">
                <a:solidFill>
                  <a:srgbClr val="5A5A5A"/>
                </a:solidFill>
                <a:latin typeface="Times New Roman"/>
              </a:rPr>
              <a:t>Written for LoCoMo's 32-token dialogue lines, dense in regex-catchable cues; LongMemEval's turns are 210-token conversational prose. Consistent with §24.2, where the fitted scorer's strongest single feature is turn length — a corpus-level regularity, not a semantic one.   [results/longmemeval_S*.csv]</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3600" b="1" i="0">
                <a:solidFill>
                  <a:srgbClr val="111111"/>
                </a:solidFill>
                <a:latin typeface="Times New Roman"/>
              </a:rPr>
              <a:t>The obvious alternative explanation, ruled out</a:t>
            </a:r>
          </a:p>
        </p:txBody>
      </p:sp>
      <p:sp>
        <p:nvSpPr>
          <p:cNvPr id="3" name="TextBox 2"/>
          <p:cNvSpPr txBox="1"/>
          <p:nvPr/>
        </p:nvSpPr>
        <p:spPr>
          <a:xfrm>
            <a:off x="2834640" y="1700784"/>
            <a:ext cx="12618720" cy="731520"/>
          </a:xfrm>
          <a:prstGeom prst="rect">
            <a:avLst/>
          </a:prstGeom>
          <a:noFill/>
        </p:spPr>
        <p:txBody>
          <a:bodyPr wrap="square" tIns="0" bIns="0">
            <a:spAutoFit/>
          </a:bodyPr>
          <a:lstStyle/>
          <a:p>
            <a:pPr algn="ctr"/>
            <a:r>
              <a:rPr sz="1800" b="0" i="1">
                <a:solidFill>
                  <a:srgbClr val="5A5A5A"/>
                </a:solidFill>
                <a:latin typeface="Times New Roman"/>
              </a:rPr>
              <a:t>Before accepting a result that contradicts our own headline, we tried to break it.</a:t>
            </a:r>
          </a:p>
        </p:txBody>
      </p:sp>
      <p:sp>
        <p:nvSpPr>
          <p:cNvPr id="4" name="TextBox 3"/>
          <p:cNvSpPr txBox="1"/>
          <p:nvPr/>
        </p:nvSpPr>
        <p:spPr>
          <a:xfrm>
            <a:off x="822960" y="2514600"/>
            <a:ext cx="16642080" cy="2071370"/>
          </a:xfrm>
          <a:prstGeom prst="rect">
            <a:avLst/>
          </a:prstGeom>
          <a:noFill/>
        </p:spPr>
        <p:txBody>
          <a:bodyPr wrap="square">
            <a:spAutoFit/>
          </a:bodyPr>
          <a:lstStyle/>
          <a:p>
            <a:pPr>
              <a:lnSpc>
                <a:spcPct val="105000"/>
              </a:lnSpc>
              <a:spcAft>
                <a:spcPts val="1000"/>
              </a:spcAft>
            </a:pPr>
            <a:r>
              <a:rPr sz="2100" b="0" i="0">
                <a:solidFill>
                  <a:srgbClr val="C1272D"/>
                </a:solidFill>
                <a:latin typeface="Times New Roman"/>
              </a:rPr>
              <a:t>•  </a:t>
            </a:r>
            <a:r>
              <a:rPr sz="2100" b="1" i="0">
                <a:solidFill>
                  <a:srgbClr val="1A1A1A"/>
                </a:solidFill>
                <a:latin typeface="Times New Roman"/>
              </a:rPr>
              <a:t>The suspicion. </a:t>
            </a:r>
            <a:r>
              <a:rPr sz="2100" b="0" i="0">
                <a:solidFill>
                  <a:srgbClr val="1A1A1A"/>
                </a:solidFill>
                <a:latin typeface="Times New Roman"/>
              </a:rPr>
              <a:t>MemGatePolicy reserves a fixed 25% of the context for recent turns before retrieval is consulted; RAGPolicy reserves nothing. So “P1-S vs RAG isolates which turns are forgotten” was not strictly true — they also differed in guaranteed recency share.</a:t>
            </a:r>
          </a:p>
          <a:p>
            <a:pPr>
              <a:lnSpc>
                <a:spcPct val="105000"/>
              </a:lnSpc>
              <a:spcAft>
                <a:spcPts val="1000"/>
              </a:spcAft>
            </a:pPr>
            <a:r>
              <a:rPr sz="2100" b="0" i="0">
                <a:solidFill>
                  <a:srgbClr val="C1272D"/>
                </a:solidFill>
                <a:latin typeface="Times New Roman"/>
              </a:rPr>
              <a:t>•  </a:t>
            </a:r>
            <a:r>
              <a:rPr sz="2100" b="1" i="0">
                <a:solidFill>
                  <a:srgbClr val="1A1A1A"/>
                </a:solidFill>
                <a:latin typeface="Times New Roman"/>
              </a:rPr>
              <a:t>Why it should have mattered here. </a:t>
            </a:r>
            <a:r>
              <a:rPr sz="2100" b="0" i="0">
                <a:solidFill>
                  <a:srgbClr val="1A1A1A"/>
                </a:solidFill>
                <a:latin typeface="Times New Roman"/>
              </a:rPr>
              <a:t>That 512 tokens buys ~16 turns on LoCoMo but only 2–3 on LongMemEval, whose answer sits in one of 38–62 sessions chosen without regard to recency. P1-S was plausibly spending a quarter of its context on turns that cannot answer the question.</a:t>
            </a:r>
          </a:p>
        </p:txBody>
      </p:sp>
      <p:graphicFrame>
        <p:nvGraphicFramePr>
          <p:cNvPr id="5" name="Table 4"/>
          <p:cNvGraphicFramePr>
            <a:graphicFrameLocks noGrp="1"/>
          </p:cNvGraphicFramePr>
          <p:nvPr/>
        </p:nvGraphicFramePr>
        <p:xfrm>
          <a:off x="822960" y="5532120"/>
          <a:ext cx="13350240" cy="2286000"/>
        </p:xfrm>
        <a:graphic>
          <a:graphicData uri="http://schemas.openxmlformats.org/drawingml/2006/table">
            <a:tbl>
              <a:tblPr firstRow="1" bandRow="1">
                <a:tableStyleId>{5C22544A-7EE6-4342-B048-85BDC9FD1C3A}</a:tableStyleId>
              </a:tblPr>
              <a:tblGrid>
                <a:gridCol w="7680960"/>
                <a:gridCol w="2560320"/>
                <a:gridCol w="3108960"/>
              </a:tblGrid>
              <a:tr h="571500">
                <a:tc>
                  <a:txBody>
                    <a:bodyPr/>
                    <a:lstStyle/>
                    <a:p>
                      <a:r>
                        <a:rPr sz="2000" b="1" i="0">
                          <a:solidFill>
                            <a:srgbClr val="111111"/>
                          </a:solidFill>
                          <a:latin typeface="Times New Roman"/>
                        </a:rPr>
                        <a:t>Arm at S=23,000</a:t>
                      </a:r>
                    </a:p>
                  </a:txBody>
                  <a:tcPr anchor="ctr" marL="128016" marR="91440" marT="27432" marB="27432"/>
                </a:tc>
                <a:tc>
                  <a:txBody>
                    <a:bodyPr/>
                    <a:lstStyle/>
                    <a:p>
                      <a:r>
                        <a:rPr sz="2000" b="1" i="0">
                          <a:solidFill>
                            <a:srgbClr val="111111"/>
                          </a:solidFill>
                          <a:latin typeface="Times New Roman"/>
                        </a:rPr>
                        <a:t>Strict</a:t>
                      </a:r>
                    </a:p>
                  </a:txBody>
                  <a:tcPr anchor="ctr" marL="128016" marR="91440" marT="27432" marB="27432"/>
                </a:tc>
                <a:tc>
                  <a:txBody>
                    <a:bodyPr/>
                    <a:lstStyle/>
                    <a:p>
                      <a:r>
                        <a:rPr sz="2000" b="1" i="0">
                          <a:solidFill>
                            <a:srgbClr val="111111"/>
                          </a:solidFill>
                          <a:latin typeface="Times New Roman"/>
                        </a:rPr>
                        <a:t>Answer recall</a:t>
                      </a:r>
                    </a:p>
                  </a:txBody>
                  <a:tcPr anchor="ctr" marL="128016" marR="91440" marT="27432" marB="27432"/>
                </a:tc>
              </a:tr>
              <a:tr h="571500">
                <a:tc>
                  <a:txBody>
                    <a:bodyPr/>
                    <a:lstStyle/>
                    <a:p>
                      <a:r>
                        <a:rPr sz="2000" b="0" i="0">
                          <a:solidFill>
                            <a:srgbClr val="1A1A1A"/>
                          </a:solidFill>
                          <a:latin typeface="Times New Roman"/>
                        </a:rPr>
                        <a:t>P1-S, split[0] = 0.25  (as measured)</a:t>
                      </a:r>
                    </a:p>
                  </a:txBody>
                  <a:tcPr anchor="ctr" marL="128016" marR="91440" marT="27432" marB="27432"/>
                </a:tc>
                <a:tc>
                  <a:txBody>
                    <a:bodyPr/>
                    <a:lstStyle/>
                    <a:p>
                      <a:pPr algn="r"/>
                      <a:r>
                        <a:rPr sz="2000" b="0" i="0">
                          <a:solidFill>
                            <a:srgbClr val="1A1A1A"/>
                          </a:solidFill>
                          <a:latin typeface="Times New Roman"/>
                        </a:rPr>
                        <a:t>3.2%</a:t>
                      </a:r>
                    </a:p>
                  </a:txBody>
                  <a:tcPr anchor="ctr" marL="128016" marR="91440" marT="27432" marB="27432"/>
                </a:tc>
                <a:tc>
                  <a:txBody>
                    <a:bodyPr/>
                    <a:lstStyle/>
                    <a:p>
                      <a:pPr algn="r"/>
                      <a:r>
                        <a:rPr sz="2000" b="0" i="0">
                          <a:solidFill>
                            <a:srgbClr val="1A1A1A"/>
                          </a:solidFill>
                          <a:latin typeface="Times New Roman"/>
                        </a:rPr>
                        <a:t>19.4%</a:t>
                      </a:r>
                    </a:p>
                  </a:txBody>
                  <a:tcPr anchor="ctr" marL="128016" marR="91440" marT="27432" marB="27432"/>
                </a:tc>
              </a:tr>
              <a:tr h="571500">
                <a:tc>
                  <a:txBody>
                    <a:bodyPr/>
                    <a:lstStyle/>
                    <a:p>
                      <a:r>
                        <a:rPr sz="2000" b="0" i="0">
                          <a:solidFill>
                            <a:srgbClr val="1A1A1A"/>
                          </a:solidFill>
                          <a:latin typeface="Times New Roman"/>
                        </a:rPr>
                        <a:t>P1-S, split[0] = 0     (reservation removed)</a:t>
                      </a:r>
                    </a:p>
                  </a:txBody>
                  <a:tcPr anchor="ctr" marL="128016" marR="91440" marT="27432" marB="27432"/>
                </a:tc>
                <a:tc>
                  <a:txBody>
                    <a:bodyPr/>
                    <a:lstStyle/>
                    <a:p>
                      <a:pPr algn="r"/>
                      <a:r>
                        <a:rPr sz="2000" b="0" i="0">
                          <a:solidFill>
                            <a:srgbClr val="1A1A1A"/>
                          </a:solidFill>
                          <a:latin typeface="Times New Roman"/>
                        </a:rPr>
                        <a:t>2.1%</a:t>
                      </a:r>
                    </a:p>
                  </a:txBody>
                  <a:tcPr anchor="ctr" marL="128016" marR="91440" marT="27432" marB="27432"/>
                </a:tc>
                <a:tc>
                  <a:txBody>
                    <a:bodyPr/>
                    <a:lstStyle/>
                    <a:p>
                      <a:pPr algn="r"/>
                      <a:r>
                        <a:rPr sz="2000" b="0" i="0">
                          <a:solidFill>
                            <a:srgbClr val="1A1A1A"/>
                          </a:solidFill>
                          <a:latin typeface="Times New Roman"/>
                        </a:rPr>
                        <a:t>19.4%</a:t>
                      </a:r>
                    </a:p>
                  </a:txBody>
                  <a:tcPr anchor="ctr" marL="128016" marR="91440" marT="27432" marB="27432"/>
                </a:tc>
              </a:tr>
              <a:tr h="571500">
                <a:tc>
                  <a:txBody>
                    <a:bodyPr/>
                    <a:lstStyle/>
                    <a:p>
                      <a:r>
                        <a:rPr sz="2000" b="0" i="0">
                          <a:solidFill>
                            <a:srgbClr val="1A1A1A"/>
                          </a:solidFill>
                          <a:latin typeface="Times New Roman"/>
                        </a:rPr>
                        <a:t>RAG store-all</a:t>
                      </a:r>
                    </a:p>
                  </a:txBody>
                  <a:tcPr anchor="ctr" marL="128016" marR="91440" marT="27432" marB="27432"/>
                </a:tc>
                <a:tc>
                  <a:txBody>
                    <a:bodyPr/>
                    <a:lstStyle/>
                    <a:p>
                      <a:pPr algn="r"/>
                      <a:r>
                        <a:rPr sz="2000" b="0" i="0">
                          <a:solidFill>
                            <a:srgbClr val="1A1A1A"/>
                          </a:solidFill>
                          <a:latin typeface="Times New Roman"/>
                        </a:rPr>
                        <a:t>21.3%</a:t>
                      </a:r>
                    </a:p>
                  </a:txBody>
                  <a:tcPr anchor="ctr" marL="128016" marR="91440" marT="27432" marB="27432"/>
                </a:tc>
                <a:tc>
                  <a:txBody>
                    <a:bodyPr/>
                    <a:lstStyle/>
                    <a:p>
                      <a:pPr algn="r"/>
                      <a:r>
                        <a:rPr sz="2000" b="0" i="0">
                          <a:solidFill>
                            <a:srgbClr val="1A1A1A"/>
                          </a:solidFill>
                          <a:latin typeface="Times New Roman"/>
                        </a:rPr>
                        <a:t>40.3%</a:t>
                      </a:r>
                    </a:p>
                  </a:txBody>
                  <a:tcPr anchor="ctr" marL="128016" marR="91440" marT="27432" marB="27432"/>
                </a:tc>
              </a:tr>
            </a:tbl>
          </a:graphicData>
        </a:graphic>
      </p:graphicFrame>
      <p:sp>
        <p:nvSpPr>
          <p:cNvPr id="6" name="Rectangle 5"/>
          <p:cNvSpPr/>
          <p:nvPr/>
        </p:nvSpPr>
        <p:spPr>
          <a:xfrm>
            <a:off x="822960" y="8092440"/>
            <a:ext cx="64008" cy="1554480"/>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86968" y="8092440"/>
            <a:ext cx="16578072" cy="1554480"/>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 y="8183879"/>
            <a:ext cx="16002000" cy="1371600"/>
          </a:xfrm>
          <a:prstGeom prst="rect">
            <a:avLst/>
          </a:prstGeom>
          <a:noFill/>
        </p:spPr>
        <p:txBody>
          <a:bodyPr wrap="square" anchor="ctr">
            <a:spAutoFit/>
          </a:bodyPr>
          <a:lstStyle/>
          <a:p>
            <a:pPr>
              <a:lnSpc>
                <a:spcPct val="105000"/>
              </a:lnSpc>
            </a:pPr>
            <a:r>
              <a:rPr sz="1700" b="1" i="0">
                <a:solidFill>
                  <a:srgbClr val="C1272D"/>
                </a:solidFill>
                <a:latin typeface="Times New Roman"/>
              </a:rPr>
              <a:t>RESULT   </a:t>
            </a:r>
            <a:r>
              <a:rPr sz="2300" b="1" i="0">
                <a:solidFill>
                  <a:srgbClr val="1A1A1A"/>
                </a:solidFill>
                <a:latin typeface="Times New Roman"/>
              </a:rPr>
              <a:t>Removing the reservation changed the answer metric by exactly nothing: +0.00, CI [+0.00, +0.00].</a:t>
            </a:r>
            <a:r>
              <a:rPr sz="2300" b="0" i="0">
                <a:solidFill>
                  <a:srgbClr val="1A1A1A"/>
                </a:solidFill>
                <a:latin typeface="Times New Roman"/>
              </a:rPr>
              <a:t/>
            </a:r>
            <a:r>
              <a:rPr sz="2300" b="1" i="0">
                <a:solidFill>
                  <a:srgbClr val="1A1A1A"/>
                </a:solidFill>
                <a:latin typeface="Times New Roman"/>
              </a:rPr>
              <a:t>  The confound is real but not load-bearing. Selection still loses by −20.97 either way, so the scorer-transfer failure is the whole story.</a:t>
            </a:r>
          </a:p>
        </p:txBody>
      </p:sp>
      <p:sp>
        <p:nvSpPr>
          <p:cNvPr id="9" name="TextBox 8"/>
          <p:cNvSpPr txBox="1"/>
          <p:nvPr/>
        </p:nvSpPr>
        <p:spPr>
          <a:xfrm>
            <a:off x="822960" y="9235440"/>
            <a:ext cx="16642080" cy="418338"/>
          </a:xfrm>
          <a:prstGeom prst="rect">
            <a:avLst/>
          </a:prstGeom>
          <a:noFill/>
        </p:spPr>
        <p:txBody>
          <a:bodyPr wrap="square">
            <a:spAutoFit/>
          </a:bodyPr>
          <a:lstStyle/>
          <a:p>
            <a:pPr algn="l"/>
            <a:r>
              <a:rPr sz="1800" b="0" i="1">
                <a:solidFill>
                  <a:srgbClr val="5A5A5A"/>
                </a:solidFill>
                <a:latin typeface="Times New Roman"/>
              </a:rPr>
              <a:t>run_lme_split.py — same class, same scorer, same budgets, same retrieval depth; only split[0] moves.   [results/longmemeval_split_S23000.csv]</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4200" b="1" i="0">
                <a:solidFill>
                  <a:srgbClr val="111111"/>
                </a:solidFill>
                <a:latin typeface="Times New Roman"/>
              </a:rPr>
              <a:t>Three findings about measurement</a:t>
            </a:r>
          </a:p>
        </p:txBody>
      </p:sp>
      <p:sp>
        <p:nvSpPr>
          <p:cNvPr id="3" name="TextBox 2"/>
          <p:cNvSpPr txBox="1"/>
          <p:nvPr/>
        </p:nvSpPr>
        <p:spPr>
          <a:xfrm>
            <a:off x="2834640" y="1700784"/>
            <a:ext cx="12618720" cy="731520"/>
          </a:xfrm>
          <a:prstGeom prst="rect">
            <a:avLst/>
          </a:prstGeom>
          <a:noFill/>
        </p:spPr>
        <p:txBody>
          <a:bodyPr wrap="square" tIns="0" bIns="0">
            <a:spAutoFit/>
          </a:bodyPr>
          <a:lstStyle/>
          <a:p>
            <a:pPr algn="ctr"/>
            <a:r>
              <a:rPr sz="1800" b="0" i="1">
                <a:solidFill>
                  <a:srgbClr val="5A5A5A"/>
                </a:solidFill>
                <a:latin typeface="Times New Roman"/>
              </a:rPr>
              <a:t>Each was caught by a guard, not by reading the code.</a:t>
            </a:r>
          </a:p>
        </p:txBody>
      </p:sp>
      <p:graphicFrame>
        <p:nvGraphicFramePr>
          <p:cNvPr id="4" name="Table 3"/>
          <p:cNvGraphicFramePr>
            <a:graphicFrameLocks noGrp="1"/>
          </p:cNvGraphicFramePr>
          <p:nvPr/>
        </p:nvGraphicFramePr>
        <p:xfrm>
          <a:off x="822960" y="2514600"/>
          <a:ext cx="16642080" cy="4572000"/>
        </p:xfrm>
        <a:graphic>
          <a:graphicData uri="http://schemas.openxmlformats.org/drawingml/2006/table">
            <a:tbl>
              <a:tblPr firstRow="1" bandRow="1">
                <a:tableStyleId>{5C22544A-7EE6-4342-B048-85BDC9FD1C3A}</a:tableStyleId>
              </a:tblPr>
              <a:tblGrid>
                <a:gridCol w="1097280"/>
                <a:gridCol w="10424160"/>
                <a:gridCol w="5120640"/>
              </a:tblGrid>
              <a:tr h="1143000">
                <a:tc>
                  <a:txBody>
                    <a:bodyPr/>
                    <a:lstStyle/>
                    <a:p>
                      <a:r>
                        <a:rPr sz="1900" b="1" i="0">
                          <a:solidFill>
                            <a:srgbClr val="111111"/>
                          </a:solidFill>
                          <a:latin typeface="Times New Roman"/>
                        </a:rPr>
                        <a:t/>
                      </a:r>
                    </a:p>
                  </a:txBody>
                  <a:tcPr anchor="ctr" marL="128016" marR="91440" marT="27432" marB="27432"/>
                </a:tc>
                <a:tc>
                  <a:txBody>
                    <a:bodyPr/>
                    <a:lstStyle/>
                    <a:p>
                      <a:r>
                        <a:rPr sz="1900" b="1" i="0">
                          <a:solidFill>
                            <a:srgbClr val="111111"/>
                          </a:solidFill>
                          <a:latin typeface="Times New Roman"/>
                        </a:rPr>
                        <a:t>Finding</a:t>
                      </a:r>
                    </a:p>
                  </a:txBody>
                  <a:tcPr anchor="ctr" marL="128016" marR="91440" marT="27432" marB="27432"/>
                </a:tc>
                <a:tc>
                  <a:txBody>
                    <a:bodyPr/>
                    <a:lstStyle/>
                    <a:p>
                      <a:r>
                        <a:rPr sz="1900" b="1" i="0">
                          <a:solidFill>
                            <a:srgbClr val="111111"/>
                          </a:solidFill>
                          <a:latin typeface="Times New Roman"/>
                        </a:rPr>
                        <a:t>What it cost</a:t>
                      </a:r>
                    </a:p>
                  </a:txBody>
                  <a:tcPr anchor="ctr" marL="128016" marR="91440" marT="27432" marB="27432"/>
                </a:tc>
              </a:tr>
              <a:tr h="1143000">
                <a:tc>
                  <a:txBody>
                    <a:bodyPr/>
                    <a:lstStyle/>
                    <a:p>
                      <a:r>
                        <a:rPr sz="1900" b="0" i="0">
                          <a:solidFill>
                            <a:srgbClr val="1A1A1A"/>
                          </a:solidFill>
                          <a:latin typeface="Times New Roman"/>
                        </a:rPr>
                        <a:t>4.1</a:t>
                      </a:r>
                    </a:p>
                  </a:txBody>
                  <a:tcPr anchor="ctr" marL="128016" marR="91440" marT="27432" marB="27432"/>
                </a:tc>
                <a:tc>
                  <a:txBody>
                    <a:bodyPr/>
                    <a:lstStyle/>
                    <a:p>
                      <a:r>
                        <a:rPr sz="1900" b="0" i="0">
                          <a:solidFill>
                            <a:srgbClr val="1A1A1A"/>
                          </a:solidFill>
                          <a:latin typeface="Times New Roman"/>
                        </a:rPr>
                        <a:t>*A policy that read its own answer key.* An early consolidation rule promoted items on fact_id — the evaluation label.</a:t>
                      </a:r>
                    </a:p>
                  </a:txBody>
                  <a:tcPr anchor="ctr" marL="128016" marR="91440" marT="27432" marB="27432"/>
                </a:tc>
                <a:tc>
                  <a:txBody>
                    <a:bodyPr/>
                    <a:lstStyle/>
                    <a:p>
                      <a:pPr algn="r"/>
                      <a:r>
                        <a:rPr sz="1900" b="0" i="0">
                          <a:solidFill>
                            <a:srgbClr val="1A1A1A"/>
                          </a:solidFill>
                          <a:latin typeface="Times New Roman"/>
                        </a:rPr>
                        <a:t>+45–47 recall points. Invalidated the Review 1 headline.</a:t>
                      </a:r>
                    </a:p>
                  </a:txBody>
                  <a:tcPr anchor="ctr" marL="128016" marR="91440" marT="27432" marB="27432"/>
                </a:tc>
              </a:tr>
              <a:tr h="1143000">
                <a:tc>
                  <a:txBody>
                    <a:bodyPr/>
                    <a:lstStyle/>
                    <a:p>
                      <a:r>
                        <a:rPr sz="1900" b="0" i="0">
                          <a:solidFill>
                            <a:srgbClr val="1A1A1A"/>
                          </a:solidFill>
                          <a:latin typeface="Times New Roman"/>
                        </a:rPr>
                        <a:t>4.2</a:t>
                      </a:r>
                    </a:p>
                  </a:txBody>
                  <a:tcPr anchor="ctr" marL="128016" marR="91440" marT="27432" marB="27432"/>
                </a:tc>
                <a:tc>
                  <a:txBody>
                    <a:bodyPr/>
                    <a:lstStyle/>
                    <a:p>
                      <a:r>
                        <a:rPr sz="1900" b="0" i="0">
                          <a:solidFill>
                            <a:srgbClr val="1A1A1A"/>
                          </a:solidFill>
                          <a:latin typeface="Times New Roman"/>
                        </a:rPr>
                        <a:t>*A component’s value is conditional on the bottleneck being elsewhere.* The MiniLM embedder measured at +0.2 points — true in the regime measured, where retrieval was saturated against a write path discarding 93% of the conversation.</a:t>
                      </a:r>
                    </a:p>
                  </a:txBody>
                  <a:tcPr anchor="ctr" marL="128016" marR="91440" marT="27432" marB="27432"/>
                </a:tc>
                <a:tc>
                  <a:txBody>
                    <a:bodyPr/>
                    <a:lstStyle/>
                    <a:p>
                      <a:r>
                        <a:rPr sz="1900" b="0" i="0">
                          <a:solidFill>
                            <a:srgbClr val="1A1A1A"/>
                          </a:solidFill>
                          <a:latin typeface="Times New Roman"/>
                        </a:rPr>
                        <a:t>Once that ceiling lifted, the same swap was worth +19.7.</a:t>
                      </a:r>
                    </a:p>
                  </a:txBody>
                  <a:tcPr anchor="ctr" marL="128016" marR="91440" marT="27432" marB="27432"/>
                </a:tc>
              </a:tr>
              <a:tr h="1143000">
                <a:tc>
                  <a:txBody>
                    <a:bodyPr/>
                    <a:lstStyle/>
                    <a:p>
                      <a:r>
                        <a:rPr sz="1900" b="0" i="0">
                          <a:solidFill>
                            <a:srgbClr val="1A1A1A"/>
                          </a:solidFill>
                          <a:latin typeface="Times New Roman"/>
                        </a:rPr>
                        <a:t>4.3</a:t>
                      </a:r>
                    </a:p>
                  </a:txBody>
                  <a:tcPr anchor="ctr" marL="128016" marR="91440" marT="27432" marB="27432"/>
                </a:tc>
                <a:tc>
                  <a:txBody>
                    <a:bodyPr/>
                    <a:lstStyle/>
                    <a:p>
                      <a:r>
                        <a:rPr sz="1900" b="0" i="0">
                          <a:solidFill>
                            <a:srgbClr val="1A1A1A"/>
                          </a:solidFill>
                          <a:latin typeface="Times New Roman"/>
                        </a:rPr>
                        <a:t>*A metric that credits pointers.* Evidence recall counts a turn as retrieved if its id reaches the context; a gist keeps the id and discards the text.</a:t>
                      </a:r>
                    </a:p>
                  </a:txBody>
                  <a:tcPr anchor="ctr" marL="128016" marR="91440" marT="27432" marB="27432"/>
                </a:tc>
                <a:tc>
                  <a:txBody>
                    <a:bodyPr/>
                    <a:lstStyle/>
                    <a:p>
                      <a:r>
                        <a:rPr sz="1900" b="0" i="0">
                          <a:solidFill>
                            <a:srgbClr val="1A1A1A"/>
                          </a:solidFill>
                          <a:latin typeface="Times New Roman"/>
                        </a:rPr>
                        <a:t>Evidence recall rose 8.1% → 14.8% while answer recall stayed at 12.8%.</a:t>
                      </a:r>
                    </a:p>
                  </a:txBody>
                  <a:tcPr anchor="ctr" marL="128016" marR="91440" marT="27432" marB="27432"/>
                </a:tc>
              </a:tr>
            </a:tbl>
          </a:graphicData>
        </a:graphic>
      </p:graphicFrame>
      <p:sp>
        <p:nvSpPr>
          <p:cNvPr id="5" name="Rectangle 4"/>
          <p:cNvSpPr/>
          <p:nvPr/>
        </p:nvSpPr>
        <p:spPr>
          <a:xfrm>
            <a:off x="822960" y="7452360"/>
            <a:ext cx="64008" cy="1600200"/>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86968" y="7452360"/>
            <a:ext cx="16578072" cy="1600200"/>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7543800"/>
            <a:ext cx="16002000" cy="1417320"/>
          </a:xfrm>
          <a:prstGeom prst="rect">
            <a:avLst/>
          </a:prstGeom>
          <a:noFill/>
        </p:spPr>
        <p:txBody>
          <a:bodyPr wrap="square" anchor="ctr">
            <a:spAutoFit/>
          </a:bodyPr>
          <a:lstStyle/>
          <a:p>
            <a:pPr>
              <a:lnSpc>
                <a:spcPct val="105000"/>
              </a:lnSpc>
            </a:pPr>
            <a:r>
              <a:rPr sz="1700" b="1" i="0">
                <a:solidFill>
                  <a:srgbClr val="C1272D"/>
                </a:solidFill>
                <a:latin typeface="Times New Roman"/>
              </a:rPr>
              <a:t>AND A FOURTH   </a:t>
            </a:r>
            <a:r>
              <a:rPr sz="2300" b="0" i="0">
                <a:solidFill>
                  <a:srgbClr val="1A1A1A"/>
                </a:solidFill>
                <a:latin typeface="Times New Roman"/>
              </a:rPr>
              <a:t>A fourth, smaller instance: batched judge scoring returned NaN for exactly the short turns. The instinct was precision, and float32 did not fix it — the cause was left-padding creating fully-masked attention rows. Without the NaN guard, every filler turn would have scored NaN and quietly inverted the eviction order.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4200" b="1" i="0">
                <a:solidFill>
                  <a:srgbClr val="111111"/>
                </a:solidFill>
                <a:latin typeface="Times New Roman"/>
              </a:rPr>
              <a:t>Tools and technology</a:t>
            </a:r>
          </a:p>
        </p:txBody>
      </p:sp>
      <p:sp>
        <p:nvSpPr>
          <p:cNvPr id="3" name="TextBox 2"/>
          <p:cNvSpPr txBox="1"/>
          <p:nvPr/>
        </p:nvSpPr>
        <p:spPr>
          <a:xfrm>
            <a:off x="2834640" y="1700784"/>
            <a:ext cx="12618720" cy="731520"/>
          </a:xfrm>
          <a:prstGeom prst="rect">
            <a:avLst/>
          </a:prstGeom>
          <a:noFill/>
        </p:spPr>
        <p:txBody>
          <a:bodyPr wrap="square" tIns="0" bIns="0">
            <a:spAutoFit/>
          </a:bodyPr>
          <a:lstStyle/>
          <a:p>
            <a:pPr algn="ctr"/>
            <a:r>
              <a:rPr sz="1800" b="0" i="1">
                <a:solidFill>
                  <a:srgbClr val="5A5A5A"/>
                </a:solidFill>
                <a:latin typeface="Times New Roman"/>
              </a:rPr>
              <a:t>What was proposed at Review 1, and what the results were actually produced with.</a:t>
            </a:r>
          </a:p>
        </p:txBody>
      </p:sp>
      <p:graphicFrame>
        <p:nvGraphicFramePr>
          <p:cNvPr id="4" name="Table 3"/>
          <p:cNvGraphicFramePr>
            <a:graphicFrameLocks noGrp="1"/>
          </p:cNvGraphicFramePr>
          <p:nvPr/>
        </p:nvGraphicFramePr>
        <p:xfrm>
          <a:off x="822960" y="2514600"/>
          <a:ext cx="16642080" cy="4754880"/>
        </p:xfrm>
        <a:graphic>
          <a:graphicData uri="http://schemas.openxmlformats.org/drawingml/2006/table">
            <a:tbl>
              <a:tblPr firstRow="1" bandRow="1">
                <a:tableStyleId>{5C22544A-7EE6-4342-B048-85BDC9FD1C3A}</a:tableStyleId>
              </a:tblPr>
              <a:tblGrid>
                <a:gridCol w="2377440"/>
                <a:gridCol w="4206240"/>
                <a:gridCol w="4937760"/>
                <a:gridCol w="5120640"/>
              </a:tblGrid>
              <a:tr h="594360">
                <a:tc>
                  <a:txBody>
                    <a:bodyPr/>
                    <a:lstStyle/>
                    <a:p>
                      <a:r>
                        <a:rPr sz="1700" b="1" i="0">
                          <a:solidFill>
                            <a:srgbClr val="111111"/>
                          </a:solidFill>
                          <a:latin typeface="Times New Roman"/>
                        </a:rPr>
                        <a:t>Area</a:t>
                      </a:r>
                    </a:p>
                  </a:txBody>
                  <a:tcPr anchor="ctr" marL="128016" marR="91440" marT="27432" marB="27432"/>
                </a:tc>
                <a:tc>
                  <a:txBody>
                    <a:bodyPr/>
                    <a:lstStyle/>
                    <a:p>
                      <a:r>
                        <a:rPr sz="1700" b="1" i="0">
                          <a:solidFill>
                            <a:srgbClr val="111111"/>
                          </a:solidFill>
                          <a:latin typeface="Times New Roman"/>
                        </a:rPr>
                        <a:t>Proposed at Review 1</a:t>
                      </a:r>
                    </a:p>
                  </a:txBody>
                  <a:tcPr anchor="ctr" marL="128016" marR="91440" marT="27432" marB="27432"/>
                </a:tc>
                <a:tc>
                  <a:txBody>
                    <a:bodyPr/>
                    <a:lstStyle/>
                    <a:p>
                      <a:r>
                        <a:rPr sz="1700" b="1" i="0">
                          <a:solidFill>
                            <a:srgbClr val="111111"/>
                          </a:solidFill>
                          <a:latin typeface="Times New Roman"/>
                        </a:rPr>
                        <a:t>Actually used</a:t>
                      </a:r>
                    </a:p>
                  </a:txBody>
                  <a:tcPr anchor="ctr" marL="128016" marR="91440" marT="27432" marB="27432"/>
                </a:tc>
                <a:tc>
                  <a:txBody>
                    <a:bodyPr/>
                    <a:lstStyle/>
                    <a:p>
                      <a:r>
                        <a:rPr sz="1700" b="1" i="0">
                          <a:solidFill>
                            <a:srgbClr val="111111"/>
                          </a:solidFill>
                          <a:latin typeface="Times New Roman"/>
                        </a:rPr>
                        <a:t>Why it changed</a:t>
                      </a:r>
                    </a:p>
                  </a:txBody>
                  <a:tcPr anchor="ctr" marL="128016" marR="91440" marT="27432" marB="27432"/>
                </a:tc>
              </a:tr>
              <a:tr h="594360">
                <a:tc>
                  <a:txBody>
                    <a:bodyPr/>
                    <a:lstStyle/>
                    <a:p>
                      <a:r>
                        <a:rPr sz="1700" b="0" i="0">
                          <a:solidFill>
                            <a:srgbClr val="1A1A1A"/>
                          </a:solidFill>
                          <a:latin typeface="Times New Roman"/>
                        </a:rPr>
                        <a:t>Base model</a:t>
                      </a:r>
                    </a:p>
                  </a:txBody>
                  <a:tcPr anchor="ctr" marL="128016" marR="91440" marT="27432" marB="27432"/>
                </a:tc>
                <a:tc>
                  <a:txBody>
                    <a:bodyPr/>
                    <a:lstStyle/>
                    <a:p>
                      <a:r>
                        <a:rPr sz="1700" b="0" i="0">
                          <a:solidFill>
                            <a:srgbClr val="1A1A1A"/>
                          </a:solidFill>
                          <a:latin typeface="Times New Roman"/>
                        </a:rPr>
                        <a:t>Llama 3 / Mistral; OpenAI or Anthropic API</a:t>
                      </a:r>
                    </a:p>
                  </a:txBody>
                  <a:tcPr anchor="ctr" marL="128016" marR="91440" marT="27432" marB="27432"/>
                </a:tc>
                <a:tc>
                  <a:txBody>
                    <a:bodyPr/>
                    <a:lstStyle/>
                    <a:p>
                      <a:r>
                        <a:rPr sz="1700" b="1" i="0">
                          <a:solidFill>
                            <a:srgbClr val="C1272D"/>
                          </a:solidFill>
                          <a:latin typeface="Times New Roman"/>
                        </a:rPr>
                        <a:t>Qwen2.5-0.5B and 1.5B-4bit, run locally</a:t>
                      </a:r>
                    </a:p>
                  </a:txBody>
                  <a:tcPr anchor="ctr" marL="128016" marR="91440" marT="27432" marB="27432"/>
                </a:tc>
                <a:tc>
                  <a:txBody>
                    <a:bodyPr/>
                    <a:lstStyle/>
                    <a:p>
                      <a:r>
                        <a:rPr sz="1700" b="0" i="0">
                          <a:solidFill>
                            <a:srgbClr val="1A1A1A"/>
                          </a:solidFill>
                          <a:latin typeface="Times New Roman"/>
                        </a:rPr>
                        <a:t>No key, no rate limit, no per-run cost, bit-reproducible offline</a:t>
                      </a:r>
                    </a:p>
                  </a:txBody>
                  <a:tcPr anchor="ctr" marL="128016" marR="91440" marT="27432" marB="27432"/>
                </a:tc>
              </a:tr>
              <a:tr h="594360">
                <a:tc>
                  <a:txBody>
                    <a:bodyPr/>
                    <a:lstStyle/>
                    <a:p>
                      <a:r>
                        <a:rPr sz="1700" b="0" i="0">
                          <a:solidFill>
                            <a:srgbClr val="1A1A1A"/>
                          </a:solidFill>
                          <a:latin typeface="Times New Roman"/>
                        </a:rPr>
                        <a:t>Agent scaffolding</a:t>
                      </a:r>
                    </a:p>
                  </a:txBody>
                  <a:tcPr anchor="ctr" marL="128016" marR="91440" marT="27432" marB="27432"/>
                </a:tc>
                <a:tc>
                  <a:txBody>
                    <a:bodyPr/>
                    <a:lstStyle/>
                    <a:p>
                      <a:r>
                        <a:rPr sz="1700" b="0" i="0">
                          <a:solidFill>
                            <a:srgbClr val="1A1A1A"/>
                          </a:solidFill>
                          <a:latin typeface="Times New Roman"/>
                        </a:rPr>
                        <a:t>LangChain / LlamaIndex</a:t>
                      </a:r>
                    </a:p>
                  </a:txBody>
                  <a:tcPr anchor="ctr" marL="128016" marR="91440" marT="27432" marB="27432"/>
                </a:tc>
                <a:tc>
                  <a:txBody>
                    <a:bodyPr/>
                    <a:lstStyle/>
                    <a:p>
                      <a:r>
                        <a:rPr sz="1700" b="1" i="0">
                          <a:solidFill>
                            <a:srgbClr val="C1272D"/>
                          </a:solidFill>
                          <a:latin typeface="Times New Roman"/>
                        </a:rPr>
                        <a:t>None — a direct harness</a:t>
                      </a:r>
                    </a:p>
                  </a:txBody>
                  <a:tcPr anchor="ctr" marL="128016" marR="91440" marT="27432" marB="27432"/>
                </a:tc>
                <a:tc>
                  <a:txBody>
                    <a:bodyPr/>
                    <a:lstStyle/>
                    <a:p>
                      <a:r>
                        <a:rPr sz="1700" b="0" i="0">
                          <a:solidFill>
                            <a:srgbClr val="1A1A1A"/>
                          </a:solidFill>
                          <a:latin typeface="Times New Roman"/>
                        </a:rPr>
                        <a:t>A framework’s own retrieval would confound the variable under study</a:t>
                      </a:r>
                    </a:p>
                  </a:txBody>
                  <a:tcPr anchor="ctr" marL="128016" marR="91440" marT="27432" marB="27432"/>
                </a:tc>
              </a:tr>
              <a:tr h="594360">
                <a:tc>
                  <a:txBody>
                    <a:bodyPr/>
                    <a:lstStyle/>
                    <a:p>
                      <a:r>
                        <a:rPr sz="1700" b="0" i="0">
                          <a:solidFill>
                            <a:srgbClr val="1A1A1A"/>
                          </a:solidFill>
                          <a:latin typeface="Times New Roman"/>
                        </a:rPr>
                        <a:t>Vector store</a:t>
                      </a:r>
                    </a:p>
                  </a:txBody>
                  <a:tcPr anchor="ctr" marL="128016" marR="91440" marT="27432" marB="27432"/>
                </a:tc>
                <a:tc>
                  <a:txBody>
                    <a:bodyPr/>
                    <a:lstStyle/>
                    <a:p>
                      <a:r>
                        <a:rPr sz="1700" b="0" i="0">
                          <a:solidFill>
                            <a:srgbClr val="1A1A1A"/>
                          </a:solidFill>
                          <a:latin typeface="Times New Roman"/>
                        </a:rPr>
                        <a:t>FAISS / Chroma</a:t>
                      </a:r>
                    </a:p>
                  </a:txBody>
                  <a:tcPr anchor="ctr" marL="128016" marR="91440" marT="27432" marB="27432"/>
                </a:tc>
                <a:tc>
                  <a:txBody>
                    <a:bodyPr/>
                    <a:lstStyle/>
                    <a:p>
                      <a:r>
                        <a:rPr sz="1700" b="1" i="0">
                          <a:solidFill>
                            <a:srgbClr val="C1272D"/>
                          </a:solidFill>
                          <a:latin typeface="Times New Roman"/>
                        </a:rPr>
                        <a:t>NumPy cosine over an in-process store</a:t>
                      </a:r>
                    </a:p>
                  </a:txBody>
                  <a:tcPr anchor="ctr" marL="128016" marR="91440" marT="27432" marB="27432"/>
                </a:tc>
                <a:tc>
                  <a:txBody>
                    <a:bodyPr/>
                    <a:lstStyle/>
                    <a:p>
                      <a:r>
                        <a:rPr sz="1700" b="0" i="0">
                          <a:solidFill>
                            <a:srgbClr val="1A1A1A"/>
                          </a:solidFill>
                          <a:latin typeface="Times New Roman"/>
                        </a:rPr>
                        <a:t>At 10 conversations an ANN index adds approximation error, not speed</a:t>
                      </a:r>
                    </a:p>
                  </a:txBody>
                  <a:tcPr anchor="ctr" marL="128016" marR="91440" marT="27432" marB="27432"/>
                </a:tc>
              </a:tr>
              <a:tr h="594360">
                <a:tc>
                  <a:txBody>
                    <a:bodyPr/>
                    <a:lstStyle/>
                    <a:p>
                      <a:r>
                        <a:rPr sz="1700" b="0" i="0">
                          <a:solidFill>
                            <a:srgbClr val="1A1A1A"/>
                          </a:solidFill>
                          <a:latin typeface="Times New Roman"/>
                        </a:rPr>
                        <a:t>Embeddings</a:t>
                      </a:r>
                    </a:p>
                  </a:txBody>
                  <a:tcPr anchor="ctr" marL="128016" marR="91440" marT="27432" marB="27432"/>
                </a:tc>
                <a:tc>
                  <a:txBody>
                    <a:bodyPr/>
                    <a:lstStyle/>
                    <a:p>
                      <a:r>
                        <a:rPr sz="1700" b="0" i="0">
                          <a:solidFill>
                            <a:srgbClr val="1A1A1A"/>
                          </a:solidFill>
                          <a:latin typeface="Times New Roman"/>
                        </a:rPr>
                        <a:t>Sentence-transformers</a:t>
                      </a:r>
                    </a:p>
                  </a:txBody>
                  <a:tcPr anchor="ctr" marL="128016" marR="91440" marT="27432" marB="27432"/>
                </a:tc>
                <a:tc>
                  <a:txBody>
                    <a:bodyPr/>
                    <a:lstStyle/>
                    <a:p>
                      <a:r>
                        <a:rPr sz="1700" b="0" i="0">
                          <a:solidFill>
                            <a:srgbClr val="1A1A1A"/>
                          </a:solidFill>
                          <a:latin typeface="Times New Roman"/>
                        </a:rPr>
                        <a:t>all-MiniLM-L6-v2, 384-d</a:t>
                      </a:r>
                    </a:p>
                  </a:txBody>
                  <a:tcPr anchor="ctr" marL="128016" marR="91440" marT="27432" marB="27432"/>
                </a:tc>
                <a:tc>
                  <a:txBody>
                    <a:bodyPr/>
                    <a:lstStyle/>
                    <a:p>
                      <a:r>
                        <a:rPr sz="1700" b="0" i="0">
                          <a:solidFill>
                            <a:srgbClr val="1A1A1A"/>
                          </a:solidFill>
                          <a:latin typeface="Times New Roman"/>
                        </a:rPr>
                        <a:t>As proposed; ablated against a hashing fallback</a:t>
                      </a:r>
                    </a:p>
                  </a:txBody>
                  <a:tcPr anchor="ctr" marL="128016" marR="91440" marT="27432" marB="27432"/>
                </a:tc>
              </a:tr>
              <a:tr h="594360">
                <a:tc>
                  <a:txBody>
                    <a:bodyPr/>
                    <a:lstStyle/>
                    <a:p>
                      <a:r>
                        <a:rPr sz="1700" b="0" i="0">
                          <a:solidFill>
                            <a:srgbClr val="1A1A1A"/>
                          </a:solidFill>
                          <a:latin typeface="Times New Roman"/>
                        </a:rPr>
                        <a:t>Tokenisation</a:t>
                      </a:r>
                    </a:p>
                  </a:txBody>
                  <a:tcPr anchor="ctr" marL="128016" marR="91440" marT="27432" marB="27432"/>
                </a:tc>
                <a:tc>
                  <a:txBody>
                    <a:bodyPr/>
                    <a:lstStyle/>
                    <a:p>
                      <a:r>
                        <a:rPr sz="1700" b="0" i="0">
                          <a:solidFill>
                            <a:srgbClr val="1A1A1A"/>
                          </a:solidFill>
                          <a:latin typeface="Times New Roman"/>
                        </a:rPr>
                        <a:t>—</a:t>
                      </a:r>
                    </a:p>
                  </a:txBody>
                  <a:tcPr anchor="ctr" marL="128016" marR="91440" marT="27432" marB="27432"/>
                </a:tc>
                <a:tc>
                  <a:txBody>
                    <a:bodyPr/>
                    <a:lstStyle/>
                    <a:p>
                      <a:r>
                        <a:rPr sz="1700" b="1" i="0">
                          <a:solidFill>
                            <a:srgbClr val="C1272D"/>
                          </a:solidFill>
                          <a:latin typeface="Times New Roman"/>
                        </a:rPr>
                        <a:t>tiktoken cl100k_base</a:t>
                      </a:r>
                    </a:p>
                  </a:txBody>
                  <a:tcPr anchor="ctr" marL="128016" marR="91440" marT="27432" marB="27432"/>
                </a:tc>
                <a:tc>
                  <a:txBody>
                    <a:bodyPr/>
                    <a:lstStyle/>
                    <a:p>
                      <a:r>
                        <a:rPr sz="1700" b="0" i="0">
                          <a:solidFill>
                            <a:srgbClr val="1A1A1A"/>
                          </a:solidFill>
                          <a:latin typeface="Times New Roman"/>
                        </a:rPr>
                        <a:t>Budgets must be exact tokens, not a word-count proxy</a:t>
                      </a:r>
                    </a:p>
                  </a:txBody>
                  <a:tcPr anchor="ctr" marL="128016" marR="91440" marT="27432" marB="27432"/>
                </a:tc>
              </a:tr>
              <a:tr h="594360">
                <a:tc>
                  <a:txBody>
                    <a:bodyPr/>
                    <a:lstStyle/>
                    <a:p>
                      <a:r>
                        <a:rPr sz="1700" b="0" i="0">
                          <a:solidFill>
                            <a:srgbClr val="1A1A1A"/>
                          </a:solidFill>
                          <a:latin typeface="Times New Roman"/>
                        </a:rPr>
                        <a:t>Evaluation</a:t>
                      </a:r>
                    </a:p>
                  </a:txBody>
                  <a:tcPr anchor="ctr" marL="128016" marR="91440" marT="27432" marB="27432"/>
                </a:tc>
                <a:tc>
                  <a:txBody>
                    <a:bodyPr/>
                    <a:lstStyle/>
                    <a:p>
                      <a:r>
                        <a:rPr sz="1700" b="0" i="0">
                          <a:solidFill>
                            <a:srgbClr val="1A1A1A"/>
                          </a:solidFill>
                          <a:latin typeface="Times New Roman"/>
                        </a:rPr>
                        <a:t>End-task F1 on a long-conversation benchmark</a:t>
                      </a:r>
                    </a:p>
                  </a:txBody>
                  <a:tcPr anchor="ctr" marL="128016" marR="91440" marT="27432" marB="27432"/>
                </a:tc>
                <a:tc>
                  <a:txBody>
                    <a:bodyPr/>
                    <a:lstStyle/>
                    <a:p>
                      <a:r>
                        <a:rPr sz="1700" b="1" i="0">
                          <a:solidFill>
                            <a:srgbClr val="C1272D"/>
                          </a:solidFill>
                          <a:latin typeface="Times New Roman"/>
                        </a:rPr>
                        <a:t>Context recall + answer presence, then end-task</a:t>
                      </a:r>
                    </a:p>
                  </a:txBody>
                  <a:tcPr anchor="ctr" marL="128016" marR="91440" marT="27432" marB="27432"/>
                </a:tc>
                <a:tc>
                  <a:txBody>
                    <a:bodyPr/>
                    <a:lstStyle/>
                    <a:p>
                      <a:r>
                        <a:rPr sz="1700" b="0" i="0">
                          <a:solidFill>
                            <a:srgbClr val="1A1A1A"/>
                          </a:solidFill>
                          <a:latin typeface="Times New Roman"/>
                        </a:rPr>
                        <a:t>Recall isolates the policy from the reader’s reasoning, and bounds it</a:t>
                      </a:r>
                    </a:p>
                  </a:txBody>
                  <a:tcPr anchor="ctr" marL="128016" marR="91440" marT="27432" marB="27432"/>
                </a:tc>
              </a:tr>
              <a:tr h="594360">
                <a:tc>
                  <a:txBody>
                    <a:bodyPr/>
                    <a:lstStyle/>
                    <a:p>
                      <a:r>
                        <a:rPr sz="1700" b="0" i="0">
                          <a:solidFill>
                            <a:srgbClr val="1A1A1A"/>
                          </a:solidFill>
                          <a:latin typeface="Times New Roman"/>
                        </a:rPr>
                        <a:t>Statistics</a:t>
                      </a:r>
                    </a:p>
                  </a:txBody>
                  <a:tcPr anchor="ctr" marL="128016" marR="91440" marT="27432" marB="27432"/>
                </a:tc>
                <a:tc>
                  <a:txBody>
                    <a:bodyPr/>
                    <a:lstStyle/>
                    <a:p>
                      <a:r>
                        <a:rPr sz="1700" b="0" i="0">
                          <a:solidFill>
                            <a:srgbClr val="1A1A1A"/>
                          </a:solidFill>
                          <a:latin typeface="Times New Roman"/>
                        </a:rPr>
                        <a:t>—</a:t>
                      </a:r>
                    </a:p>
                  </a:txBody>
                  <a:tcPr anchor="ctr" marL="128016" marR="91440" marT="27432" marB="27432"/>
                </a:tc>
                <a:tc>
                  <a:txBody>
                    <a:bodyPr/>
                    <a:lstStyle/>
                    <a:p>
                      <a:r>
                        <a:rPr sz="1700" b="1" i="0">
                          <a:solidFill>
                            <a:srgbClr val="C1272D"/>
                          </a:solidFill>
                          <a:latin typeface="Times New Roman"/>
                        </a:rPr>
                        <a:t>Paired bootstrap (B = 10,000) + exact McNemar</a:t>
                      </a:r>
                    </a:p>
                  </a:txBody>
                  <a:tcPr anchor="ctr" marL="128016" marR="91440" marT="27432" marB="27432"/>
                </a:tc>
                <a:tc>
                  <a:txBody>
                    <a:bodyPr/>
                    <a:lstStyle/>
                    <a:p>
                      <a:pPr algn="r"/>
                      <a:r>
                        <a:rPr sz="1700" b="0" i="0">
                          <a:solidFill>
                            <a:srgbClr val="1A1A1A"/>
                          </a:solidFill>
                          <a:latin typeface="Times New Roman"/>
                        </a:rPr>
                        <a:t>1,527 questions from 10 conversations are not 1,527 trials</a:t>
                      </a:r>
                    </a:p>
                  </a:txBody>
                  <a:tcPr anchor="ctr" marL="128016" marR="91440" marT="27432" marB="27432"/>
                </a:tc>
              </a:tr>
            </a:tbl>
          </a:graphicData>
        </a:graphic>
      </p:graphicFrame>
      <p:sp>
        <p:nvSpPr>
          <p:cNvPr id="5" name="Rectangle 4"/>
          <p:cNvSpPr/>
          <p:nvPr/>
        </p:nvSpPr>
        <p:spPr>
          <a:xfrm>
            <a:off x="822960" y="7635240"/>
            <a:ext cx="64008" cy="1234440"/>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86968" y="7635240"/>
            <a:ext cx="16578072" cy="1234440"/>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7726679"/>
            <a:ext cx="16002000" cy="1051560"/>
          </a:xfrm>
          <a:prstGeom prst="rect">
            <a:avLst/>
          </a:prstGeom>
          <a:noFill/>
        </p:spPr>
        <p:txBody>
          <a:bodyPr wrap="square" anchor="ctr">
            <a:spAutoFit/>
          </a:bodyPr>
          <a:lstStyle/>
          <a:p>
            <a:pPr>
              <a:lnSpc>
                <a:spcPct val="105000"/>
              </a:lnSpc>
            </a:pPr>
            <a:r>
              <a:rPr sz="1700" b="1" i="0">
                <a:solidFill>
                  <a:srgbClr val="C1272D"/>
                </a:solidFill>
                <a:latin typeface="Times New Roman"/>
              </a:rPr>
              <a:t>WHY IT MATTERS   </a:t>
            </a:r>
            <a:r>
              <a:rPr sz="2300" b="0" i="0">
                <a:solidFill>
                  <a:srgbClr val="1A1A1A"/>
                </a:solidFill>
                <a:latin typeface="Times New Roman"/>
              </a:rPr>
              <a:t>This is not scope reduction. Running everything locally and free is what made 35 storage configurations, 23 ablations, a 10,000-sample bootstrap and a 36-point scaling sweep affordable to re-run on every change.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4200" b="1" i="0">
                <a:solidFill>
                  <a:srgbClr val="111111"/>
                </a:solidFill>
                <a:latin typeface="Times New Roman"/>
              </a:rPr>
              <a:t>Verification and engineering discipline</a:t>
            </a:r>
          </a:p>
        </p:txBody>
      </p:sp>
      <p:sp>
        <p:nvSpPr>
          <p:cNvPr id="3" name="TextBox 2"/>
          <p:cNvSpPr txBox="1"/>
          <p:nvPr/>
        </p:nvSpPr>
        <p:spPr>
          <a:xfrm>
            <a:off x="2834640" y="1700784"/>
            <a:ext cx="12618720" cy="731520"/>
          </a:xfrm>
          <a:prstGeom prst="rect">
            <a:avLst/>
          </a:prstGeom>
          <a:noFill/>
        </p:spPr>
        <p:txBody>
          <a:bodyPr wrap="square" tIns="0" bIns="0">
            <a:spAutoFit/>
          </a:bodyPr>
          <a:lstStyle/>
          <a:p>
            <a:pPr algn="ctr"/>
            <a:r>
              <a:rPr sz="1800" b="0" i="1">
                <a:solidFill>
                  <a:srgbClr val="5A5A5A"/>
                </a:solidFill>
                <a:latin typeface="Times New Roman"/>
              </a:rPr>
              <a:t>Each guard exists because the failure it prevents already happened once.</a:t>
            </a:r>
          </a:p>
        </p:txBody>
      </p:sp>
      <p:graphicFrame>
        <p:nvGraphicFramePr>
          <p:cNvPr id="4" name="Table 3"/>
          <p:cNvGraphicFramePr>
            <a:graphicFrameLocks noGrp="1"/>
          </p:cNvGraphicFramePr>
          <p:nvPr/>
        </p:nvGraphicFramePr>
        <p:xfrm>
          <a:off x="822960" y="2514600"/>
          <a:ext cx="16642080" cy="5120640"/>
        </p:xfrm>
        <a:graphic>
          <a:graphicData uri="http://schemas.openxmlformats.org/drawingml/2006/table">
            <a:tbl>
              <a:tblPr firstRow="1" bandRow="1">
                <a:tableStyleId>{5C22544A-7EE6-4342-B048-85BDC9FD1C3A}</a:tableStyleId>
              </a:tblPr>
              <a:tblGrid>
                <a:gridCol w="5669280"/>
                <a:gridCol w="10972800"/>
              </a:tblGrid>
              <a:tr h="640080">
                <a:tc>
                  <a:txBody>
                    <a:bodyPr/>
                    <a:lstStyle/>
                    <a:p>
                      <a:r>
                        <a:rPr sz="1900" b="1" i="0">
                          <a:solidFill>
                            <a:srgbClr val="111111"/>
                          </a:solidFill>
                          <a:latin typeface="Times New Roman"/>
                        </a:rPr>
                        <a:t>Guard</a:t>
                      </a:r>
                    </a:p>
                  </a:txBody>
                  <a:tcPr anchor="ctr" marL="128016" marR="91440" marT="27432" marB="27432"/>
                </a:tc>
                <a:tc>
                  <a:txBody>
                    <a:bodyPr/>
                    <a:lstStyle/>
                    <a:p>
                      <a:r>
                        <a:rPr sz="1900" b="1" i="0">
                          <a:solidFill>
                            <a:srgbClr val="111111"/>
                          </a:solidFill>
                          <a:latin typeface="Times New Roman"/>
                        </a:rPr>
                        <a:t>What it prevents</a:t>
                      </a:r>
                    </a:p>
                  </a:txBody>
                  <a:tcPr anchor="ctr" marL="128016" marR="91440" marT="27432" marB="27432"/>
                </a:tc>
              </a:tr>
              <a:tr h="640080">
                <a:tc>
                  <a:txBody>
                    <a:bodyPr/>
                    <a:lstStyle/>
                    <a:p>
                      <a:r>
                        <a:rPr sz="1900" b="0" i="0">
                          <a:solidFill>
                            <a:srgbClr val="1A1A1A"/>
                          </a:solidFill>
                          <a:latin typeface="Times New Roman"/>
                        </a:rPr>
                        <a:t>71 tests (test_memgate.py)</a:t>
                      </a:r>
                    </a:p>
                  </a:txBody>
                  <a:tcPr anchor="ctr" marL="128016" marR="91440" marT="27432" marB="27432"/>
                </a:tc>
                <a:tc>
                  <a:txBody>
                    <a:bodyPr/>
                    <a:lstStyle/>
                    <a:p>
                      <a:r>
                        <a:rPr sz="1900" b="0" i="0">
                          <a:solidFill>
                            <a:srgbClr val="1A1A1A"/>
                          </a:solidFill>
                          <a:latin typeface="Times New Roman"/>
                        </a:rPr>
                        <a:t>Regression across the store, scorers, policies, compressor and harness</a:t>
                      </a:r>
                    </a:p>
                  </a:txBody>
                  <a:tcPr anchor="ctr" marL="128016" marR="91440" marT="27432" marB="27432"/>
                </a:tc>
              </a:tr>
              <a:tr h="640080">
                <a:tc>
                  <a:txBody>
                    <a:bodyPr/>
                    <a:lstStyle/>
                    <a:p>
                      <a:r>
                        <a:rPr sz="1900" b="1" i="0">
                          <a:solidFill>
                            <a:srgbClr val="C1272D"/>
                          </a:solidFill>
                          <a:latin typeface="Times New Roman"/>
                        </a:rPr>
                        <a:t>3 label-blindness invariants</a:t>
                      </a:r>
                    </a:p>
                  </a:txBody>
                  <a:tcPr anchor="ctr" marL="128016" marR="91440" marT="27432" marB="27432"/>
                </a:tc>
                <a:tc>
                  <a:txBody>
                    <a:bodyPr/>
                    <a:lstStyle/>
                    <a:p>
                      <a:r>
                        <a:rPr sz="1900" b="1" i="0">
                          <a:solidFill>
                            <a:srgbClr val="C1272D"/>
                          </a:solidFill>
                          <a:latin typeface="Times New Roman"/>
                        </a:rPr>
                        <a:t>The evaluation leak, re-armed. Routing, eviction and demotion must produce a bit-identical store when every evaluation label is stripped</a:t>
                      </a:r>
                    </a:p>
                  </a:txBody>
                  <a:tcPr anchor="ctr" marL="128016" marR="91440" marT="27432" marB="27432"/>
                </a:tc>
              </a:tr>
              <a:tr h="640080">
                <a:tc>
                  <a:txBody>
                    <a:bodyPr/>
                    <a:lstStyle/>
                    <a:p>
                      <a:r>
                        <a:rPr sz="1900" b="0" i="0">
                          <a:solidFill>
                            <a:srgbClr val="1A1A1A"/>
                          </a:solidFill>
                          <a:latin typeface="Times New Roman"/>
                        </a:rPr>
                        <a:t>Offline pinning on import (HF_HUB_OFFLINE)</a:t>
                      </a:r>
                    </a:p>
                  </a:txBody>
                  <a:tcPr anchor="ctr" marL="128016" marR="91440" marT="27432" marB="27432"/>
                </a:tc>
                <a:tc>
                  <a:txBody>
                    <a:bodyPr/>
                    <a:lstStyle/>
                    <a:p>
                      <a:r>
                        <a:rPr sz="1900" b="0" i="0">
                          <a:solidFill>
                            <a:srgbClr val="1A1A1A"/>
                          </a:solidFill>
                          <a:latin typeface="Times New Roman"/>
                        </a:rPr>
                        <a:t>A silently fetched or half-downloaded model relabelling a whole results table — this already happened once, with MiniLM</a:t>
                      </a:r>
                    </a:p>
                  </a:txBody>
                  <a:tcPr anchor="ctr" marL="128016" marR="91440" marT="27432" marB="27432"/>
                </a:tc>
              </a:tr>
              <a:tr h="640080">
                <a:tc>
                  <a:txBody>
                    <a:bodyPr/>
                    <a:lstStyle/>
                    <a:p>
                      <a:r>
                        <a:rPr sz="1900" b="0" i="0">
                          <a:solidFill>
                            <a:srgbClr val="1A1A1A"/>
                          </a:solidFill>
                          <a:latin typeface="Times New Roman"/>
                        </a:rPr>
                        <a:t>Backend provenance (backend_info())</a:t>
                      </a:r>
                    </a:p>
                  </a:txBody>
                  <a:tcPr anchor="ctr" marL="128016" marR="91440" marT="27432" marB="27432"/>
                </a:tc>
                <a:tc>
                  <a:txBody>
                    <a:bodyPr/>
                    <a:lstStyle/>
                    <a:p>
                      <a:r>
                        <a:rPr sz="1900" b="0" i="0">
                          <a:solidFill>
                            <a:srgbClr val="1A1A1A"/>
                          </a:solidFill>
                          <a:latin typeface="Times New Roman"/>
                        </a:rPr>
                        <a:t>Reporting a MiniLM number that the hashing fallback actually produced</a:t>
                      </a:r>
                    </a:p>
                  </a:txBody>
                  <a:tcPr anchor="ctr" marL="128016" marR="91440" marT="27432" marB="27432"/>
                </a:tc>
              </a:tr>
              <a:tr h="640080">
                <a:tc>
                  <a:txBody>
                    <a:bodyPr/>
                    <a:lstStyle/>
                    <a:p>
                      <a:r>
                        <a:rPr sz="1900" b="0" i="0">
                          <a:solidFill>
                            <a:srgbClr val="1A1A1A"/>
                          </a:solidFill>
                          <a:latin typeface="Times New Roman"/>
                        </a:rPr>
                        <a:t>NaN guard in the judge</a:t>
                      </a:r>
                    </a:p>
                  </a:txBody>
                  <a:tcPr anchor="ctr" marL="128016" marR="91440" marT="27432" marB="27432"/>
                </a:tc>
                <a:tc>
                  <a:txBody>
                    <a:bodyPr/>
                    <a:lstStyle/>
                    <a:p>
                      <a:r>
                        <a:rPr sz="1900" b="0" i="0">
                          <a:solidFill>
                            <a:srgbClr val="1A1A1A"/>
                          </a:solidFill>
                          <a:latin typeface="Times New Roman"/>
                        </a:rPr>
                        <a:t>Filler turns scoring NaN and inverting the eviction order</a:t>
                      </a:r>
                    </a:p>
                  </a:txBody>
                  <a:tcPr anchor="ctr" marL="128016" marR="91440" marT="27432" marB="27432"/>
                </a:tc>
              </a:tr>
              <a:tr h="640080">
                <a:tc>
                  <a:txBody>
                    <a:bodyPr/>
                    <a:lstStyle/>
                    <a:p>
                      <a:r>
                        <a:rPr sz="1900" b="0" i="0">
                          <a:solidFill>
                            <a:srgbClr val="1A1A1A"/>
                          </a:solidFill>
                          <a:latin typeface="Times New Roman"/>
                        </a:rPr>
                        <a:t>Generation caches keyed by (model, prompt)</a:t>
                      </a:r>
                    </a:p>
                  </a:txBody>
                  <a:tcPr anchor="ctr" marL="128016" marR="91440" marT="27432" marB="27432"/>
                </a:tc>
                <a:tc>
                  <a:txBody>
                    <a:bodyPr/>
                    <a:lstStyle/>
                    <a:p>
                      <a:r>
                        <a:rPr sz="1900" b="0" i="0">
                          <a:solidFill>
                            <a:srgbClr val="1A1A1A"/>
                          </a:solidFill>
                          <a:latin typeface="Times New Roman"/>
                        </a:rPr>
                        <a:t>Non-reproducible LLM output; also what makes long runs resumable</a:t>
                      </a:r>
                    </a:p>
                  </a:txBody>
                  <a:tcPr anchor="ctr" marL="128016" marR="91440" marT="27432" marB="27432"/>
                </a:tc>
              </a:tr>
              <a:tr h="640080">
                <a:tc>
                  <a:txBody>
                    <a:bodyPr/>
                    <a:lstStyle/>
                    <a:p>
                      <a:r>
                        <a:rPr sz="1900" b="0" i="0">
                          <a:solidFill>
                            <a:srgbClr val="1A1A1A"/>
                          </a:solidFill>
                          <a:latin typeface="Times New Roman"/>
                        </a:rPr>
                        <a:t>Results committed with the code</a:t>
                      </a:r>
                    </a:p>
                  </a:txBody>
                  <a:tcPr anchor="ctr" marL="128016" marR="91440" marT="27432" marB="27432"/>
                </a:tc>
                <a:tc>
                  <a:txBody>
                    <a:bodyPr/>
                    <a:lstStyle/>
                    <a:p>
                      <a:r>
                        <a:rPr sz="1900" b="0" i="0">
                          <a:solidFill>
                            <a:srgbClr val="1A1A1A"/>
                          </a:solidFill>
                          <a:latin typeface="Times New Roman"/>
                        </a:rPr>
                        <a:t>A figure in a report that no longer matches the code that made it</a:t>
                      </a:r>
                    </a:p>
                  </a:txBody>
                  <a:tcPr anchor="ctr" marL="128016" marR="91440" marT="27432" marB="27432"/>
                </a:tc>
              </a:tr>
            </a:tbl>
          </a:graphicData>
        </a:graphic>
      </p:graphicFrame>
      <p:sp>
        <p:nvSpPr>
          <p:cNvPr id="5" name="Rectangle 4"/>
          <p:cNvSpPr/>
          <p:nvPr/>
        </p:nvSpPr>
        <p:spPr>
          <a:xfrm>
            <a:off x="822960" y="8686800"/>
            <a:ext cx="64008" cy="1005840"/>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86968" y="8686800"/>
            <a:ext cx="16578072" cy="1005840"/>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8778240"/>
            <a:ext cx="16002000" cy="822960"/>
          </a:xfrm>
          <a:prstGeom prst="rect">
            <a:avLst/>
          </a:prstGeom>
          <a:noFill/>
        </p:spPr>
        <p:txBody>
          <a:bodyPr wrap="square" anchor="ctr">
            <a:spAutoFit/>
          </a:bodyPr>
          <a:lstStyle/>
          <a:p>
            <a:pPr>
              <a:lnSpc>
                <a:spcPct val="105000"/>
              </a:lnSpc>
            </a:pPr>
            <a:r>
              <a:rPr sz="1700" b="1" i="0">
                <a:solidFill>
                  <a:srgbClr val="C1272D"/>
                </a:solidFill>
                <a:latin typeface="Times New Roman"/>
              </a:rPr>
              <a:t>THE RULE ADOPTED   </a:t>
            </a:r>
            <a:r>
              <a:rPr sz="2300" b="0" i="0">
                <a:solidFill>
                  <a:srgbClr val="1A1A1A"/>
                </a:solidFill>
                <a:latin typeface="Times New Roman"/>
              </a:rPr>
              <a:t>The fix for a leak is a test, not a comment. Each new decision point is added to the invariant before any number from it is quoted.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4200" b="1" i="0">
                <a:solidFill>
                  <a:srgbClr val="111111"/>
                </a:solidFill>
                <a:latin typeface="Times New Roman"/>
              </a:rPr>
              <a:t>Deliverables</a:t>
            </a:r>
          </a:p>
        </p:txBody>
      </p:sp>
      <p:sp>
        <p:nvSpPr>
          <p:cNvPr id="3" name="TextBox 2"/>
          <p:cNvSpPr txBox="1"/>
          <p:nvPr/>
        </p:nvSpPr>
        <p:spPr>
          <a:xfrm>
            <a:off x="2834640" y="1700784"/>
            <a:ext cx="12618720" cy="731520"/>
          </a:xfrm>
          <a:prstGeom prst="rect">
            <a:avLst/>
          </a:prstGeom>
          <a:noFill/>
        </p:spPr>
        <p:txBody>
          <a:bodyPr wrap="square" tIns="0" bIns="0">
            <a:spAutoFit/>
          </a:bodyPr>
          <a:lstStyle/>
          <a:p>
            <a:pPr algn="ctr"/>
            <a:r>
              <a:rPr sz="1800" b="0" i="1">
                <a:solidFill>
                  <a:srgbClr val="5A5A5A"/>
                </a:solidFill>
                <a:latin typeface="Times New Roman"/>
              </a:rPr>
              <a:t>Everything below is in the repository and reproducible from source.</a:t>
            </a:r>
          </a:p>
        </p:txBody>
      </p:sp>
      <p:sp>
        <p:nvSpPr>
          <p:cNvPr id="4" name="TextBox 3"/>
          <p:cNvSpPr txBox="1"/>
          <p:nvPr/>
        </p:nvSpPr>
        <p:spPr>
          <a:xfrm>
            <a:off x="822960" y="2514600"/>
            <a:ext cx="16642080" cy="5201666"/>
          </a:xfrm>
          <a:prstGeom prst="rect">
            <a:avLst/>
          </a:prstGeom>
          <a:noFill/>
        </p:spPr>
        <p:txBody>
          <a:bodyPr wrap="square">
            <a:spAutoFit/>
          </a:bodyPr>
          <a:lstStyle/>
          <a:p>
            <a:pPr>
              <a:lnSpc>
                <a:spcPct val="105000"/>
              </a:lnSpc>
              <a:spcAft>
                <a:spcPts val="1000"/>
              </a:spcAft>
            </a:pPr>
            <a:r>
              <a:rPr sz="2300" b="0" i="0">
                <a:solidFill>
                  <a:srgbClr val="C1272D"/>
                </a:solidFill>
                <a:latin typeface="Times New Roman"/>
              </a:rPr>
              <a:t>•  </a:t>
            </a:r>
            <a:r>
              <a:rPr sz="2300" b="1" i="0">
                <a:solidFill>
                  <a:srgbClr val="1A1A1A"/>
                </a:solidFill>
                <a:latin typeface="Times New Roman"/>
              </a:rPr>
              <a:t>REPORT.md </a:t>
            </a:r>
            <a:r>
              <a:rPr sz="2300" b="0" i="0">
                <a:solidFill>
                  <a:srgbClr val="1A1A1A"/>
                </a:solidFill>
                <a:latin typeface="Times New Roman"/>
              </a:rPr>
              <a:t>— the paper-ready writeup: abstract, method, results with intervals, methodological findings, limitations.</a:t>
            </a:r>
          </a:p>
          <a:p>
            <a:pPr>
              <a:lnSpc>
                <a:spcPct val="105000"/>
              </a:lnSpc>
              <a:spcAft>
                <a:spcPts val="1000"/>
              </a:spcAft>
            </a:pPr>
            <a:r>
              <a:rPr sz="2300" b="0" i="0">
                <a:solidFill>
                  <a:srgbClr val="C1272D"/>
                </a:solidFill>
                <a:latin typeface="Times New Roman"/>
              </a:rPr>
              <a:t>•  </a:t>
            </a:r>
            <a:r>
              <a:rPr sz="2300" b="1" i="0">
                <a:solidFill>
                  <a:srgbClr val="1A1A1A"/>
                </a:solidFill>
                <a:latin typeface="Times New Roman"/>
              </a:rPr>
              <a:t>docs/REVIEW2_PROGRESS_REPORT.md </a:t>
            </a:r>
            <a:r>
              <a:rPr sz="2300" b="0" i="0">
                <a:solidFill>
                  <a:srgbClr val="1A1A1A"/>
                </a:solidFill>
                <a:latin typeface="Times New Roman"/>
              </a:rPr>
              <a:t>— this review’s progress report: status, what changed since Review 1, the full technology inventory, and the plan to the final review.</a:t>
            </a:r>
          </a:p>
          <a:p>
            <a:pPr>
              <a:lnSpc>
                <a:spcPct val="105000"/>
              </a:lnSpc>
              <a:spcAft>
                <a:spcPts val="1000"/>
              </a:spcAft>
            </a:pPr>
            <a:r>
              <a:rPr sz="2300" b="0" i="0">
                <a:solidFill>
                  <a:srgbClr val="C1272D"/>
                </a:solidFill>
                <a:latin typeface="Times New Roman"/>
              </a:rPr>
              <a:t>•  </a:t>
            </a:r>
            <a:r>
              <a:rPr sz="2300" b="1" i="0">
                <a:solidFill>
                  <a:srgbClr val="1A1A1A"/>
                </a:solidFill>
                <a:latin typeface="Times New Roman"/>
              </a:rPr>
              <a:t>SESSION_RECORD.md </a:t>
            </a:r>
            <a:r>
              <a:rPr sz="2300" b="0" i="0">
                <a:solidFill>
                  <a:srgbClr val="1A1A1A"/>
                </a:solidFill>
                <a:latin typeface="Times New Roman"/>
              </a:rPr>
              <a:t>— the complete working record, §1–§33, written to be picked up cold.</a:t>
            </a:r>
          </a:p>
          <a:p>
            <a:pPr>
              <a:lnSpc>
                <a:spcPct val="105000"/>
              </a:lnSpc>
              <a:spcAft>
                <a:spcPts val="1000"/>
              </a:spcAft>
            </a:pPr>
            <a:r>
              <a:rPr sz="2300" b="0" i="0">
                <a:solidFill>
                  <a:srgbClr val="C1272D"/>
                </a:solidFill>
                <a:latin typeface="Times New Roman"/>
              </a:rPr>
              <a:t>•  </a:t>
            </a:r>
            <a:r>
              <a:rPr sz="2300" b="1" i="0">
                <a:solidFill>
                  <a:srgbClr val="1A1A1A"/>
                </a:solidFill>
                <a:latin typeface="Times New Roman"/>
              </a:rPr>
              <a:t>frontend/index.html </a:t>
            </a:r>
            <a:r>
              <a:rPr sz="2300" b="0" i="0">
                <a:solidFill>
                  <a:srgbClr val="1A1A1A"/>
                </a:solidFill>
                <a:latin typeface="Times New Roman"/>
              </a:rPr>
              <a:t>— an interactive results dashboard. Every figure on it is read from the committed CSVs by frontend/build_data.py; nothing is typed by hand.</a:t>
            </a:r>
          </a:p>
          <a:p>
            <a:pPr>
              <a:lnSpc>
                <a:spcPct val="105000"/>
              </a:lnSpc>
              <a:spcAft>
                <a:spcPts val="1000"/>
              </a:spcAft>
            </a:pPr>
            <a:r>
              <a:rPr sz="2300" b="0" i="0">
                <a:solidFill>
                  <a:srgbClr val="C1272D"/>
                </a:solidFill>
                <a:latin typeface="Times New Roman"/>
              </a:rPr>
              <a:t>•  </a:t>
            </a:r>
            <a:r>
              <a:rPr sz="2300" b="1" i="0">
                <a:solidFill>
                  <a:srgbClr val="1A1A1A"/>
                </a:solidFill>
                <a:latin typeface="Times New Roman"/>
              </a:rPr>
              <a:t>memgate/ </a:t>
            </a:r>
            <a:r>
              <a:rPr sz="2300" b="0" i="0">
                <a:solidFill>
                  <a:srgbClr val="1A1A1A"/>
                </a:solidFill>
                <a:latin typeface="Times New Roman"/>
              </a:rPr>
              <a:t>— ~6,500 lines of Python: the library, 17 runnable experiments, 71 tests.</a:t>
            </a:r>
          </a:p>
          <a:p>
            <a:pPr>
              <a:lnSpc>
                <a:spcPct val="105000"/>
              </a:lnSpc>
              <a:spcAft>
                <a:spcPts val="1000"/>
              </a:spcAft>
            </a:pPr>
            <a:r>
              <a:rPr sz="2300" b="0" i="0">
                <a:solidFill>
                  <a:srgbClr val="C1272D"/>
                </a:solidFill>
                <a:latin typeface="Times New Roman"/>
              </a:rPr>
              <a:t>•  </a:t>
            </a:r>
            <a:r>
              <a:rPr sz="2300" b="1" i="0">
                <a:solidFill>
                  <a:srgbClr val="1A1A1A"/>
                </a:solidFill>
                <a:latin typeface="Times New Roman"/>
              </a:rPr>
              <a:t>paper/main.pdf </a:t>
            </a:r>
            <a:r>
              <a:rPr sz="2300" b="0" i="0">
                <a:solidFill>
                  <a:srgbClr val="1A1A1A"/>
                </a:solidFill>
                <a:latin typeface="Times New Roman"/>
              </a:rPr>
              <a:t>— the IEEE conference paper, 6 pages, compiled from paper/main.tex with every table generated from the committed CSVs.</a:t>
            </a:r>
          </a:p>
          <a:p>
            <a:pPr>
              <a:lnSpc>
                <a:spcPct val="105000"/>
              </a:lnSpc>
              <a:spcAft>
                <a:spcPts val="1000"/>
              </a:spcAft>
            </a:pPr>
            <a:r>
              <a:rPr sz="2300" b="0" i="0">
                <a:solidFill>
                  <a:srgbClr val="C1272D"/>
                </a:solidFill>
                <a:latin typeface="Times New Roman"/>
              </a:rPr>
              <a:t>•  </a:t>
            </a:r>
            <a:r>
              <a:rPr sz="2300" b="1" i="0">
                <a:solidFill>
                  <a:srgbClr val="1A1A1A"/>
                </a:solidFill>
                <a:latin typeface="Times New Roman"/>
              </a:rPr>
              <a:t>memgate/results/ </a:t>
            </a:r>
            <a:r>
              <a:rPr sz="2300" b="0" i="0">
                <a:solidFill>
                  <a:srgbClr val="1A1A1A"/>
                </a:solidFill>
                <a:latin typeface="Times New Roman"/>
              </a:rPr>
              <a:t>— every CSV and every figure quoted in this deck, committed alongside the code that produced them.</a:t>
            </a:r>
          </a:p>
          <a:p>
            <a:pPr>
              <a:lnSpc>
                <a:spcPct val="105000"/>
              </a:lnSpc>
              <a:spcAft>
                <a:spcPts val="1000"/>
              </a:spcAft>
            </a:pPr>
            <a:r>
              <a:rPr sz="2300" b="0" i="0">
                <a:solidFill>
                  <a:srgbClr val="C1272D"/>
                </a:solidFill>
                <a:latin typeface="Times New Roman"/>
              </a:rPr>
              <a:t>•  </a:t>
            </a:r>
            <a:r>
              <a:rPr sz="2300" b="1" i="0">
                <a:solidFill>
                  <a:srgbClr val="1A1A1A"/>
                </a:solidFill>
                <a:latin typeface="Times New Roman"/>
              </a:rPr>
              <a:t>docs/make_review2_deck.py </a:t>
            </a:r>
            <a:r>
              <a:rPr sz="2300" b="0" i="0">
                <a:solidFill>
                  <a:srgbClr val="1A1A1A"/>
                </a:solidFill>
                <a:latin typeface="Times New Roman"/>
              </a:rPr>
              <a:t>— this deck, generated from those same CSVs.</a:t>
            </a:r>
          </a:p>
        </p:txBody>
      </p:sp>
      <p:sp>
        <p:nvSpPr>
          <p:cNvPr id="5" name="Rectangle 4"/>
          <p:cNvSpPr/>
          <p:nvPr/>
        </p:nvSpPr>
        <p:spPr>
          <a:xfrm>
            <a:off x="822960" y="8686800"/>
            <a:ext cx="64008" cy="1005840"/>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86968" y="8686800"/>
            <a:ext cx="16578072" cy="1005840"/>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8778240"/>
            <a:ext cx="16002000" cy="822960"/>
          </a:xfrm>
          <a:prstGeom prst="rect">
            <a:avLst/>
          </a:prstGeom>
          <a:noFill/>
        </p:spPr>
        <p:txBody>
          <a:bodyPr wrap="square" anchor="ctr">
            <a:spAutoFit/>
          </a:bodyPr>
          <a:lstStyle/>
          <a:p>
            <a:pPr>
              <a:lnSpc>
                <a:spcPct val="105000"/>
              </a:lnSpc>
            </a:pPr>
            <a:r>
              <a:rPr sz="2300" b="0" i="0">
                <a:solidFill>
                  <a:srgbClr val="1A1A1A"/>
                </a:solidFill>
                <a:latin typeface="Times New Roman"/>
              </a:rPr>
              <a:t>A reviewer can check every number in this deck without a nine-minute benchmark run: the results are committed, and each slide names the file it came from.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4200" b="1" i="0">
                <a:solidFill>
                  <a:srgbClr val="111111"/>
                </a:solidFill>
                <a:latin typeface="Times New Roman"/>
              </a:rPr>
              <a:t>Timeline</a:t>
            </a:r>
          </a:p>
        </p:txBody>
      </p:sp>
      <p:sp>
        <p:nvSpPr>
          <p:cNvPr id="3" name="Rounded Rectangle 2"/>
          <p:cNvSpPr/>
          <p:nvPr/>
        </p:nvSpPr>
        <p:spPr>
          <a:xfrm>
            <a:off x="6492240" y="2468880"/>
            <a:ext cx="2066543" cy="502920"/>
          </a:xfrm>
          <a:prstGeom prst="roundRect">
            <a:avLst/>
          </a:prstGeom>
          <a:solidFill>
            <a:srgbClr val="F2F2F0"/>
          </a:solidFill>
          <a:ln>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0" i="0">
                <a:solidFill>
                  <a:srgbClr val="5A5A5A"/>
                </a:solidFill>
                <a:latin typeface="Times New Roman"/>
              </a:rPr>
              <a:t>Jul ’26</a:t>
            </a:r>
          </a:p>
        </p:txBody>
      </p:sp>
      <p:sp>
        <p:nvSpPr>
          <p:cNvPr id="4" name="Rounded Rectangle 3"/>
          <p:cNvSpPr/>
          <p:nvPr/>
        </p:nvSpPr>
        <p:spPr>
          <a:xfrm>
            <a:off x="8613648" y="2468880"/>
            <a:ext cx="2066543" cy="502920"/>
          </a:xfrm>
          <a:prstGeom prst="roundRect">
            <a:avLst/>
          </a:prstGeom>
          <a:solidFill>
            <a:srgbClr val="F2F2F0"/>
          </a:solidFill>
          <a:ln>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0" i="0">
                <a:solidFill>
                  <a:srgbClr val="5A5A5A"/>
                </a:solidFill>
                <a:latin typeface="Times New Roman"/>
              </a:rPr>
              <a:t>Aug ’26</a:t>
            </a:r>
          </a:p>
        </p:txBody>
      </p:sp>
      <p:sp>
        <p:nvSpPr>
          <p:cNvPr id="5" name="Rounded Rectangle 4"/>
          <p:cNvSpPr/>
          <p:nvPr/>
        </p:nvSpPr>
        <p:spPr>
          <a:xfrm>
            <a:off x="10735056" y="2468880"/>
            <a:ext cx="2066543" cy="502920"/>
          </a:xfrm>
          <a:prstGeom prst="roundRect">
            <a:avLst/>
          </a:prstGeom>
          <a:solidFill>
            <a:srgbClr val="F2F2F0"/>
          </a:solidFill>
          <a:ln>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0" i="0">
                <a:solidFill>
                  <a:srgbClr val="5A5A5A"/>
                </a:solidFill>
                <a:latin typeface="Times New Roman"/>
              </a:rPr>
              <a:t>Sep ’26</a:t>
            </a:r>
          </a:p>
        </p:txBody>
      </p:sp>
      <p:sp>
        <p:nvSpPr>
          <p:cNvPr id="6" name="Rounded Rectangle 5"/>
          <p:cNvSpPr/>
          <p:nvPr/>
        </p:nvSpPr>
        <p:spPr>
          <a:xfrm>
            <a:off x="12856463" y="2468880"/>
            <a:ext cx="2066543" cy="502920"/>
          </a:xfrm>
          <a:prstGeom prst="roundRect">
            <a:avLst/>
          </a:prstGeom>
          <a:solidFill>
            <a:srgbClr val="F2F2F0"/>
          </a:solidFill>
          <a:ln>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0" i="0">
                <a:solidFill>
                  <a:srgbClr val="5A5A5A"/>
                </a:solidFill>
                <a:latin typeface="Times New Roman"/>
              </a:rPr>
              <a:t>Oct ’26</a:t>
            </a:r>
          </a:p>
        </p:txBody>
      </p:sp>
      <p:sp>
        <p:nvSpPr>
          <p:cNvPr id="7" name="Rounded Rectangle 6"/>
          <p:cNvSpPr/>
          <p:nvPr/>
        </p:nvSpPr>
        <p:spPr>
          <a:xfrm>
            <a:off x="14977872" y="2468880"/>
            <a:ext cx="2066543" cy="502920"/>
          </a:xfrm>
          <a:prstGeom prst="roundRect">
            <a:avLst/>
          </a:prstGeom>
          <a:solidFill>
            <a:srgbClr val="F2F2F0"/>
          </a:solidFill>
          <a:ln>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0" i="0">
                <a:solidFill>
                  <a:srgbClr val="5A5A5A"/>
                </a:solidFill>
                <a:latin typeface="Times New Roman"/>
              </a:rPr>
              <a:t>Nov ’26</a:t>
            </a:r>
          </a:p>
        </p:txBody>
      </p:sp>
      <p:sp>
        <p:nvSpPr>
          <p:cNvPr id="8" name="TextBox 7"/>
          <p:cNvSpPr txBox="1"/>
          <p:nvPr/>
        </p:nvSpPr>
        <p:spPr>
          <a:xfrm>
            <a:off x="822960" y="3026664"/>
            <a:ext cx="5486400" cy="457200"/>
          </a:xfrm>
          <a:prstGeom prst="rect">
            <a:avLst/>
          </a:prstGeom>
          <a:noFill/>
        </p:spPr>
        <p:txBody>
          <a:bodyPr wrap="square">
            <a:spAutoFit/>
          </a:bodyPr>
          <a:lstStyle/>
          <a:p>
            <a:r>
              <a:rPr sz="1700" b="0" i="0">
                <a:solidFill>
                  <a:srgbClr val="1A1A1A"/>
                </a:solidFill>
                <a:latin typeface="Times New Roman"/>
              </a:rPr>
              <a:t>Literature review, problem finalisation</a:t>
            </a:r>
          </a:p>
        </p:txBody>
      </p:sp>
      <p:sp>
        <p:nvSpPr>
          <p:cNvPr id="9" name="Rounded Rectangle 8"/>
          <p:cNvSpPr/>
          <p:nvPr/>
        </p:nvSpPr>
        <p:spPr>
          <a:xfrm>
            <a:off x="6492240" y="3108960"/>
            <a:ext cx="2066543" cy="365760"/>
          </a:xfrm>
          <a:prstGeom prst="round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502152"/>
            <a:ext cx="5486400" cy="457200"/>
          </a:xfrm>
          <a:prstGeom prst="rect">
            <a:avLst/>
          </a:prstGeom>
          <a:noFill/>
        </p:spPr>
        <p:txBody>
          <a:bodyPr wrap="square">
            <a:spAutoFit/>
          </a:bodyPr>
          <a:lstStyle/>
          <a:p>
            <a:r>
              <a:rPr sz="1700" b="0" i="0">
                <a:solidFill>
                  <a:srgbClr val="1A1A1A"/>
                </a:solidFill>
                <a:latin typeface="Times New Roman"/>
              </a:rPr>
              <a:t>System design and harness</a:t>
            </a:r>
          </a:p>
        </p:txBody>
      </p:sp>
      <p:sp>
        <p:nvSpPr>
          <p:cNvPr id="11" name="Rounded Rectangle 10"/>
          <p:cNvSpPr/>
          <p:nvPr/>
        </p:nvSpPr>
        <p:spPr>
          <a:xfrm>
            <a:off x="7128662" y="3584448"/>
            <a:ext cx="2490825" cy="365760"/>
          </a:xfrm>
          <a:prstGeom prst="round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977640"/>
            <a:ext cx="5486400" cy="457200"/>
          </a:xfrm>
          <a:prstGeom prst="rect">
            <a:avLst/>
          </a:prstGeom>
          <a:noFill/>
        </p:spPr>
        <p:txBody>
          <a:bodyPr wrap="square">
            <a:spAutoFit/>
          </a:bodyPr>
          <a:lstStyle/>
          <a:p>
            <a:r>
              <a:rPr sz="1700" b="0" i="0">
                <a:solidFill>
                  <a:srgbClr val="1A1A1A"/>
                </a:solidFill>
                <a:latin typeface="Times New Roman"/>
              </a:rPr>
              <a:t>LoCoMo evaluation, leak removed</a:t>
            </a:r>
          </a:p>
        </p:txBody>
      </p:sp>
      <p:sp>
        <p:nvSpPr>
          <p:cNvPr id="13" name="Rounded Rectangle 12"/>
          <p:cNvSpPr/>
          <p:nvPr/>
        </p:nvSpPr>
        <p:spPr>
          <a:xfrm>
            <a:off x="8613648" y="4059936"/>
            <a:ext cx="1642262" cy="365760"/>
          </a:xfrm>
          <a:prstGeom prst="round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453128"/>
            <a:ext cx="5486400" cy="457200"/>
          </a:xfrm>
          <a:prstGeom prst="rect">
            <a:avLst/>
          </a:prstGeom>
          <a:noFill/>
        </p:spPr>
        <p:txBody>
          <a:bodyPr wrap="square">
            <a:spAutoFit/>
          </a:bodyPr>
          <a:lstStyle/>
          <a:p>
            <a:r>
              <a:rPr sz="1700" b="0" i="0">
                <a:solidFill>
                  <a:srgbClr val="1A1A1A"/>
                </a:solidFill>
                <a:latin typeface="Times New Roman"/>
              </a:rPr>
              <a:t>Ablation study</a:t>
            </a:r>
          </a:p>
        </p:txBody>
      </p:sp>
      <p:sp>
        <p:nvSpPr>
          <p:cNvPr id="15" name="Rounded Rectangle 14"/>
          <p:cNvSpPr/>
          <p:nvPr/>
        </p:nvSpPr>
        <p:spPr>
          <a:xfrm>
            <a:off x="9250070" y="4535424"/>
            <a:ext cx="1005839" cy="365760"/>
          </a:xfrm>
          <a:prstGeom prst="round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928616"/>
            <a:ext cx="5486400" cy="457200"/>
          </a:xfrm>
          <a:prstGeom prst="rect">
            <a:avLst/>
          </a:prstGeom>
          <a:noFill/>
        </p:spPr>
        <p:txBody>
          <a:bodyPr wrap="square">
            <a:spAutoFit/>
          </a:bodyPr>
          <a:lstStyle/>
          <a:p>
            <a:r>
              <a:rPr sz="1700" b="0" i="0">
                <a:solidFill>
                  <a:srgbClr val="1A1A1A"/>
                </a:solidFill>
                <a:latin typeface="Times New Roman"/>
              </a:rPr>
              <a:t>Storage budget, significance, scaling</a:t>
            </a:r>
          </a:p>
        </p:txBody>
      </p:sp>
      <p:sp>
        <p:nvSpPr>
          <p:cNvPr id="17" name="Rounded Rectangle 16"/>
          <p:cNvSpPr/>
          <p:nvPr/>
        </p:nvSpPr>
        <p:spPr>
          <a:xfrm>
            <a:off x="9674352" y="5010912"/>
            <a:ext cx="1430121" cy="365760"/>
          </a:xfrm>
          <a:prstGeom prst="round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404104"/>
            <a:ext cx="5486400" cy="457200"/>
          </a:xfrm>
          <a:prstGeom prst="rect">
            <a:avLst/>
          </a:prstGeom>
          <a:noFill/>
        </p:spPr>
        <p:txBody>
          <a:bodyPr wrap="square">
            <a:spAutoFit/>
          </a:bodyPr>
          <a:lstStyle/>
          <a:p>
            <a:r>
              <a:rPr sz="1700" b="0" i="0">
                <a:solidFill>
                  <a:srgbClr val="1A1A1A"/>
                </a:solidFill>
                <a:latin typeface="Times New Roman"/>
              </a:rPr>
              <a:t>P2 judge, byte accounting, learned scorer</a:t>
            </a:r>
          </a:p>
        </p:txBody>
      </p:sp>
      <p:sp>
        <p:nvSpPr>
          <p:cNvPr id="19" name="Rounded Rectangle 18"/>
          <p:cNvSpPr/>
          <p:nvPr/>
        </p:nvSpPr>
        <p:spPr>
          <a:xfrm>
            <a:off x="10310774" y="5486400"/>
            <a:ext cx="1217980" cy="365760"/>
          </a:xfrm>
          <a:prstGeom prst="round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5879592"/>
            <a:ext cx="5486400" cy="457200"/>
          </a:xfrm>
          <a:prstGeom prst="rect">
            <a:avLst/>
          </a:prstGeom>
          <a:noFill/>
        </p:spPr>
        <p:txBody>
          <a:bodyPr wrap="square">
            <a:spAutoFit/>
          </a:bodyPr>
          <a:lstStyle/>
          <a:p>
            <a:r>
              <a:rPr sz="1700" b="0" i="0">
                <a:solidFill>
                  <a:srgbClr val="1A1A1A"/>
                </a:solidFill>
                <a:latin typeface="Times New Roman"/>
              </a:rPr>
              <a:t>Full end-task run (715 questions)</a:t>
            </a:r>
          </a:p>
        </p:txBody>
      </p:sp>
      <p:sp>
        <p:nvSpPr>
          <p:cNvPr id="21" name="Rounded Rectangle 20"/>
          <p:cNvSpPr/>
          <p:nvPr/>
        </p:nvSpPr>
        <p:spPr>
          <a:xfrm>
            <a:off x="11159337" y="5961888"/>
            <a:ext cx="1005839" cy="365760"/>
          </a:xfrm>
          <a:prstGeom prst="round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6355080"/>
            <a:ext cx="5486400" cy="457200"/>
          </a:xfrm>
          <a:prstGeom prst="rect">
            <a:avLst/>
          </a:prstGeom>
          <a:noFill/>
        </p:spPr>
        <p:txBody>
          <a:bodyPr wrap="square">
            <a:spAutoFit/>
          </a:bodyPr>
          <a:lstStyle/>
          <a:p>
            <a:r>
              <a:rPr sz="1700" b="0" i="0">
                <a:solidFill>
                  <a:srgbClr val="1A1A1A"/>
                </a:solidFill>
                <a:latin typeface="Times New Roman"/>
              </a:rPr>
              <a:t>LongMemEval + the scorer-transfer finding</a:t>
            </a:r>
          </a:p>
        </p:txBody>
      </p:sp>
      <p:sp>
        <p:nvSpPr>
          <p:cNvPr id="23" name="Rounded Rectangle 22"/>
          <p:cNvSpPr/>
          <p:nvPr/>
        </p:nvSpPr>
        <p:spPr>
          <a:xfrm>
            <a:off x="11583619" y="6437376"/>
            <a:ext cx="1217980" cy="365760"/>
          </a:xfrm>
          <a:prstGeom prst="round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6830568"/>
            <a:ext cx="5486400" cy="457200"/>
          </a:xfrm>
          <a:prstGeom prst="rect">
            <a:avLst/>
          </a:prstGeom>
          <a:noFill/>
        </p:spPr>
        <p:txBody>
          <a:bodyPr wrap="square">
            <a:spAutoFit/>
          </a:bodyPr>
          <a:lstStyle/>
          <a:p>
            <a:r>
              <a:rPr sz="1700" b="0" i="0">
                <a:solidFill>
                  <a:srgbClr val="1A1A1A"/>
                </a:solidFill>
                <a:latin typeface="Times New Roman"/>
              </a:rPr>
              <a:t>Abstractive compression · online learning</a:t>
            </a:r>
          </a:p>
        </p:txBody>
      </p:sp>
      <p:sp>
        <p:nvSpPr>
          <p:cNvPr id="25" name="Rounded Rectangle 24"/>
          <p:cNvSpPr/>
          <p:nvPr/>
        </p:nvSpPr>
        <p:spPr>
          <a:xfrm>
            <a:off x="12007900" y="6912864"/>
            <a:ext cx="793699" cy="365760"/>
          </a:xfrm>
          <a:prstGeom prst="round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7306056"/>
            <a:ext cx="5486400" cy="457200"/>
          </a:xfrm>
          <a:prstGeom prst="rect">
            <a:avLst/>
          </a:prstGeom>
          <a:noFill/>
        </p:spPr>
        <p:txBody>
          <a:bodyPr wrap="square">
            <a:spAutoFit/>
          </a:bodyPr>
          <a:lstStyle/>
          <a:p>
            <a:r>
              <a:rPr sz="1700" b="0" i="0">
                <a:solidFill>
                  <a:srgbClr val="1A1A1A"/>
                </a:solidFill>
                <a:latin typeface="Times New Roman"/>
              </a:rPr>
              <a:t>IEEE paper: compiled, cut to 6 pages</a:t>
            </a:r>
          </a:p>
        </p:txBody>
      </p:sp>
      <p:sp>
        <p:nvSpPr>
          <p:cNvPr id="27" name="Rounded Rectangle 26"/>
          <p:cNvSpPr/>
          <p:nvPr/>
        </p:nvSpPr>
        <p:spPr>
          <a:xfrm>
            <a:off x="12007900" y="7388352"/>
            <a:ext cx="793699" cy="365760"/>
          </a:xfrm>
          <a:prstGeom prst="round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7781544"/>
            <a:ext cx="5486400" cy="457200"/>
          </a:xfrm>
          <a:prstGeom prst="rect">
            <a:avLst/>
          </a:prstGeom>
          <a:noFill/>
        </p:spPr>
        <p:txBody>
          <a:bodyPr wrap="square">
            <a:spAutoFit/>
          </a:bodyPr>
          <a:lstStyle/>
          <a:p>
            <a:r>
              <a:rPr sz="1700" b="0" i="0">
                <a:solidFill>
                  <a:srgbClr val="5A5A5A"/>
                </a:solidFill>
                <a:latin typeface="Times New Roman"/>
              </a:rPr>
              <a:t>A scorer that transfers across corpora</a:t>
            </a:r>
          </a:p>
        </p:txBody>
      </p:sp>
      <p:sp>
        <p:nvSpPr>
          <p:cNvPr id="29" name="Rounded Rectangle 28"/>
          <p:cNvSpPr/>
          <p:nvPr/>
        </p:nvSpPr>
        <p:spPr>
          <a:xfrm>
            <a:off x="12962534" y="7863840"/>
            <a:ext cx="1324051" cy="365760"/>
          </a:xfrm>
          <a:prstGeom prst="round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8257032"/>
            <a:ext cx="5486400" cy="457200"/>
          </a:xfrm>
          <a:prstGeom prst="rect">
            <a:avLst/>
          </a:prstGeom>
          <a:noFill/>
        </p:spPr>
        <p:txBody>
          <a:bodyPr wrap="square">
            <a:spAutoFit/>
          </a:bodyPr>
          <a:lstStyle/>
          <a:p>
            <a:r>
              <a:rPr sz="1700" b="0" i="0">
                <a:solidFill>
                  <a:srgbClr val="5A5A5A"/>
                </a:solidFill>
                <a:latin typeface="Times New Roman"/>
              </a:rPr>
              <a:t>Final report and defence preparation</a:t>
            </a:r>
          </a:p>
        </p:txBody>
      </p:sp>
      <p:sp>
        <p:nvSpPr>
          <p:cNvPr id="31" name="Rounded Rectangle 30"/>
          <p:cNvSpPr/>
          <p:nvPr/>
        </p:nvSpPr>
        <p:spPr>
          <a:xfrm>
            <a:off x="13492886" y="8339328"/>
            <a:ext cx="1642262" cy="365760"/>
          </a:xfrm>
          <a:prstGeom prst="round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17766" y="8860536"/>
            <a:ext cx="2743200" cy="310896"/>
          </a:xfrm>
          <a:prstGeom prst="rect">
            <a:avLst/>
          </a:prstGeom>
          <a:noFill/>
        </p:spPr>
        <p:txBody>
          <a:bodyPr wrap="square">
            <a:spAutoFit/>
          </a:bodyPr>
          <a:lstStyle/>
          <a:p>
            <a:pPr algn="ctr"/>
            <a:r>
              <a:rPr sz="1400" b="0" i="0">
                <a:solidFill>
                  <a:srgbClr val="C1272D"/>
                </a:solidFill>
                <a:latin typeface="Times New Roman"/>
              </a:rPr>
              <a:t>● Review 1 · late Jul</a:t>
            </a:r>
          </a:p>
        </p:txBody>
      </p:sp>
      <p:sp>
        <p:nvSpPr>
          <p:cNvPr id="33" name="TextBox 32"/>
          <p:cNvSpPr txBox="1"/>
          <p:nvPr/>
        </p:nvSpPr>
        <p:spPr>
          <a:xfrm>
            <a:off x="11590934" y="8860536"/>
            <a:ext cx="2743200" cy="310896"/>
          </a:xfrm>
          <a:prstGeom prst="rect">
            <a:avLst/>
          </a:prstGeom>
          <a:noFill/>
        </p:spPr>
        <p:txBody>
          <a:bodyPr wrap="square">
            <a:spAutoFit/>
          </a:bodyPr>
          <a:lstStyle/>
          <a:p>
            <a:pPr algn="ctr"/>
            <a:r>
              <a:rPr sz="1400" b="0" i="0">
                <a:solidFill>
                  <a:srgbClr val="C1272D"/>
                </a:solidFill>
                <a:latin typeface="Times New Roman"/>
              </a:rPr>
              <a:t>● Review 2 · Oct (now)</a:t>
            </a:r>
          </a:p>
        </p:txBody>
      </p:sp>
      <p:sp>
        <p:nvSpPr>
          <p:cNvPr id="34" name="TextBox 33"/>
          <p:cNvSpPr txBox="1"/>
          <p:nvPr/>
        </p:nvSpPr>
        <p:spPr>
          <a:xfrm>
            <a:off x="13924483" y="8860536"/>
            <a:ext cx="2743200" cy="310896"/>
          </a:xfrm>
          <a:prstGeom prst="rect">
            <a:avLst/>
          </a:prstGeom>
          <a:noFill/>
        </p:spPr>
        <p:txBody>
          <a:bodyPr wrap="square">
            <a:spAutoFit/>
          </a:bodyPr>
          <a:lstStyle/>
          <a:p>
            <a:pPr algn="ctr"/>
            <a:r>
              <a:rPr sz="1400" b="0" i="0">
                <a:solidFill>
                  <a:srgbClr val="C1272D"/>
                </a:solidFill>
                <a:latin typeface="Times New Roman"/>
              </a:rPr>
              <a:t>● Final review · Nov wk 1</a:t>
            </a:r>
          </a:p>
        </p:txBody>
      </p:sp>
      <p:sp>
        <p:nvSpPr>
          <p:cNvPr id="35" name="TextBox 34"/>
          <p:cNvSpPr txBox="1"/>
          <p:nvPr/>
        </p:nvSpPr>
        <p:spPr>
          <a:xfrm>
            <a:off x="822960" y="9272016"/>
            <a:ext cx="16642080" cy="726948"/>
          </a:xfrm>
          <a:prstGeom prst="rect">
            <a:avLst/>
          </a:prstGeom>
          <a:noFill/>
        </p:spPr>
        <p:txBody>
          <a:bodyPr wrap="square">
            <a:spAutoFit/>
          </a:bodyPr>
          <a:lstStyle/>
          <a:p>
            <a:pPr algn="l"/>
            <a:r>
              <a:rPr sz="1800" b="0" i="1">
                <a:solidFill>
                  <a:srgbClr val="5A5A5A"/>
                </a:solidFill>
                <a:latin typeface="Times New Roman"/>
              </a:rPr>
              <a:t>Filled bars are complete: every scoped track closed in September. Between now and the final review in the first week of November, what remains is a scorer that transfers across corpora — which LongMemEval made the live question — and the final report.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4200" b="1" i="0">
                <a:solidFill>
                  <a:srgbClr val="111111"/>
                </a:solidFill>
                <a:latin typeface="Times New Roman"/>
              </a:rPr>
              <a:t>Limitations, and what remains</a:t>
            </a:r>
          </a:p>
        </p:txBody>
      </p:sp>
      <p:sp>
        <p:nvSpPr>
          <p:cNvPr id="3" name="TextBox 2"/>
          <p:cNvSpPr txBox="1"/>
          <p:nvPr/>
        </p:nvSpPr>
        <p:spPr>
          <a:xfrm>
            <a:off x="822960" y="2286000"/>
            <a:ext cx="7955279" cy="6035040"/>
          </a:xfrm>
          <a:prstGeom prst="rect">
            <a:avLst/>
          </a:prstGeom>
          <a:noFill/>
        </p:spPr>
        <p:txBody>
          <a:bodyPr wrap="square">
            <a:spAutoFit/>
          </a:bodyPr>
          <a:lstStyle/>
          <a:p>
            <a:r>
              <a:rPr sz="2600" b="1" i="0">
                <a:solidFill>
                  <a:srgbClr val="C1272D"/>
                </a:solidFill>
                <a:latin typeface="Times New Roman"/>
              </a:rPr>
              <a:t>Stated limitations</a:t>
            </a:r>
          </a:p>
          <a:p>
            <a:pPr>
              <a:lnSpc>
                <a:spcPct val="103000"/>
              </a:lnSpc>
              <a:spcBef>
                <a:spcPts val="900"/>
              </a:spcBef>
            </a:pPr>
            <a:r>
              <a:rPr sz="2000" b="0" i="0">
                <a:solidFill>
                  <a:srgbClr val="C1272D"/>
                </a:solidFill>
                <a:latin typeface="Times New Roman"/>
              </a:rPr>
              <a:t>•  </a:t>
            </a:r>
            <a:r>
              <a:rPr sz="2000" b="0" i="0">
                <a:solidFill>
                  <a:srgbClr val="1A1A1A"/>
                </a:solidFill>
                <a:latin typeface="Times New Roman"/>
              </a:rPr>
              <a:t>Ten conversations. Clustered intervals are wide because the cluster count is small — and the one effect that does not survive clustering is reported as not significant.</a:t>
            </a:r>
          </a:p>
          <a:p>
            <a:pPr>
              <a:lnSpc>
                <a:spcPct val="103000"/>
              </a:lnSpc>
              <a:spcBef>
                <a:spcPts val="900"/>
              </a:spcBef>
            </a:pPr>
            <a:r>
              <a:rPr sz="2000" b="0" i="0">
                <a:solidFill>
                  <a:srgbClr val="C1272D"/>
                </a:solidFill>
                <a:latin typeface="Times New Roman"/>
              </a:rPr>
              <a:t>•  </a:t>
            </a:r>
            <a:r>
              <a:rPr sz="2000" b="0" i="0">
                <a:solidFill>
                  <a:srgbClr val="1A1A1A"/>
                </a:solidFill>
                <a:latin typeface="Times New Roman"/>
              </a:rPr>
              <a:t>Context recall is the ceiling on end-task accuracy, not accuracy itself.</a:t>
            </a:r>
          </a:p>
          <a:p>
            <a:pPr>
              <a:lnSpc>
                <a:spcPct val="103000"/>
              </a:lnSpc>
              <a:spcBef>
                <a:spcPts val="900"/>
              </a:spcBef>
            </a:pPr>
            <a:r>
              <a:rPr sz="2000" b="0" i="0">
                <a:solidFill>
                  <a:srgbClr val="C1272D"/>
                </a:solidFill>
                <a:latin typeface="Times New Roman"/>
              </a:rPr>
              <a:t>•  </a:t>
            </a:r>
            <a:r>
              <a:rPr sz="2000" b="0" i="0">
                <a:solidFill>
                  <a:srgbClr val="1A1A1A"/>
                </a:solidFill>
                <a:latin typeface="Times New Roman"/>
              </a:rPr>
              <a:t>Compression is now tested in both forms: rewriting beats word-selection by +4.1 answer points and still loses to dropping by 2.7, at 1,850x the cost. Untested: a larger summariser.</a:t>
            </a:r>
          </a:p>
          <a:p>
            <a:pPr>
              <a:lnSpc>
                <a:spcPct val="103000"/>
              </a:lnSpc>
              <a:spcBef>
                <a:spcPts val="900"/>
              </a:spcBef>
            </a:pPr>
            <a:r>
              <a:rPr sz="2000" b="0" i="0">
                <a:solidFill>
                  <a:srgbClr val="C1272D"/>
                </a:solidFill>
                <a:latin typeface="Times New Roman"/>
              </a:rPr>
              <a:t>•  </a:t>
            </a:r>
            <a:r>
              <a:rPr sz="2000" b="0" i="0">
                <a:solidFill>
                  <a:srgbClr val="1A1A1A"/>
                </a:solidFill>
                <a:latin typeface="Times New Roman"/>
              </a:rPr>
              <a:t>Concatenated streams are synthetic.</a:t>
            </a:r>
          </a:p>
          <a:p>
            <a:pPr>
              <a:lnSpc>
                <a:spcPct val="103000"/>
              </a:lnSpc>
              <a:spcBef>
                <a:spcPts val="900"/>
              </a:spcBef>
            </a:pPr>
            <a:r>
              <a:rPr sz="2000" b="0" i="0">
                <a:solidFill>
                  <a:srgbClr val="C1272D"/>
                </a:solidFill>
                <a:latin typeface="Times New Roman"/>
              </a:rPr>
              <a:t>•  </a:t>
            </a:r>
            <a:r>
              <a:rPr sz="2000" b="0" i="0">
                <a:solidFill>
                  <a:srgbClr val="1A1A1A"/>
                </a:solidFill>
                <a:latin typeface="Times New Roman"/>
              </a:rPr>
              <a:t>Single embedder, single judge model. The judge result is evidence about a 0.5B model prompted per turn, not about LLM judging in general.</a:t>
            </a:r>
          </a:p>
          <a:p>
            <a:pPr>
              <a:lnSpc>
                <a:spcPct val="103000"/>
              </a:lnSpc>
              <a:spcBef>
                <a:spcPts val="900"/>
              </a:spcBef>
            </a:pPr>
            <a:r>
              <a:rPr sz="2000" b="0" i="0">
                <a:solidFill>
                  <a:srgbClr val="C1272D"/>
                </a:solidFill>
                <a:latin typeface="Times New Roman"/>
              </a:rPr>
              <a:t>•  </a:t>
            </a:r>
            <a:r>
              <a:rPr sz="2000" b="0" i="0">
                <a:solidFill>
                  <a:srgbClr val="1A1A1A"/>
                </a:solidFill>
                <a:latin typeface="Times New Roman"/>
              </a:rPr>
              <a:t>P3-learned is a headroom bound, not a component: a live agent has no future questions.</a:t>
            </a:r>
          </a:p>
          <a:p>
            <a:pPr>
              <a:lnSpc>
                <a:spcPct val="103000"/>
              </a:lnSpc>
              <a:spcBef>
                <a:spcPts val="900"/>
              </a:spcBef>
            </a:pPr>
            <a:r>
              <a:rPr sz="2000" b="0" i="0">
                <a:solidFill>
                  <a:srgbClr val="C1272D"/>
                </a:solidFill>
                <a:latin typeface="Times New Roman"/>
              </a:rPr>
              <a:t>•  </a:t>
            </a:r>
            <a:r>
              <a:rPr sz="2000" b="0" i="0">
                <a:solidFill>
                  <a:srgbClr val="1A1A1A"/>
                </a:solidFill>
                <a:latin typeface="Times New Roman"/>
              </a:rPr>
              <a:t>The scorer is tuned to LoCoMo. Read +9.4 as what a policy recovers given a scorer that suits the corpus — not as a property of scored selection in general.</a:t>
            </a:r>
          </a:p>
          <a:p>
            <a:pPr>
              <a:lnSpc>
                <a:spcPct val="103000"/>
              </a:lnSpc>
              <a:spcBef>
                <a:spcPts val="900"/>
              </a:spcBef>
            </a:pPr>
            <a:r>
              <a:rPr sz="2000" b="0" i="0">
                <a:solidFill>
                  <a:srgbClr val="C1272D"/>
                </a:solidFill>
                <a:latin typeface="Times New Roman"/>
              </a:rPr>
              <a:t>•  </a:t>
            </a:r>
            <a:r>
              <a:rPr sz="2000" b="0" i="0">
                <a:solidFill>
                  <a:srgbClr val="1A1A1A"/>
                </a:solidFill>
                <a:latin typeface="Times New Roman"/>
              </a:rPr>
              <a:t>On LongMemEval, strict recall is uninterpretable for a compressing arm: a gist carries the evidence id of text it discarded. Answer recall is unaffected.</a:t>
            </a:r>
          </a:p>
        </p:txBody>
      </p:sp>
      <p:sp>
        <p:nvSpPr>
          <p:cNvPr id="4" name="TextBox 3"/>
          <p:cNvSpPr txBox="1"/>
          <p:nvPr/>
        </p:nvSpPr>
        <p:spPr>
          <a:xfrm>
            <a:off x="9418320" y="2286000"/>
            <a:ext cx="8046720" cy="6035040"/>
          </a:xfrm>
          <a:prstGeom prst="rect">
            <a:avLst/>
          </a:prstGeom>
          <a:noFill/>
        </p:spPr>
        <p:txBody>
          <a:bodyPr wrap="square">
            <a:spAutoFit/>
          </a:bodyPr>
          <a:lstStyle/>
          <a:p>
            <a:r>
              <a:rPr sz="2600" b="1" i="0">
                <a:solidFill>
                  <a:srgbClr val="C1272D"/>
                </a:solidFill>
                <a:latin typeface="Times New Roman"/>
              </a:rPr>
              <a:t>Remaining work</a:t>
            </a:r>
          </a:p>
          <a:p>
            <a:pPr>
              <a:lnSpc>
                <a:spcPct val="103000"/>
              </a:lnSpc>
              <a:spcBef>
                <a:spcPts val="1100"/>
              </a:spcBef>
            </a:pPr>
            <a:r>
              <a:rPr sz="2000" b="1" i="0">
                <a:solidFill>
                  <a:srgbClr val="C1272D"/>
                </a:solidFill>
                <a:latin typeface="Times New Roman"/>
              </a:rPr>
              <a:t>1.  </a:t>
            </a:r>
            <a:r>
              <a:rPr sz="2000" b="0" i="0">
                <a:solidFill>
                  <a:srgbClr val="1A1A1A"/>
                </a:solidFill>
                <a:latin typeface="Times New Roman"/>
              </a:rPr>
              <a:t>A scorer that transfers across corpora. Every other track is closed; this is what the final review should be about.</a:t>
            </a:r>
            <a:r>
              <a:rPr sz="1800" b="0" i="1">
                <a:solidFill>
                  <a:srgbClr val="5A5A5A"/>
                </a:solidFill>
                <a:latin typeface="Times New Roman"/>
              </a:rPr>
              <a:t>   the critical path</a:t>
            </a:r>
          </a:p>
          <a:p>
            <a:pPr>
              <a:lnSpc>
                <a:spcPct val="103000"/>
              </a:lnSpc>
              <a:spcBef>
                <a:spcPts val="1100"/>
              </a:spcBef>
            </a:pPr>
            <a:r>
              <a:rPr sz="2000" b="1" i="0">
                <a:solidFill>
                  <a:srgbClr val="C1272D"/>
                </a:solidFill>
                <a:latin typeface="Times New Roman"/>
              </a:rPr>
              <a:t>2.  </a:t>
            </a:r>
            <a:r>
              <a:rPr sz="2000" b="0" i="0">
                <a:solidFill>
                  <a:srgbClr val="1A1A1A"/>
                </a:solidFill>
                <a:latin typeface="Times New Roman"/>
              </a:rPr>
              <a:t>P4 online, re-learning per corpus, run on LongMemEval. It is statistically level with P1 on LoCoMo without labels — but the cues it learns are the ones LongMemEval inverts.</a:t>
            </a:r>
            <a:r>
              <a:rPr sz="1800" b="0" i="1">
                <a:solidFill>
                  <a:srgbClr val="5A5A5A"/>
                </a:solidFill>
                <a:latin typeface="Times New Roman"/>
              </a:rPr>
              <a:t>   the obvious first try</a:t>
            </a:r>
          </a:p>
          <a:p>
            <a:pPr>
              <a:lnSpc>
                <a:spcPct val="103000"/>
              </a:lnSpc>
              <a:spcBef>
                <a:spcPts val="1100"/>
              </a:spcBef>
            </a:pPr>
            <a:r>
              <a:rPr sz="2000" b="1" i="0">
                <a:solidFill>
                  <a:srgbClr val="C1272D"/>
                </a:solidFill>
                <a:latin typeface="Times New Roman"/>
              </a:rPr>
              <a:t>3.  </a:t>
            </a:r>
            <a:r>
              <a:rPr sz="2000" b="0" i="0">
                <a:solidFill>
                  <a:srgbClr val="1A1A1A"/>
                </a:solidFill>
                <a:latin typeface="Times New Roman"/>
              </a:rPr>
              <a:t>A larger summariser. Rewriting is worth +4.1 answer points over word-selection; whether a bigger model closes the last 2.7 to dropping is untested.</a:t>
            </a:r>
            <a:r>
              <a:rPr sz="1800" b="0" i="1">
                <a:solidFill>
                  <a:srgbClr val="5A5A5A"/>
                </a:solidFill>
                <a:latin typeface="Times New Roman"/>
              </a:rPr>
              <a:t>   1 session</a:t>
            </a:r>
          </a:p>
          <a:p>
            <a:pPr>
              <a:lnSpc>
                <a:spcPct val="103000"/>
              </a:lnSpc>
              <a:spcBef>
                <a:spcPts val="1100"/>
              </a:spcBef>
            </a:pPr>
            <a:r>
              <a:rPr sz="2000" b="1" i="0">
                <a:solidFill>
                  <a:srgbClr val="C1272D"/>
                </a:solidFill>
                <a:latin typeface="Times New Roman"/>
              </a:rPr>
              <a:t>4.  </a:t>
            </a:r>
            <a:r>
              <a:rPr sz="2000" b="0" i="0">
                <a:solidFill>
                  <a:srgbClr val="1A1A1A"/>
                </a:solidFill>
                <a:latin typeface="Times New Roman"/>
              </a:rPr>
              <a:t>A second reader model, to separate the memory layer from this one.</a:t>
            </a:r>
            <a:r>
              <a:rPr sz="1800" b="0" i="1">
                <a:solidFill>
                  <a:srgbClr val="5A5A5A"/>
                </a:solidFill>
                <a:latin typeface="Times New Roman"/>
              </a:rPr>
              <a:t>   1 session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4200" b="1" i="0">
                <a:solidFill>
                  <a:srgbClr val="111111"/>
                </a:solidFill>
                <a:latin typeface="Times New Roman"/>
              </a:rPr>
              <a:t>Conclusion as it stands</a:t>
            </a:r>
          </a:p>
        </p:txBody>
      </p:sp>
      <p:sp>
        <p:nvSpPr>
          <p:cNvPr id="3" name="TextBox 2"/>
          <p:cNvSpPr txBox="1"/>
          <p:nvPr/>
        </p:nvSpPr>
        <p:spPr>
          <a:xfrm>
            <a:off x="822960" y="2286000"/>
            <a:ext cx="16642080" cy="4579620"/>
          </a:xfrm>
          <a:prstGeom prst="rect">
            <a:avLst/>
          </a:prstGeom>
          <a:noFill/>
        </p:spPr>
        <p:txBody>
          <a:bodyPr wrap="square">
            <a:spAutoFit/>
          </a:bodyPr>
          <a:lstStyle/>
          <a:p>
            <a:pPr>
              <a:lnSpc>
                <a:spcPct val="105000"/>
              </a:lnSpc>
              <a:spcAft>
                <a:spcPts val="1000"/>
              </a:spcAft>
            </a:pPr>
            <a:r>
              <a:rPr sz="2300" b="0" i="0">
                <a:solidFill>
                  <a:srgbClr val="C1272D"/>
                </a:solidFill>
                <a:latin typeface="Times New Roman"/>
              </a:rPr>
              <a:t>•  </a:t>
            </a:r>
            <a:r>
              <a:rPr sz="2300" b="1" i="0">
                <a:solidFill>
                  <a:srgbClr val="1A1A1A"/>
                </a:solidFill>
                <a:latin typeface="Times New Roman"/>
              </a:rPr>
              <a:t>With storage unbounded — the standard accounting — </a:t>
            </a:r>
            <a:r>
              <a:rPr sz="2300" b="0" i="0">
                <a:solidFill>
                  <a:srgbClr val="1A1A1A"/>
                </a:solidFill>
                <a:latin typeface="Times New Roman"/>
              </a:rPr>
              <a:t>tiered compression is a net loss against keeping everything and retrieving.</a:t>
            </a:r>
          </a:p>
          <a:p>
            <a:pPr>
              <a:lnSpc>
                <a:spcPct val="105000"/>
              </a:lnSpc>
              <a:spcAft>
                <a:spcPts val="1000"/>
              </a:spcAft>
            </a:pPr>
            <a:r>
              <a:rPr sz="2300" b="0" i="0">
                <a:solidFill>
                  <a:srgbClr val="C1272D"/>
                </a:solidFill>
                <a:latin typeface="Times New Roman"/>
              </a:rPr>
              <a:t>•  </a:t>
            </a:r>
            <a:r>
              <a:rPr sz="2300" b="1" i="0">
                <a:solidFill>
                  <a:srgbClr val="1A1A1A"/>
                </a:solidFill>
                <a:latin typeface="Times New Roman"/>
              </a:rPr>
              <a:t>With storage bounded, the decision policy is worth +9.4 answer-recall points, </a:t>
            </a:r>
            <a:r>
              <a:rPr sz="2300" b="0" i="0">
                <a:solidFill>
                  <a:srgbClr val="1A1A1A"/>
                </a:solidFill>
                <a:latin typeface="Times New Roman"/>
              </a:rPr>
              <a:t>while compression still loses 7.1.</a:t>
            </a:r>
          </a:p>
          <a:p>
            <a:pPr>
              <a:lnSpc>
                <a:spcPct val="105000"/>
              </a:lnSpc>
              <a:spcAft>
                <a:spcPts val="1000"/>
              </a:spcAft>
            </a:pPr>
            <a:r>
              <a:rPr sz="2300" b="0" i="0">
                <a:solidFill>
                  <a:srgbClr val="C1272D"/>
                </a:solidFill>
                <a:latin typeface="Times New Roman"/>
              </a:rPr>
              <a:t>•  </a:t>
            </a:r>
            <a:r>
              <a:rPr sz="2300" b="1" i="0">
                <a:solidFill>
                  <a:srgbClr val="1A1A1A"/>
                </a:solidFill>
                <a:latin typeface="Times New Roman"/>
              </a:rPr>
              <a:t>The rate–distortion crossover at which compression should pay is not reachable </a:t>
            </a:r>
            <a:r>
              <a:rPr sz="2300" b="0" i="0">
                <a:solidFill>
                  <a:srgbClr val="1A1A1A"/>
                </a:solidFill>
                <a:latin typeface="Times New Roman"/>
              </a:rPr>
              <a:t>on this benchmark — to 182×, keeping a selected subset whole beats compressing everything.</a:t>
            </a:r>
          </a:p>
          <a:p>
            <a:pPr>
              <a:lnSpc>
                <a:spcPct val="105000"/>
              </a:lnSpc>
              <a:spcAft>
                <a:spcPts val="1000"/>
              </a:spcAft>
            </a:pPr>
            <a:r>
              <a:rPr sz="2300" b="0" i="0">
                <a:solidFill>
                  <a:srgbClr val="C1272D"/>
                </a:solidFill>
                <a:latin typeface="Times New Roman"/>
              </a:rPr>
              <a:t>•  </a:t>
            </a:r>
            <a:r>
              <a:rPr sz="2300" b="1" i="0">
                <a:solidFill>
                  <a:srgbClr val="1A1A1A"/>
                </a:solidFill>
                <a:latin typeface="Times New Roman"/>
              </a:rPr>
              <a:t>Charging for the embedding index inverts the ranking below ~40 KiB, </a:t>
            </a:r>
            <a:r>
              <a:rPr sz="2300" b="0" i="0">
                <a:solidFill>
                  <a:srgbClr val="1A1A1A"/>
                </a:solidFill>
                <a:latin typeface="Times New Roman"/>
              </a:rPr>
              <a:t>where a policy with no index at all wins outright.</a:t>
            </a:r>
          </a:p>
          <a:p>
            <a:pPr>
              <a:lnSpc>
                <a:spcPct val="105000"/>
              </a:lnSpc>
              <a:spcAft>
                <a:spcPts val="1000"/>
              </a:spcAft>
            </a:pPr>
            <a:r>
              <a:rPr sz="2300" b="0" i="0">
                <a:solidFill>
                  <a:srgbClr val="C1272D"/>
                </a:solidFill>
                <a:latin typeface="Times New Roman"/>
              </a:rPr>
              <a:t>•  </a:t>
            </a:r>
            <a:r>
              <a:rPr sz="2300" b="1" i="0">
                <a:solidFill>
                  <a:srgbClr val="1A1A1A"/>
                </a:solidFill>
                <a:latin typeface="Times New Roman"/>
              </a:rPr>
              <a:t>An LLM judge — the obvious way to improve the scorer — loses to a regex, </a:t>
            </a:r>
            <a:r>
              <a:rPr sz="2300" b="0" i="0">
                <a:solidFill>
                  <a:srgbClr val="1A1A1A"/>
                </a:solidFill>
                <a:latin typeface="Times New Roman"/>
              </a:rPr>
              <a:t>and the reason is diagnosable: it rates turns in isolation.</a:t>
            </a:r>
          </a:p>
          <a:p>
            <a:pPr>
              <a:lnSpc>
                <a:spcPct val="105000"/>
              </a:lnSpc>
              <a:spcAft>
                <a:spcPts val="1000"/>
              </a:spcAft>
            </a:pPr>
            <a:r>
              <a:rPr sz="2300" b="0" i="0">
                <a:solidFill>
                  <a:srgbClr val="C1272D"/>
                </a:solidFill>
                <a:latin typeface="Times New Roman"/>
              </a:rPr>
              <a:t>•  </a:t>
            </a:r>
            <a:r>
              <a:rPr sz="2300" b="1" i="0">
                <a:solidFill>
                  <a:srgbClr val="1A1A1A"/>
                </a:solidFill>
                <a:latin typeface="Times New Roman"/>
              </a:rPr>
              <a:t>On a second benchmark the headline does not replicate, </a:t>
            </a:r>
            <a:r>
              <a:rPr sz="2300" b="0" i="0">
                <a:solidFill>
                  <a:srgbClr val="1A1A1A"/>
                </a:solidFill>
                <a:latin typeface="Times New Roman"/>
              </a:rPr>
              <a:t>and the cause is the scorer, not the mechanism: its separation between evidence and non-evidence turns reverses sign between corpora.</a:t>
            </a:r>
          </a:p>
        </p:txBody>
      </p:sp>
      <p:sp>
        <p:nvSpPr>
          <p:cNvPr id="4" name="Rectangle 3"/>
          <p:cNvSpPr/>
          <p:nvPr/>
        </p:nvSpPr>
        <p:spPr>
          <a:xfrm>
            <a:off x="822960" y="6858000"/>
            <a:ext cx="64008" cy="1554480"/>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86968" y="6858000"/>
            <a:ext cx="16578072" cy="1554480"/>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 y="6949440"/>
            <a:ext cx="16002000" cy="1371600"/>
          </a:xfrm>
          <a:prstGeom prst="rect">
            <a:avLst/>
          </a:prstGeom>
          <a:noFill/>
        </p:spPr>
        <p:txBody>
          <a:bodyPr wrap="square" anchor="ctr">
            <a:spAutoFit/>
          </a:bodyPr>
          <a:lstStyle/>
          <a:p>
            <a:pPr>
              <a:lnSpc>
                <a:spcPct val="105000"/>
              </a:lnSpc>
            </a:pPr>
            <a:r>
              <a:rPr sz="2600" b="1" i="0">
                <a:solidFill>
                  <a:srgbClr val="1A1A1A"/>
                </a:solidFill>
                <a:latin typeface="Times New Roman"/>
              </a:rPr>
              <a:t>Practical guidance: keep a scored subset whole; do not compress everything. </a:t>
            </a:r>
            <a:r>
              <a:rPr sz="2600" b="0" i="0">
                <a:solidFill>
                  <a:srgbClr val="1A1A1A"/>
                </a:solidFill>
                <a:latin typeface="Times New Roman"/>
              </a:rPr>
              <a:t/>
            </a:r>
            <a:r>
              <a:rPr sz="2600" b="1" i="0">
                <a:solidFill>
                  <a:srgbClr val="1A1A1A"/>
                </a:solidFill>
                <a:latin typeface="Times New Roman"/>
              </a:rPr>
              <a:t>And denominate the budget in bytes, including the index, or the comparison is not the one you think you are making.</a:t>
            </a:r>
          </a:p>
        </p:txBody>
      </p:sp>
      <p:sp>
        <p:nvSpPr>
          <p:cNvPr id="7" name="TextBox 6"/>
          <p:cNvSpPr txBox="1"/>
          <p:nvPr/>
        </p:nvSpPr>
        <p:spPr>
          <a:xfrm>
            <a:off x="822960" y="8641080"/>
            <a:ext cx="16642080" cy="795528"/>
          </a:xfrm>
          <a:prstGeom prst="rect">
            <a:avLst/>
          </a:prstGeom>
          <a:noFill/>
        </p:spPr>
        <p:txBody>
          <a:bodyPr wrap="square">
            <a:spAutoFit/>
          </a:bodyPr>
          <a:lstStyle/>
          <a:p>
            <a:pPr algn="l"/>
            <a:r>
              <a:rPr sz="2000" b="0" i="1">
                <a:solidFill>
                  <a:srgbClr val="5A5A5A"/>
                </a:solidFill>
                <a:latin typeface="Times New Roman"/>
              </a:rPr>
              <a:t>Presented as “a memory layer with three tiers”, this work would already have been done. Measured honestly, the more useful result is what doesn’t work — including, twice now, our own headline.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4200" b="1" i="0">
                <a:solidFill>
                  <a:srgbClr val="111111"/>
                </a:solidFill>
                <a:latin typeface="Times New Roman"/>
              </a:rPr>
              <a:t>References</a:t>
            </a:r>
          </a:p>
        </p:txBody>
      </p:sp>
      <p:sp>
        <p:nvSpPr>
          <p:cNvPr id="3" name="TextBox 2"/>
          <p:cNvSpPr txBox="1"/>
          <p:nvPr/>
        </p:nvSpPr>
        <p:spPr>
          <a:xfrm>
            <a:off x="822960" y="2286000"/>
            <a:ext cx="16642080" cy="6949440"/>
          </a:xfrm>
          <a:prstGeom prst="rect">
            <a:avLst/>
          </a:prstGeom>
          <a:noFill/>
        </p:spPr>
        <p:txBody>
          <a:bodyPr wrap="square">
            <a:spAutoFit/>
          </a:bodyPr>
          <a:lstStyle/>
          <a:p>
            <a:pPr>
              <a:lnSpc>
                <a:spcPct val="102000"/>
              </a:lnSpc>
              <a:spcAft>
                <a:spcPts val="900"/>
              </a:spcAft>
            </a:pPr>
            <a:r>
              <a:rPr sz="2000" b="0" i="0">
                <a:solidFill>
                  <a:srgbClr val="5A5A5A"/>
                </a:solidFill>
                <a:latin typeface="Times New Roman"/>
              </a:rPr>
              <a:t>1.  </a:t>
            </a:r>
            <a:r>
              <a:rPr sz="2000" b="0" i="0">
                <a:solidFill>
                  <a:srgbClr val="1A1A1A"/>
                </a:solidFill>
                <a:latin typeface="Times New Roman"/>
              </a:rPr>
              <a:t>Packer, C., et al. (2023). MemGPT: Towards LLMs as Operating Systems. arXiv:2310.08560.</a:t>
            </a:r>
            <a:r>
              <a:rPr sz="2000" b="1" i="0">
                <a:solidFill>
                  <a:srgbClr val="C1272D"/>
                </a:solidFill>
                <a:latin typeface="Times New Roman"/>
              </a:rPr>
              <a:t>  ← base paper</a:t>
            </a:r>
          </a:p>
          <a:p>
            <a:pPr>
              <a:lnSpc>
                <a:spcPct val="102000"/>
              </a:lnSpc>
              <a:spcAft>
                <a:spcPts val="900"/>
              </a:spcAft>
            </a:pPr>
            <a:r>
              <a:rPr sz="2000" b="0" i="0">
                <a:solidFill>
                  <a:srgbClr val="5A5A5A"/>
                </a:solidFill>
                <a:latin typeface="Times New Roman"/>
              </a:rPr>
              <a:t>2.  </a:t>
            </a:r>
            <a:r>
              <a:rPr sz="2000" b="0" i="0">
                <a:solidFill>
                  <a:srgbClr val="1A1A1A"/>
                </a:solidFill>
                <a:latin typeface="Times New Roman"/>
              </a:rPr>
              <a:t>Maharana, A., et al. (2024). Evaluating Very Long-Term Conversational Memory of LLM Agents (LoCoMo). ACL.</a:t>
            </a:r>
            <a:r>
              <a:rPr sz="2000" b="1" i="0">
                <a:solidFill>
                  <a:srgbClr val="C1272D"/>
                </a:solidFill>
                <a:latin typeface="Times New Roman"/>
              </a:rPr>
              <a:t>  ← benchmark</a:t>
            </a:r>
          </a:p>
          <a:p>
            <a:pPr>
              <a:lnSpc>
                <a:spcPct val="102000"/>
              </a:lnSpc>
              <a:spcAft>
                <a:spcPts val="900"/>
              </a:spcAft>
            </a:pPr>
            <a:r>
              <a:rPr sz="2000" b="0" i="0">
                <a:solidFill>
                  <a:srgbClr val="5A5A5A"/>
                </a:solidFill>
                <a:latin typeface="Times New Roman"/>
              </a:rPr>
              <a:t>3.  </a:t>
            </a:r>
            <a:r>
              <a:rPr sz="2000" b="0" i="0">
                <a:solidFill>
                  <a:srgbClr val="1A1A1A"/>
                </a:solidFill>
                <a:latin typeface="Times New Roman"/>
              </a:rPr>
              <a:t>Zhong, W., et al. (2024). MemoryBank. AAAI 38(17), 19724–19731.</a:t>
            </a:r>
          </a:p>
          <a:p>
            <a:pPr>
              <a:lnSpc>
                <a:spcPct val="102000"/>
              </a:lnSpc>
              <a:spcAft>
                <a:spcPts val="900"/>
              </a:spcAft>
            </a:pPr>
            <a:r>
              <a:rPr sz="2000" b="0" i="0">
                <a:solidFill>
                  <a:srgbClr val="5A5A5A"/>
                </a:solidFill>
                <a:latin typeface="Times New Roman"/>
              </a:rPr>
              <a:t>4.  </a:t>
            </a:r>
            <a:r>
              <a:rPr sz="2000" b="0" i="0">
                <a:solidFill>
                  <a:srgbClr val="1A1A1A"/>
                </a:solidFill>
                <a:latin typeface="Times New Roman"/>
              </a:rPr>
              <a:t>Park, J. S., et al. (2023). Generative Agents. UIST ’23.</a:t>
            </a:r>
          </a:p>
          <a:p>
            <a:pPr>
              <a:lnSpc>
                <a:spcPct val="102000"/>
              </a:lnSpc>
              <a:spcAft>
                <a:spcPts val="900"/>
              </a:spcAft>
            </a:pPr>
            <a:r>
              <a:rPr sz="2000" b="0" i="0">
                <a:solidFill>
                  <a:srgbClr val="5A5A5A"/>
                </a:solidFill>
                <a:latin typeface="Times New Roman"/>
              </a:rPr>
              <a:t>5.  </a:t>
            </a:r>
            <a:r>
              <a:rPr sz="2000" b="0" i="0">
                <a:solidFill>
                  <a:srgbClr val="1A1A1A"/>
                </a:solidFill>
                <a:latin typeface="Times New Roman"/>
              </a:rPr>
              <a:t>Xiao, G., et al. (2024). Efficient Streaming Language Models with Attention Sinks. ICLR.</a:t>
            </a:r>
          </a:p>
          <a:p>
            <a:pPr>
              <a:lnSpc>
                <a:spcPct val="102000"/>
              </a:lnSpc>
              <a:spcAft>
                <a:spcPts val="900"/>
              </a:spcAft>
            </a:pPr>
            <a:r>
              <a:rPr sz="2000" b="0" i="0">
                <a:solidFill>
                  <a:srgbClr val="5A5A5A"/>
                </a:solidFill>
                <a:latin typeface="Times New Roman"/>
              </a:rPr>
              <a:t>6.  </a:t>
            </a:r>
            <a:r>
              <a:rPr sz="2000" b="0" i="0">
                <a:solidFill>
                  <a:srgbClr val="1A1A1A"/>
                </a:solidFill>
                <a:latin typeface="Times New Roman"/>
              </a:rPr>
              <a:t>Zhang, Z., et al. (2023). H2O: Heavy-Hitter Oracle. NeurIPS.</a:t>
            </a:r>
          </a:p>
          <a:p>
            <a:pPr>
              <a:lnSpc>
                <a:spcPct val="102000"/>
              </a:lnSpc>
              <a:spcAft>
                <a:spcPts val="900"/>
              </a:spcAft>
            </a:pPr>
            <a:r>
              <a:rPr sz="2000" b="0" i="0">
                <a:solidFill>
                  <a:srgbClr val="5A5A5A"/>
                </a:solidFill>
                <a:latin typeface="Times New Roman"/>
              </a:rPr>
              <a:t>7.  </a:t>
            </a:r>
            <a:r>
              <a:rPr sz="2000" b="0" i="0">
                <a:solidFill>
                  <a:srgbClr val="1A1A1A"/>
                </a:solidFill>
                <a:latin typeface="Times New Roman"/>
              </a:rPr>
              <a:t>Jiang, H., et al. (2023). LLMLingua. EMNLP, 13358–13376.</a:t>
            </a:r>
          </a:p>
          <a:p>
            <a:pPr>
              <a:lnSpc>
                <a:spcPct val="102000"/>
              </a:lnSpc>
              <a:spcAft>
                <a:spcPts val="900"/>
              </a:spcAft>
            </a:pPr>
            <a:r>
              <a:rPr sz="2000" b="0" i="0">
                <a:solidFill>
                  <a:srgbClr val="5A5A5A"/>
                </a:solidFill>
                <a:latin typeface="Times New Roman"/>
              </a:rPr>
              <a:t>8.  </a:t>
            </a:r>
            <a:r>
              <a:rPr sz="2000" b="0" i="0">
                <a:solidFill>
                  <a:srgbClr val="1A1A1A"/>
                </a:solidFill>
                <a:latin typeface="Times New Roman"/>
              </a:rPr>
              <a:t>Mu, J., Li, X. L., &amp; Goodman, N. (2023). Learning to Compress Prompts with Gist Tokens. NeurIPS.</a:t>
            </a:r>
          </a:p>
          <a:p>
            <a:pPr>
              <a:lnSpc>
                <a:spcPct val="102000"/>
              </a:lnSpc>
              <a:spcAft>
                <a:spcPts val="900"/>
              </a:spcAft>
            </a:pPr>
            <a:r>
              <a:rPr sz="2000" b="0" i="0">
                <a:solidFill>
                  <a:srgbClr val="5A5A5A"/>
                </a:solidFill>
                <a:latin typeface="Times New Roman"/>
              </a:rPr>
              <a:t>9.  </a:t>
            </a:r>
            <a:r>
              <a:rPr sz="2000" b="0" i="0">
                <a:solidFill>
                  <a:srgbClr val="1A1A1A"/>
                </a:solidFill>
                <a:latin typeface="Times New Roman"/>
              </a:rPr>
              <a:t>Chevalier, A., et al. (2023). Adapting Language Models to Compress Contexts. EMNLP.</a:t>
            </a:r>
          </a:p>
          <a:p>
            <a:pPr>
              <a:lnSpc>
                <a:spcPct val="102000"/>
              </a:lnSpc>
              <a:spcAft>
                <a:spcPts val="900"/>
              </a:spcAft>
            </a:pPr>
            <a:r>
              <a:rPr sz="2000" b="0" i="0">
                <a:solidFill>
                  <a:srgbClr val="5A5A5A"/>
                </a:solidFill>
                <a:latin typeface="Times New Roman"/>
              </a:rPr>
              <a:t>10.  </a:t>
            </a:r>
            <a:r>
              <a:rPr sz="2000" b="0" i="0">
                <a:solidFill>
                  <a:srgbClr val="1A1A1A"/>
                </a:solidFill>
                <a:latin typeface="Times New Roman"/>
              </a:rPr>
              <a:t>Zhang, Z., et al. (2024). A Survey on the Memory Mechanism of LLM-Based Agents. arXiv:2404.13501.</a:t>
            </a:r>
          </a:p>
          <a:p>
            <a:pPr>
              <a:lnSpc>
                <a:spcPct val="102000"/>
              </a:lnSpc>
              <a:spcAft>
                <a:spcPts val="900"/>
              </a:spcAft>
            </a:pPr>
            <a:r>
              <a:rPr sz="2000" b="0" i="0">
                <a:solidFill>
                  <a:srgbClr val="5A5A5A"/>
                </a:solidFill>
                <a:latin typeface="Times New Roman"/>
              </a:rPr>
              <a:t>11.  </a:t>
            </a:r>
            <a:r>
              <a:rPr sz="2000" b="0" i="0">
                <a:solidFill>
                  <a:srgbClr val="1A1A1A"/>
                </a:solidFill>
                <a:latin typeface="Times New Roman"/>
              </a:rPr>
              <a:t>Xu, W., et al. (2025). A-MEM: Agentic Memory for LLM Agents. NeurIPS, arXiv:2502.12110.</a:t>
            </a:r>
          </a:p>
          <a:p>
            <a:pPr>
              <a:lnSpc>
                <a:spcPct val="102000"/>
              </a:lnSpc>
              <a:spcAft>
                <a:spcPts val="900"/>
              </a:spcAft>
            </a:pPr>
            <a:r>
              <a:rPr sz="2000" b="0" i="0">
                <a:solidFill>
                  <a:srgbClr val="5A5A5A"/>
                </a:solidFill>
                <a:latin typeface="Times New Roman"/>
              </a:rPr>
              <a:t>12.  </a:t>
            </a:r>
            <a:r>
              <a:rPr sz="2000" b="0" i="0">
                <a:solidFill>
                  <a:srgbClr val="1A1A1A"/>
                </a:solidFill>
                <a:latin typeface="Times New Roman"/>
              </a:rPr>
              <a:t>Chroma Research (2025). Context Rot.  ·  Colaco &amp; Lahjouji (2026). arXiv:2607.08032.</a:t>
            </a:r>
          </a:p>
          <a:p>
            <a:pPr>
              <a:lnSpc>
                <a:spcPct val="102000"/>
              </a:lnSpc>
              <a:spcAft>
                <a:spcPts val="900"/>
              </a:spcAft>
            </a:pPr>
            <a:r>
              <a:rPr sz="2000" b="0" i="0">
                <a:solidFill>
                  <a:srgbClr val="5A5A5A"/>
                </a:solidFill>
                <a:latin typeface="Times New Roman"/>
              </a:rPr>
              <a:t>13.  </a:t>
            </a:r>
            <a:r>
              <a:rPr sz="2000" b="0" i="0">
                <a:solidFill>
                  <a:srgbClr val="1A1A1A"/>
                </a:solidFill>
                <a:latin typeface="Times New Roman"/>
              </a:rPr>
              <a:t>Wu, D., et al. (2024). LongMemEval. arXiv:2410.10813.</a:t>
            </a:r>
          </a:p>
        </p:txBody>
      </p:sp>
      <p:sp>
        <p:nvSpPr>
          <p:cNvPr id="4" name="TextBox 3"/>
          <p:cNvSpPr txBox="1"/>
          <p:nvPr/>
        </p:nvSpPr>
        <p:spPr>
          <a:xfrm>
            <a:off x="822960" y="8915400"/>
            <a:ext cx="16642080" cy="692658"/>
          </a:xfrm>
          <a:prstGeom prst="rect">
            <a:avLst/>
          </a:prstGeom>
          <a:noFill/>
        </p:spPr>
        <p:txBody>
          <a:bodyPr wrap="square">
            <a:spAutoFit/>
          </a:bodyPr>
          <a:lstStyle/>
          <a:p>
            <a:pPr algn="l"/>
            <a:r>
              <a:rPr sz="1700" b="0" i="1">
                <a:solidFill>
                  <a:srgbClr val="5A5A5A"/>
                </a:solidFill>
                <a:latin typeface="Times New Roman"/>
              </a:rPr>
              <a:t>Author lists, venues and years were each verified against source pages. Several 2026 performance figures used in the motivation come from vendor blogs and are treated as indicative — re-measuring them under one harness is itself part of the contribution.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37360" y="3566160"/>
            <a:ext cx="14813280" cy="3657600"/>
          </a:xfrm>
          <a:prstGeom prst="rect">
            <a:avLst/>
          </a:prstGeom>
          <a:noFill/>
        </p:spPr>
        <p:txBody>
          <a:bodyPr wrap="square">
            <a:spAutoFit/>
          </a:bodyPr>
          <a:lstStyle/>
          <a:p>
            <a:pPr algn="ctr"/>
            <a:r>
              <a:rPr sz="5400" b="1" i="0">
                <a:solidFill>
                  <a:srgbClr val="111111"/>
                </a:solidFill>
                <a:latin typeface="Times New Roman"/>
              </a:rPr>
              <a:t>Thank You</a:t>
            </a:r>
          </a:p>
          <a:p>
            <a:pPr algn="ctr">
              <a:spcBef>
                <a:spcPts val="1600"/>
              </a:spcBef>
            </a:pPr>
            <a:r>
              <a:rPr sz="2700" b="0" i="0">
                <a:solidFill>
                  <a:srgbClr val="5A5A5A"/>
                </a:solidFill>
                <a:latin typeface="Times New Roman"/>
              </a:rPr>
              <a:t>Questions welcome — including on the results that did not work.</a:t>
            </a:r>
          </a:p>
          <a:p>
            <a:pPr algn="ctr">
              <a:spcBef>
                <a:spcPts val="2600"/>
              </a:spcBef>
            </a:pPr>
            <a:r>
              <a:rPr sz="2400" b="0" i="0">
                <a:solidFill>
                  <a:srgbClr val="1A1A1A"/>
                </a:solidFill>
                <a:latin typeface="Times New Roman"/>
              </a:rPr>
              <a:t>Simar Singh Khanuja  ·  Yash Ramchandani</a:t>
            </a:r>
          </a:p>
          <a:p>
            <a:pPr algn="ctr"/>
            <a:r>
              <a:rPr sz="2400" b="0" i="0">
                <a:solidFill>
                  <a:srgbClr val="C1272D"/>
                </a:solidFill>
                <a:latin typeface="Times New Roman"/>
              </a:rPr>
              <a:t>SVKM’s NMIMS, Indore Campus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4200" b="1" i="0">
                <a:solidFill>
                  <a:srgbClr val="111111"/>
                </a:solidFill>
                <a:latin typeface="Times New Roman"/>
              </a:rPr>
              <a:t>Backup — the full storage sweep</a:t>
            </a:r>
          </a:p>
        </p:txBody>
      </p:sp>
      <p:sp>
        <p:nvSpPr>
          <p:cNvPr id="3" name="TextBox 2"/>
          <p:cNvSpPr txBox="1"/>
          <p:nvPr/>
        </p:nvSpPr>
        <p:spPr>
          <a:xfrm>
            <a:off x="2834640" y="1700784"/>
            <a:ext cx="12618720" cy="731520"/>
          </a:xfrm>
          <a:prstGeom prst="rect">
            <a:avLst/>
          </a:prstGeom>
          <a:noFill/>
        </p:spPr>
        <p:txBody>
          <a:bodyPr wrap="square" tIns="0" bIns="0">
            <a:spAutoFit/>
          </a:bodyPr>
          <a:lstStyle/>
          <a:p>
            <a:pPr algn="ctr"/>
            <a:r>
              <a:rPr sz="1800" b="0" i="1">
                <a:solidFill>
                  <a:srgbClr val="5A5A5A"/>
                </a:solidFill>
                <a:latin typeface="Times New Roman"/>
              </a:rPr>
              <a:t>Shown on request. Context budget pinned at 2048 for every row.</a:t>
            </a:r>
          </a:p>
        </p:txBody>
      </p:sp>
      <p:graphicFrame>
        <p:nvGraphicFramePr>
          <p:cNvPr id="4" name="Table 3"/>
          <p:cNvGraphicFramePr>
            <a:graphicFrameLocks noGrp="1"/>
          </p:cNvGraphicFramePr>
          <p:nvPr/>
        </p:nvGraphicFramePr>
        <p:xfrm>
          <a:off x="822960" y="2514600"/>
          <a:ext cx="16642077" cy="7360919"/>
        </p:xfrm>
        <a:graphic>
          <a:graphicData uri="http://schemas.openxmlformats.org/drawingml/2006/table">
            <a:tbl>
              <a:tblPr firstRow="1" bandRow="1">
                <a:tableStyleId>{5C22544A-7EE6-4342-B048-85BDC9FD1C3A}</a:tableStyleId>
              </a:tblPr>
              <a:tblGrid>
                <a:gridCol w="1751797"/>
                <a:gridCol w="4729854"/>
                <a:gridCol w="2802876"/>
                <a:gridCol w="2627696"/>
                <a:gridCol w="2277337"/>
                <a:gridCol w="2452517"/>
              </a:tblGrid>
              <a:tr h="237449">
                <a:tc>
                  <a:txBody>
                    <a:bodyPr/>
                    <a:lstStyle/>
                    <a:p>
                      <a:r>
                        <a:rPr sz="1100" b="1" i="0">
                          <a:solidFill>
                            <a:srgbClr val="111111"/>
                          </a:solidFill>
                          <a:latin typeface="Times New Roman"/>
                        </a:rPr>
                        <a:t>S</a:t>
                      </a:r>
                    </a:p>
                  </a:txBody>
                  <a:tcPr anchor="ctr" marL="128016" marR="91440" marT="0" marB="0"/>
                </a:tc>
                <a:tc>
                  <a:txBody>
                    <a:bodyPr/>
                    <a:lstStyle/>
                    <a:p>
                      <a:r>
                        <a:rPr sz="1100" b="1" i="0">
                          <a:solidFill>
                            <a:srgbClr val="111111"/>
                          </a:solidFill>
                          <a:latin typeface="Times New Roman"/>
                        </a:rPr>
                        <a:t>Policy</a:t>
                      </a:r>
                    </a:p>
                  </a:txBody>
                  <a:tcPr anchor="ctr" marL="128016" marR="91440" marT="0" marB="0"/>
                </a:tc>
                <a:tc>
                  <a:txBody>
                    <a:bodyPr/>
                    <a:lstStyle/>
                    <a:p>
                      <a:r>
                        <a:rPr sz="1100" b="1" i="0">
                          <a:solidFill>
                            <a:srgbClr val="111111"/>
                          </a:solidFill>
                          <a:latin typeface="Times New Roman"/>
                        </a:rPr>
                        <a:t>Evidence recall</a:t>
                      </a:r>
                    </a:p>
                  </a:txBody>
                  <a:tcPr anchor="ctr" marL="128016" marR="91440" marT="0" marB="0"/>
                </a:tc>
                <a:tc>
                  <a:txBody>
                    <a:bodyPr/>
                    <a:lstStyle/>
                    <a:p>
                      <a:r>
                        <a:rPr sz="1100" b="1" i="0">
                          <a:solidFill>
                            <a:srgbClr val="111111"/>
                          </a:solidFill>
                          <a:latin typeface="Times New Roman"/>
                        </a:rPr>
                        <a:t>Answer recall</a:t>
                      </a:r>
                    </a:p>
                  </a:txBody>
                  <a:tcPr anchor="ctr" marL="128016" marR="91440" marT="0" marB="0"/>
                </a:tc>
                <a:tc>
                  <a:txBody>
                    <a:bodyPr/>
                    <a:lstStyle/>
                    <a:p>
                      <a:r>
                        <a:rPr sz="1100" b="1" i="0">
                          <a:solidFill>
                            <a:srgbClr val="111111"/>
                          </a:solidFill>
                          <a:latin typeface="Times New Roman"/>
                        </a:rPr>
                        <a:t>Stored tokens</a:t>
                      </a:r>
                    </a:p>
                  </a:txBody>
                  <a:tcPr anchor="ctr" marL="128016" marR="91440" marT="0" marB="0"/>
                </a:tc>
                <a:tc>
                  <a:txBody>
                    <a:bodyPr/>
                    <a:lstStyle/>
                    <a:p>
                      <a:r>
                        <a:rPr sz="1100" b="1" i="0">
                          <a:solidFill>
                            <a:srgbClr val="111111"/>
                          </a:solidFill>
                          <a:latin typeface="Times New Roman"/>
                        </a:rPr>
                        <a:t>Context tokens</a:t>
                      </a:r>
                    </a:p>
                  </a:txBody>
                  <a:tcPr anchor="ctr" marL="128016" marR="91440" marT="0" marB="0"/>
                </a:tc>
              </a:tr>
              <a:tr h="237449">
                <a:tc>
                  <a:txBody>
                    <a:bodyPr/>
                    <a:lstStyle/>
                    <a:p>
                      <a:r>
                        <a:rPr sz="1100" b="0" i="0">
                          <a:solidFill>
                            <a:srgbClr val="1A1A1A"/>
                          </a:solidFill>
                          <a:latin typeface="Times New Roman"/>
                        </a:rPr>
                        <a:t>512</a:t>
                      </a:r>
                    </a:p>
                  </a:txBody>
                  <a:tcPr anchor="ctr" marL="128016" marR="91440" marT="0" marB="0"/>
                </a:tc>
                <a:tc>
                  <a:txBody>
                    <a:bodyPr/>
                    <a:lstStyle/>
                    <a:p>
                      <a:r>
                        <a:rPr sz="1100" b="0" i="0">
                          <a:solidFill>
                            <a:srgbClr val="1A1A1A"/>
                          </a:solidFill>
                          <a:latin typeface="Times New Roman"/>
                        </a:rPr>
                        <a:t>P0 sliding-window</a:t>
                      </a:r>
                    </a:p>
                  </a:txBody>
                  <a:tcPr anchor="ctr" marL="128016" marR="91440" marT="0" marB="0"/>
                </a:tc>
                <a:tc>
                  <a:txBody>
                    <a:bodyPr/>
                    <a:lstStyle/>
                    <a:p>
                      <a:pPr algn="r"/>
                      <a:r>
                        <a:rPr sz="1100" b="0" i="0">
                          <a:solidFill>
                            <a:srgbClr val="1A1A1A"/>
                          </a:solidFill>
                          <a:latin typeface="Times New Roman"/>
                        </a:rPr>
                        <a:t>1.6%</a:t>
                      </a:r>
                    </a:p>
                  </a:txBody>
                  <a:tcPr anchor="ctr" marL="128016" marR="91440" marT="0" marB="0"/>
                </a:tc>
                <a:tc>
                  <a:txBody>
                    <a:bodyPr/>
                    <a:lstStyle/>
                    <a:p>
                      <a:pPr algn="r"/>
                      <a:r>
                        <a:rPr sz="1100" b="0" i="0">
                          <a:solidFill>
                            <a:srgbClr val="1A1A1A"/>
                          </a:solidFill>
                          <a:latin typeface="Times New Roman"/>
                        </a:rPr>
                        <a:t>4.9%</a:t>
                      </a:r>
                    </a:p>
                  </a:txBody>
                  <a:tcPr anchor="ctr" marL="128016" marR="91440" marT="0" marB="0"/>
                </a:tc>
                <a:tc>
                  <a:txBody>
                    <a:bodyPr/>
                    <a:lstStyle/>
                    <a:p>
                      <a:pPr algn="r"/>
                      <a:r>
                        <a:rPr sz="1100" b="0" i="0">
                          <a:solidFill>
                            <a:srgbClr val="1A1A1A"/>
                          </a:solidFill>
                          <a:latin typeface="Times New Roman"/>
                        </a:rPr>
                        <a:t>497</a:t>
                      </a:r>
                    </a:p>
                  </a:txBody>
                  <a:tcPr anchor="ctr" marL="128016" marR="91440" marT="0" marB="0"/>
                </a:tc>
                <a:tc>
                  <a:txBody>
                    <a:bodyPr/>
                    <a:lstStyle/>
                    <a:p>
                      <a:pPr algn="r"/>
                      <a:r>
                        <a:rPr sz="1100" b="0" i="0">
                          <a:solidFill>
                            <a:srgbClr val="1A1A1A"/>
                          </a:solidFill>
                          <a:latin typeface="Times New Roman"/>
                        </a:rPr>
                        <a:t>496</a:t>
                      </a:r>
                    </a:p>
                  </a:txBody>
                  <a:tcPr anchor="ctr" marL="128016" marR="91440" marT="0" marB="0"/>
                </a:tc>
              </a:tr>
              <a:tr h="237449">
                <a:tc>
                  <a:txBody>
                    <a:bodyPr/>
                    <a:lstStyle/>
                    <a:p>
                      <a:r>
                        <a:rPr sz="1100" b="0" i="0">
                          <a:solidFill>
                            <a:srgbClr val="1A1A1A"/>
                          </a:solidFill>
                          <a:latin typeface="Times New Roman"/>
                        </a:rPr>
                        <a:t>512</a:t>
                      </a:r>
                    </a:p>
                  </a:txBody>
                  <a:tcPr anchor="ctr" marL="128016" marR="91440" marT="0" marB="0"/>
                </a:tc>
                <a:tc>
                  <a:txBody>
                    <a:bodyPr/>
                    <a:lstStyle/>
                    <a:p>
                      <a:r>
                        <a:rPr sz="1100" b="0" i="0">
                          <a:solidFill>
                            <a:srgbClr val="1A1A1A"/>
                          </a:solidFill>
                          <a:latin typeface="Times New Roman"/>
                        </a:rPr>
                        <a:t>RAG store-all</a:t>
                      </a:r>
                    </a:p>
                  </a:txBody>
                  <a:tcPr anchor="ctr" marL="128016" marR="91440" marT="0" marB="0"/>
                </a:tc>
                <a:tc>
                  <a:txBody>
                    <a:bodyPr/>
                    <a:lstStyle/>
                    <a:p>
                      <a:pPr algn="r"/>
                      <a:r>
                        <a:rPr sz="1100" b="0" i="0">
                          <a:solidFill>
                            <a:srgbClr val="1A1A1A"/>
                          </a:solidFill>
                          <a:latin typeface="Times New Roman"/>
                        </a:rPr>
                        <a:t>1.6%</a:t>
                      </a:r>
                    </a:p>
                  </a:txBody>
                  <a:tcPr anchor="ctr" marL="128016" marR="91440" marT="0" marB="0"/>
                </a:tc>
                <a:tc>
                  <a:txBody>
                    <a:bodyPr/>
                    <a:lstStyle/>
                    <a:p>
                      <a:pPr algn="r"/>
                      <a:r>
                        <a:rPr sz="1100" b="0" i="0">
                          <a:solidFill>
                            <a:srgbClr val="1A1A1A"/>
                          </a:solidFill>
                          <a:latin typeface="Times New Roman"/>
                        </a:rPr>
                        <a:t>4.9%</a:t>
                      </a:r>
                    </a:p>
                  </a:txBody>
                  <a:tcPr anchor="ctr" marL="128016" marR="91440" marT="0" marB="0"/>
                </a:tc>
                <a:tc>
                  <a:txBody>
                    <a:bodyPr/>
                    <a:lstStyle/>
                    <a:p>
                      <a:pPr algn="r"/>
                      <a:r>
                        <a:rPr sz="1100" b="0" i="0">
                          <a:solidFill>
                            <a:srgbClr val="1A1A1A"/>
                          </a:solidFill>
                          <a:latin typeface="Times New Roman"/>
                        </a:rPr>
                        <a:t>497</a:t>
                      </a:r>
                    </a:p>
                  </a:txBody>
                  <a:tcPr anchor="ctr" marL="128016" marR="91440" marT="0" marB="0"/>
                </a:tc>
                <a:tc>
                  <a:txBody>
                    <a:bodyPr/>
                    <a:lstStyle/>
                    <a:p>
                      <a:pPr algn="r"/>
                      <a:r>
                        <a:rPr sz="1100" b="0" i="0">
                          <a:solidFill>
                            <a:srgbClr val="1A1A1A"/>
                          </a:solidFill>
                          <a:latin typeface="Times New Roman"/>
                        </a:rPr>
                        <a:t>496</a:t>
                      </a:r>
                    </a:p>
                  </a:txBody>
                  <a:tcPr anchor="ctr" marL="128016" marR="91440" marT="0" marB="0"/>
                </a:tc>
              </a:tr>
              <a:tr h="237449">
                <a:tc>
                  <a:txBody>
                    <a:bodyPr/>
                    <a:lstStyle/>
                    <a:p>
                      <a:r>
                        <a:rPr sz="1100" b="0" i="0">
                          <a:solidFill>
                            <a:srgbClr val="1A1A1A"/>
                          </a:solidFill>
                          <a:latin typeface="Times New Roman"/>
                        </a:rPr>
                        <a:t>512</a:t>
                      </a:r>
                    </a:p>
                  </a:txBody>
                  <a:tcPr anchor="ctr" marL="128016" marR="91440" marT="0" marB="0"/>
                </a:tc>
                <a:tc>
                  <a:txBody>
                    <a:bodyPr/>
                    <a:lstStyle/>
                    <a:p>
                      <a:r>
                        <a:rPr sz="1100" b="0" i="0">
                          <a:solidFill>
                            <a:srgbClr val="1A1A1A"/>
                          </a:solidFill>
                          <a:latin typeface="Times New Roman"/>
                        </a:rPr>
                        <a:t>P1 MemGate</a:t>
                      </a:r>
                    </a:p>
                  </a:txBody>
                  <a:tcPr anchor="ctr" marL="128016" marR="91440" marT="0" marB="0"/>
                </a:tc>
                <a:tc>
                  <a:txBody>
                    <a:bodyPr/>
                    <a:lstStyle/>
                    <a:p>
                      <a:pPr algn="r"/>
                      <a:r>
                        <a:rPr sz="1100" b="0" i="0">
                          <a:solidFill>
                            <a:srgbClr val="1A1A1A"/>
                          </a:solidFill>
                          <a:latin typeface="Times New Roman"/>
                        </a:rPr>
                        <a:t>2.4%</a:t>
                      </a:r>
                    </a:p>
                  </a:txBody>
                  <a:tcPr anchor="ctr" marL="128016" marR="91440" marT="0" marB="0"/>
                </a:tc>
                <a:tc>
                  <a:txBody>
                    <a:bodyPr/>
                    <a:lstStyle/>
                    <a:p>
                      <a:pPr algn="r"/>
                      <a:r>
                        <a:rPr sz="1100" b="0" i="0">
                          <a:solidFill>
                            <a:srgbClr val="1A1A1A"/>
                          </a:solidFill>
                          <a:latin typeface="Times New Roman"/>
                        </a:rPr>
                        <a:t>5.9%</a:t>
                      </a:r>
                    </a:p>
                  </a:txBody>
                  <a:tcPr anchor="ctr" marL="128016" marR="91440" marT="0" marB="0"/>
                </a:tc>
                <a:tc>
                  <a:txBody>
                    <a:bodyPr/>
                    <a:lstStyle/>
                    <a:p>
                      <a:pPr algn="r"/>
                      <a:r>
                        <a:rPr sz="1100" b="0" i="0">
                          <a:solidFill>
                            <a:srgbClr val="1A1A1A"/>
                          </a:solidFill>
                          <a:latin typeface="Times New Roman"/>
                        </a:rPr>
                        <a:t>445</a:t>
                      </a:r>
                    </a:p>
                  </a:txBody>
                  <a:tcPr anchor="ctr" marL="128016" marR="91440" marT="0" marB="0"/>
                </a:tc>
                <a:tc>
                  <a:txBody>
                    <a:bodyPr/>
                    <a:lstStyle/>
                    <a:p>
                      <a:pPr algn="r"/>
                      <a:r>
                        <a:rPr sz="1100" b="0" i="0">
                          <a:solidFill>
                            <a:srgbClr val="1A1A1A"/>
                          </a:solidFill>
                          <a:latin typeface="Times New Roman"/>
                        </a:rPr>
                        <a:t>441</a:t>
                      </a:r>
                    </a:p>
                  </a:txBody>
                  <a:tcPr anchor="ctr" marL="128016" marR="91440" marT="0" marB="0"/>
                </a:tc>
              </a:tr>
              <a:tr h="237449">
                <a:tc>
                  <a:txBody>
                    <a:bodyPr/>
                    <a:lstStyle/>
                    <a:p>
                      <a:r>
                        <a:rPr sz="1100" b="0" i="0">
                          <a:solidFill>
                            <a:srgbClr val="1A1A1A"/>
                          </a:solidFill>
                          <a:latin typeface="Times New Roman"/>
                        </a:rPr>
                        <a:t>512</a:t>
                      </a:r>
                    </a:p>
                  </a:txBody>
                  <a:tcPr anchor="ctr" marL="128016" marR="91440" marT="0" marB="0"/>
                </a:tc>
                <a:tc>
                  <a:txBody>
                    <a:bodyPr/>
                    <a:lstStyle/>
                    <a:p>
                      <a:r>
                        <a:rPr sz="1100" b="0" i="0">
                          <a:solidFill>
                            <a:srgbClr val="1A1A1A"/>
                          </a:solidFill>
                          <a:latin typeface="Times New Roman"/>
                        </a:rPr>
                        <a:t>P1-A MemGate adaptive</a:t>
                      </a:r>
                    </a:p>
                  </a:txBody>
                  <a:tcPr anchor="ctr" marL="128016" marR="91440" marT="0" marB="0"/>
                </a:tc>
                <a:tc>
                  <a:txBody>
                    <a:bodyPr/>
                    <a:lstStyle/>
                    <a:p>
                      <a:pPr algn="r"/>
                      <a:r>
                        <a:rPr sz="1100" b="0" i="0">
                          <a:solidFill>
                            <a:srgbClr val="1A1A1A"/>
                          </a:solidFill>
                          <a:latin typeface="Times New Roman"/>
                        </a:rPr>
                        <a:t>4.8%</a:t>
                      </a:r>
                    </a:p>
                  </a:txBody>
                  <a:tcPr anchor="ctr" marL="128016" marR="91440" marT="0" marB="0"/>
                </a:tc>
                <a:tc>
                  <a:txBody>
                    <a:bodyPr/>
                    <a:lstStyle/>
                    <a:p>
                      <a:pPr algn="r"/>
                      <a:r>
                        <a:rPr sz="1100" b="0" i="0">
                          <a:solidFill>
                            <a:srgbClr val="1A1A1A"/>
                          </a:solidFill>
                          <a:latin typeface="Times New Roman"/>
                        </a:rPr>
                        <a:t>5.2%</a:t>
                      </a:r>
                    </a:p>
                  </a:txBody>
                  <a:tcPr anchor="ctr" marL="128016" marR="91440" marT="0" marB="0"/>
                </a:tc>
                <a:tc>
                  <a:txBody>
                    <a:bodyPr/>
                    <a:lstStyle/>
                    <a:p>
                      <a:pPr algn="r"/>
                      <a:r>
                        <a:rPr sz="1100" b="0" i="0">
                          <a:solidFill>
                            <a:srgbClr val="1A1A1A"/>
                          </a:solidFill>
                          <a:latin typeface="Times New Roman"/>
                        </a:rPr>
                        <a:t>492</a:t>
                      </a:r>
                    </a:p>
                  </a:txBody>
                  <a:tcPr anchor="ctr" marL="128016" marR="91440" marT="0" marB="0"/>
                </a:tc>
                <a:tc>
                  <a:txBody>
                    <a:bodyPr/>
                    <a:lstStyle/>
                    <a:p>
                      <a:pPr algn="r"/>
                      <a:r>
                        <a:rPr sz="1100" b="0" i="0">
                          <a:solidFill>
                            <a:srgbClr val="1A1A1A"/>
                          </a:solidFill>
                          <a:latin typeface="Times New Roman"/>
                        </a:rPr>
                        <a:t>489</a:t>
                      </a:r>
                    </a:p>
                  </a:txBody>
                  <a:tcPr anchor="ctr" marL="128016" marR="91440" marT="0" marB="0"/>
                </a:tc>
              </a:tr>
              <a:tr h="237449">
                <a:tc>
                  <a:txBody>
                    <a:bodyPr/>
                    <a:lstStyle/>
                    <a:p>
                      <a:r>
                        <a:rPr sz="1100" b="0" i="0">
                          <a:solidFill>
                            <a:srgbClr val="1A1A1A"/>
                          </a:solidFill>
                          <a:latin typeface="Times New Roman"/>
                        </a:rPr>
                        <a:t>512</a:t>
                      </a:r>
                    </a:p>
                  </a:txBody>
                  <a:tcPr anchor="ctr" marL="128016" marR="91440" marT="0" marB="0"/>
                </a:tc>
                <a:tc>
                  <a:txBody>
                    <a:bodyPr/>
                    <a:lstStyle/>
                    <a:p>
                      <a:r>
                        <a:rPr sz="1100" b="0" i="0">
                          <a:solidFill>
                            <a:srgbClr val="1A1A1A"/>
                          </a:solidFill>
                          <a:latin typeface="Times New Roman"/>
                        </a:rPr>
                        <a:t>P1-S MemGate select</a:t>
                      </a:r>
                    </a:p>
                  </a:txBody>
                  <a:tcPr anchor="ctr" marL="128016" marR="91440" marT="0" marB="0"/>
                </a:tc>
                <a:tc>
                  <a:txBody>
                    <a:bodyPr/>
                    <a:lstStyle/>
                    <a:p>
                      <a:pPr algn="r"/>
                      <a:r>
                        <a:rPr sz="1100" b="0" i="0">
                          <a:solidFill>
                            <a:srgbClr val="1A1A1A"/>
                          </a:solidFill>
                          <a:latin typeface="Times New Roman"/>
                        </a:rPr>
                        <a:t>2.0%</a:t>
                      </a:r>
                    </a:p>
                  </a:txBody>
                  <a:tcPr anchor="ctr" marL="128016" marR="91440" marT="0" marB="0"/>
                </a:tc>
                <a:tc>
                  <a:txBody>
                    <a:bodyPr/>
                    <a:lstStyle/>
                    <a:p>
                      <a:pPr algn="r"/>
                      <a:r>
                        <a:rPr sz="1100" b="0" i="0">
                          <a:solidFill>
                            <a:srgbClr val="1A1A1A"/>
                          </a:solidFill>
                          <a:latin typeface="Times New Roman"/>
                        </a:rPr>
                        <a:t>7.7%</a:t>
                      </a:r>
                    </a:p>
                  </a:txBody>
                  <a:tcPr anchor="ctr" marL="128016" marR="91440" marT="0" marB="0"/>
                </a:tc>
                <a:tc>
                  <a:txBody>
                    <a:bodyPr/>
                    <a:lstStyle/>
                    <a:p>
                      <a:pPr algn="r"/>
                      <a:r>
                        <a:rPr sz="1100" b="0" i="0">
                          <a:solidFill>
                            <a:srgbClr val="1A1A1A"/>
                          </a:solidFill>
                          <a:latin typeface="Times New Roman"/>
                        </a:rPr>
                        <a:t>491</a:t>
                      </a:r>
                    </a:p>
                  </a:txBody>
                  <a:tcPr anchor="ctr" marL="128016" marR="91440" marT="0" marB="0"/>
                </a:tc>
                <a:tc>
                  <a:txBody>
                    <a:bodyPr/>
                    <a:lstStyle/>
                    <a:p>
                      <a:pPr algn="r"/>
                      <a:r>
                        <a:rPr sz="1100" b="0" i="0">
                          <a:solidFill>
                            <a:srgbClr val="1A1A1A"/>
                          </a:solidFill>
                          <a:latin typeface="Times New Roman"/>
                        </a:rPr>
                        <a:t>480</a:t>
                      </a:r>
                    </a:p>
                  </a:txBody>
                  <a:tcPr anchor="ctr" marL="128016" marR="91440" marT="0" marB="0"/>
                </a:tc>
              </a:tr>
              <a:tr h="237449">
                <a:tc>
                  <a:txBody>
                    <a:bodyPr/>
                    <a:lstStyle/>
                    <a:p>
                      <a:r>
                        <a:rPr sz="1100" b="0" i="0">
                          <a:solidFill>
                            <a:srgbClr val="1A1A1A"/>
                          </a:solidFill>
                          <a:latin typeface="Times New Roman"/>
                        </a:rPr>
                        <a:t>1,024</a:t>
                      </a:r>
                    </a:p>
                  </a:txBody>
                  <a:tcPr anchor="ctr" marL="128016" marR="91440" marT="0" marB="0"/>
                </a:tc>
                <a:tc>
                  <a:txBody>
                    <a:bodyPr/>
                    <a:lstStyle/>
                    <a:p>
                      <a:r>
                        <a:rPr sz="1100" b="0" i="0">
                          <a:solidFill>
                            <a:srgbClr val="1A1A1A"/>
                          </a:solidFill>
                          <a:latin typeface="Times New Roman"/>
                        </a:rPr>
                        <a:t>P0 sliding-window</a:t>
                      </a:r>
                    </a:p>
                  </a:txBody>
                  <a:tcPr anchor="ctr" marL="128016" marR="91440" marT="0" marB="0"/>
                </a:tc>
                <a:tc>
                  <a:txBody>
                    <a:bodyPr/>
                    <a:lstStyle/>
                    <a:p>
                      <a:pPr algn="r"/>
                      <a:r>
                        <a:rPr sz="1100" b="0" i="0">
                          <a:solidFill>
                            <a:srgbClr val="1A1A1A"/>
                          </a:solidFill>
                          <a:latin typeface="Times New Roman"/>
                        </a:rPr>
                        <a:t>4.3%</a:t>
                      </a:r>
                    </a:p>
                  </a:txBody>
                  <a:tcPr anchor="ctr" marL="128016" marR="91440" marT="0" marB="0"/>
                </a:tc>
                <a:tc>
                  <a:txBody>
                    <a:bodyPr/>
                    <a:lstStyle/>
                    <a:p>
                      <a:pPr algn="r"/>
                      <a:r>
                        <a:rPr sz="1100" b="0" i="0">
                          <a:solidFill>
                            <a:srgbClr val="1A1A1A"/>
                          </a:solidFill>
                          <a:latin typeface="Times New Roman"/>
                        </a:rPr>
                        <a:t>9.1%</a:t>
                      </a:r>
                    </a:p>
                  </a:txBody>
                  <a:tcPr anchor="ctr" marL="128016" marR="91440" marT="0" marB="0"/>
                </a:tc>
                <a:tc>
                  <a:txBody>
                    <a:bodyPr/>
                    <a:lstStyle/>
                    <a:p>
                      <a:pPr algn="r"/>
                      <a:r>
                        <a:rPr sz="1100" b="0" i="0">
                          <a:solidFill>
                            <a:srgbClr val="1A1A1A"/>
                          </a:solidFill>
                          <a:latin typeface="Times New Roman"/>
                        </a:rPr>
                        <a:t>1,005</a:t>
                      </a:r>
                    </a:p>
                  </a:txBody>
                  <a:tcPr anchor="ctr" marL="128016" marR="91440" marT="0" marB="0"/>
                </a:tc>
                <a:tc>
                  <a:txBody>
                    <a:bodyPr/>
                    <a:lstStyle/>
                    <a:p>
                      <a:pPr algn="r"/>
                      <a:r>
                        <a:rPr sz="1100" b="0" i="0">
                          <a:solidFill>
                            <a:srgbClr val="1A1A1A"/>
                          </a:solidFill>
                          <a:latin typeface="Times New Roman"/>
                        </a:rPr>
                        <a:t>1,005</a:t>
                      </a:r>
                    </a:p>
                  </a:txBody>
                  <a:tcPr anchor="ctr" marL="128016" marR="91440" marT="0" marB="0"/>
                </a:tc>
              </a:tr>
              <a:tr h="237449">
                <a:tc>
                  <a:txBody>
                    <a:bodyPr/>
                    <a:lstStyle/>
                    <a:p>
                      <a:r>
                        <a:rPr sz="1100" b="0" i="0">
                          <a:solidFill>
                            <a:srgbClr val="1A1A1A"/>
                          </a:solidFill>
                          <a:latin typeface="Times New Roman"/>
                        </a:rPr>
                        <a:t>1,024</a:t>
                      </a:r>
                    </a:p>
                  </a:txBody>
                  <a:tcPr anchor="ctr" marL="128016" marR="91440" marT="0" marB="0"/>
                </a:tc>
                <a:tc>
                  <a:txBody>
                    <a:bodyPr/>
                    <a:lstStyle/>
                    <a:p>
                      <a:r>
                        <a:rPr sz="1100" b="0" i="0">
                          <a:solidFill>
                            <a:srgbClr val="1A1A1A"/>
                          </a:solidFill>
                          <a:latin typeface="Times New Roman"/>
                        </a:rPr>
                        <a:t>RAG store-all</a:t>
                      </a:r>
                    </a:p>
                  </a:txBody>
                  <a:tcPr anchor="ctr" marL="128016" marR="91440" marT="0" marB="0"/>
                </a:tc>
                <a:tc>
                  <a:txBody>
                    <a:bodyPr/>
                    <a:lstStyle/>
                    <a:p>
                      <a:pPr algn="r"/>
                      <a:r>
                        <a:rPr sz="1100" b="0" i="0">
                          <a:solidFill>
                            <a:srgbClr val="1A1A1A"/>
                          </a:solidFill>
                          <a:latin typeface="Times New Roman"/>
                        </a:rPr>
                        <a:t>4.3%</a:t>
                      </a:r>
                    </a:p>
                  </a:txBody>
                  <a:tcPr anchor="ctr" marL="128016" marR="91440" marT="0" marB="0"/>
                </a:tc>
                <a:tc>
                  <a:txBody>
                    <a:bodyPr/>
                    <a:lstStyle/>
                    <a:p>
                      <a:pPr algn="r"/>
                      <a:r>
                        <a:rPr sz="1100" b="0" i="0">
                          <a:solidFill>
                            <a:srgbClr val="1A1A1A"/>
                          </a:solidFill>
                          <a:latin typeface="Times New Roman"/>
                        </a:rPr>
                        <a:t>9.1%</a:t>
                      </a:r>
                    </a:p>
                  </a:txBody>
                  <a:tcPr anchor="ctr" marL="128016" marR="91440" marT="0" marB="0"/>
                </a:tc>
                <a:tc>
                  <a:txBody>
                    <a:bodyPr/>
                    <a:lstStyle/>
                    <a:p>
                      <a:pPr algn="r"/>
                      <a:r>
                        <a:rPr sz="1100" b="0" i="0">
                          <a:solidFill>
                            <a:srgbClr val="1A1A1A"/>
                          </a:solidFill>
                          <a:latin typeface="Times New Roman"/>
                        </a:rPr>
                        <a:t>1,005</a:t>
                      </a:r>
                    </a:p>
                  </a:txBody>
                  <a:tcPr anchor="ctr" marL="128016" marR="91440" marT="0" marB="0"/>
                </a:tc>
                <a:tc>
                  <a:txBody>
                    <a:bodyPr/>
                    <a:lstStyle/>
                    <a:p>
                      <a:pPr algn="r"/>
                      <a:r>
                        <a:rPr sz="1100" b="0" i="0">
                          <a:solidFill>
                            <a:srgbClr val="1A1A1A"/>
                          </a:solidFill>
                          <a:latin typeface="Times New Roman"/>
                        </a:rPr>
                        <a:t>987</a:t>
                      </a:r>
                    </a:p>
                  </a:txBody>
                  <a:tcPr anchor="ctr" marL="128016" marR="91440" marT="0" marB="0"/>
                </a:tc>
              </a:tr>
              <a:tr h="237449">
                <a:tc>
                  <a:txBody>
                    <a:bodyPr/>
                    <a:lstStyle/>
                    <a:p>
                      <a:r>
                        <a:rPr sz="1100" b="0" i="0">
                          <a:solidFill>
                            <a:srgbClr val="1A1A1A"/>
                          </a:solidFill>
                          <a:latin typeface="Times New Roman"/>
                        </a:rPr>
                        <a:t>1,024</a:t>
                      </a:r>
                    </a:p>
                  </a:txBody>
                  <a:tcPr anchor="ctr" marL="128016" marR="91440" marT="0" marB="0"/>
                </a:tc>
                <a:tc>
                  <a:txBody>
                    <a:bodyPr/>
                    <a:lstStyle/>
                    <a:p>
                      <a:r>
                        <a:rPr sz="1100" b="0" i="0">
                          <a:solidFill>
                            <a:srgbClr val="1A1A1A"/>
                          </a:solidFill>
                          <a:latin typeface="Times New Roman"/>
                        </a:rPr>
                        <a:t>P1 MemGate</a:t>
                      </a:r>
                    </a:p>
                  </a:txBody>
                  <a:tcPr anchor="ctr" marL="128016" marR="91440" marT="0" marB="0"/>
                </a:tc>
                <a:tc>
                  <a:txBody>
                    <a:bodyPr/>
                    <a:lstStyle/>
                    <a:p>
                      <a:pPr algn="r"/>
                      <a:r>
                        <a:rPr sz="1100" b="0" i="0">
                          <a:solidFill>
                            <a:srgbClr val="1A1A1A"/>
                          </a:solidFill>
                          <a:latin typeface="Times New Roman"/>
                        </a:rPr>
                        <a:t>6.3%</a:t>
                      </a:r>
                    </a:p>
                  </a:txBody>
                  <a:tcPr anchor="ctr" marL="128016" marR="91440" marT="0" marB="0"/>
                </a:tc>
                <a:tc>
                  <a:txBody>
                    <a:bodyPr/>
                    <a:lstStyle/>
                    <a:p>
                      <a:pPr algn="r"/>
                      <a:r>
                        <a:rPr sz="1100" b="0" i="0">
                          <a:solidFill>
                            <a:srgbClr val="1A1A1A"/>
                          </a:solidFill>
                          <a:latin typeface="Times New Roman"/>
                        </a:rPr>
                        <a:t>11.3%</a:t>
                      </a:r>
                    </a:p>
                  </a:txBody>
                  <a:tcPr anchor="ctr" marL="128016" marR="91440" marT="0" marB="0"/>
                </a:tc>
                <a:tc>
                  <a:txBody>
                    <a:bodyPr/>
                    <a:lstStyle/>
                    <a:p>
                      <a:pPr algn="r"/>
                      <a:r>
                        <a:rPr sz="1100" b="0" i="0">
                          <a:solidFill>
                            <a:srgbClr val="1A1A1A"/>
                          </a:solidFill>
                          <a:latin typeface="Times New Roman"/>
                        </a:rPr>
                        <a:t>938</a:t>
                      </a:r>
                    </a:p>
                  </a:txBody>
                  <a:tcPr anchor="ctr" marL="128016" marR="91440" marT="0" marB="0"/>
                </a:tc>
                <a:tc>
                  <a:txBody>
                    <a:bodyPr/>
                    <a:lstStyle/>
                    <a:p>
                      <a:pPr algn="r"/>
                      <a:r>
                        <a:rPr sz="1100" b="0" i="0">
                          <a:solidFill>
                            <a:srgbClr val="1A1A1A"/>
                          </a:solidFill>
                          <a:latin typeface="Times New Roman"/>
                        </a:rPr>
                        <a:t>921</a:t>
                      </a:r>
                    </a:p>
                  </a:txBody>
                  <a:tcPr anchor="ctr" marL="128016" marR="91440" marT="0" marB="0"/>
                </a:tc>
              </a:tr>
              <a:tr h="237449">
                <a:tc>
                  <a:txBody>
                    <a:bodyPr/>
                    <a:lstStyle/>
                    <a:p>
                      <a:r>
                        <a:rPr sz="1100" b="0" i="0">
                          <a:solidFill>
                            <a:srgbClr val="1A1A1A"/>
                          </a:solidFill>
                          <a:latin typeface="Times New Roman"/>
                        </a:rPr>
                        <a:t>1,024</a:t>
                      </a:r>
                    </a:p>
                  </a:txBody>
                  <a:tcPr anchor="ctr" marL="128016" marR="91440" marT="0" marB="0"/>
                </a:tc>
                <a:tc>
                  <a:txBody>
                    <a:bodyPr/>
                    <a:lstStyle/>
                    <a:p>
                      <a:r>
                        <a:rPr sz="1100" b="0" i="0">
                          <a:solidFill>
                            <a:srgbClr val="1A1A1A"/>
                          </a:solidFill>
                          <a:latin typeface="Times New Roman"/>
                        </a:rPr>
                        <a:t>P1-A MemGate adaptive</a:t>
                      </a:r>
                    </a:p>
                  </a:txBody>
                  <a:tcPr anchor="ctr" marL="128016" marR="91440" marT="0" marB="0"/>
                </a:tc>
                <a:tc>
                  <a:txBody>
                    <a:bodyPr/>
                    <a:lstStyle/>
                    <a:p>
                      <a:pPr algn="r"/>
                      <a:r>
                        <a:rPr sz="1100" b="0" i="0">
                          <a:solidFill>
                            <a:srgbClr val="1A1A1A"/>
                          </a:solidFill>
                          <a:latin typeface="Times New Roman"/>
                        </a:rPr>
                        <a:t>9.3%</a:t>
                      </a:r>
                    </a:p>
                  </a:txBody>
                  <a:tcPr anchor="ctr" marL="128016" marR="91440" marT="0" marB="0"/>
                </a:tc>
                <a:tc>
                  <a:txBody>
                    <a:bodyPr/>
                    <a:lstStyle/>
                    <a:p>
                      <a:pPr algn="r"/>
                      <a:r>
                        <a:rPr sz="1100" b="0" i="0">
                          <a:solidFill>
                            <a:srgbClr val="1A1A1A"/>
                          </a:solidFill>
                          <a:latin typeface="Times New Roman"/>
                        </a:rPr>
                        <a:t>11.9%</a:t>
                      </a:r>
                    </a:p>
                  </a:txBody>
                  <a:tcPr anchor="ctr" marL="128016" marR="91440" marT="0" marB="0"/>
                </a:tc>
                <a:tc>
                  <a:txBody>
                    <a:bodyPr/>
                    <a:lstStyle/>
                    <a:p>
                      <a:pPr algn="r"/>
                      <a:r>
                        <a:rPr sz="1100" b="0" i="0">
                          <a:solidFill>
                            <a:srgbClr val="1A1A1A"/>
                          </a:solidFill>
                          <a:latin typeface="Times New Roman"/>
                        </a:rPr>
                        <a:t>989</a:t>
                      </a:r>
                    </a:p>
                  </a:txBody>
                  <a:tcPr anchor="ctr" marL="128016" marR="91440" marT="0" marB="0"/>
                </a:tc>
                <a:tc>
                  <a:txBody>
                    <a:bodyPr/>
                    <a:lstStyle/>
                    <a:p>
                      <a:pPr algn="r"/>
                      <a:r>
                        <a:rPr sz="1100" b="0" i="0">
                          <a:solidFill>
                            <a:srgbClr val="1A1A1A"/>
                          </a:solidFill>
                          <a:latin typeface="Times New Roman"/>
                        </a:rPr>
                        <a:t>972</a:t>
                      </a:r>
                    </a:p>
                  </a:txBody>
                  <a:tcPr anchor="ctr" marL="128016" marR="91440" marT="0" marB="0"/>
                </a:tc>
              </a:tr>
              <a:tr h="237449">
                <a:tc>
                  <a:txBody>
                    <a:bodyPr/>
                    <a:lstStyle/>
                    <a:p>
                      <a:r>
                        <a:rPr sz="1100" b="0" i="0">
                          <a:solidFill>
                            <a:srgbClr val="1A1A1A"/>
                          </a:solidFill>
                          <a:latin typeface="Times New Roman"/>
                        </a:rPr>
                        <a:t>1,024</a:t>
                      </a:r>
                    </a:p>
                  </a:txBody>
                  <a:tcPr anchor="ctr" marL="128016" marR="91440" marT="0" marB="0"/>
                </a:tc>
                <a:tc>
                  <a:txBody>
                    <a:bodyPr/>
                    <a:lstStyle/>
                    <a:p>
                      <a:r>
                        <a:rPr sz="1100" b="0" i="0">
                          <a:solidFill>
                            <a:srgbClr val="1A1A1A"/>
                          </a:solidFill>
                          <a:latin typeface="Times New Roman"/>
                        </a:rPr>
                        <a:t>P1-S MemGate select</a:t>
                      </a:r>
                    </a:p>
                  </a:txBody>
                  <a:tcPr anchor="ctr" marL="128016" marR="91440" marT="0" marB="0"/>
                </a:tc>
                <a:tc>
                  <a:txBody>
                    <a:bodyPr/>
                    <a:lstStyle/>
                    <a:p>
                      <a:pPr algn="r"/>
                      <a:r>
                        <a:rPr sz="1100" b="0" i="0">
                          <a:solidFill>
                            <a:srgbClr val="1A1A1A"/>
                          </a:solidFill>
                          <a:latin typeface="Times New Roman"/>
                        </a:rPr>
                        <a:t>5.3%</a:t>
                      </a:r>
                    </a:p>
                  </a:txBody>
                  <a:tcPr anchor="ctr" marL="128016" marR="91440" marT="0" marB="0"/>
                </a:tc>
                <a:tc>
                  <a:txBody>
                    <a:bodyPr/>
                    <a:lstStyle/>
                    <a:p>
                      <a:pPr algn="r"/>
                      <a:r>
                        <a:rPr sz="1100" b="0" i="0">
                          <a:solidFill>
                            <a:srgbClr val="1A1A1A"/>
                          </a:solidFill>
                          <a:latin typeface="Times New Roman"/>
                        </a:rPr>
                        <a:t>15.8%</a:t>
                      </a:r>
                    </a:p>
                  </a:txBody>
                  <a:tcPr anchor="ctr" marL="128016" marR="91440" marT="0" marB="0"/>
                </a:tc>
                <a:tc>
                  <a:txBody>
                    <a:bodyPr/>
                    <a:lstStyle/>
                    <a:p>
                      <a:pPr algn="r"/>
                      <a:r>
                        <a:rPr sz="1100" b="0" i="0">
                          <a:solidFill>
                            <a:srgbClr val="1A1A1A"/>
                          </a:solidFill>
                          <a:latin typeface="Times New Roman"/>
                        </a:rPr>
                        <a:t>1,004</a:t>
                      </a:r>
                    </a:p>
                  </a:txBody>
                  <a:tcPr anchor="ctr" marL="128016" marR="91440" marT="0" marB="0"/>
                </a:tc>
                <a:tc>
                  <a:txBody>
                    <a:bodyPr/>
                    <a:lstStyle/>
                    <a:p>
                      <a:pPr algn="r"/>
                      <a:r>
                        <a:rPr sz="1100" b="0" i="0">
                          <a:solidFill>
                            <a:srgbClr val="1A1A1A"/>
                          </a:solidFill>
                          <a:latin typeface="Times New Roman"/>
                        </a:rPr>
                        <a:t>971</a:t>
                      </a:r>
                    </a:p>
                  </a:txBody>
                  <a:tcPr anchor="ctr" marL="128016" marR="91440" marT="0" marB="0"/>
                </a:tc>
              </a:tr>
              <a:tr h="237449">
                <a:tc>
                  <a:txBody>
                    <a:bodyPr/>
                    <a:lstStyle/>
                    <a:p>
                      <a:r>
                        <a:rPr sz="1100" b="0" i="0">
                          <a:solidFill>
                            <a:srgbClr val="1A1A1A"/>
                          </a:solidFill>
                          <a:latin typeface="Times New Roman"/>
                        </a:rPr>
                        <a:t>2,048</a:t>
                      </a:r>
                    </a:p>
                  </a:txBody>
                  <a:tcPr anchor="ctr" marL="128016" marR="91440" marT="0" marB="0"/>
                </a:tc>
                <a:tc>
                  <a:txBody>
                    <a:bodyPr/>
                    <a:lstStyle/>
                    <a:p>
                      <a:r>
                        <a:rPr sz="1100" b="0" i="0">
                          <a:solidFill>
                            <a:srgbClr val="1A1A1A"/>
                          </a:solidFill>
                          <a:latin typeface="Times New Roman"/>
                        </a:rPr>
                        <a:t>P0 sliding-window</a:t>
                      </a:r>
                    </a:p>
                  </a:txBody>
                  <a:tcPr anchor="ctr" marL="128016" marR="91440" marT="0" marB="0"/>
                </a:tc>
                <a:tc>
                  <a:txBody>
                    <a:bodyPr/>
                    <a:lstStyle/>
                    <a:p>
                      <a:pPr algn="r"/>
                      <a:r>
                        <a:rPr sz="1100" b="0" i="0">
                          <a:solidFill>
                            <a:srgbClr val="1A1A1A"/>
                          </a:solidFill>
                          <a:latin typeface="Times New Roman"/>
                        </a:rPr>
                        <a:t>10.1%</a:t>
                      </a:r>
                    </a:p>
                  </a:txBody>
                  <a:tcPr anchor="ctr" marL="128016" marR="91440" marT="0" marB="0"/>
                </a:tc>
                <a:tc>
                  <a:txBody>
                    <a:bodyPr/>
                    <a:lstStyle/>
                    <a:p>
                      <a:pPr algn="r"/>
                      <a:r>
                        <a:rPr sz="1100" b="0" i="0">
                          <a:solidFill>
                            <a:srgbClr val="1A1A1A"/>
                          </a:solidFill>
                          <a:latin typeface="Times New Roman"/>
                        </a:rPr>
                        <a:t>18.3%</a:t>
                      </a:r>
                    </a:p>
                  </a:txBody>
                  <a:tcPr anchor="ctr" marL="128016" marR="91440" marT="0" marB="0"/>
                </a:tc>
                <a:tc>
                  <a:txBody>
                    <a:bodyPr/>
                    <a:lstStyle/>
                    <a:p>
                      <a:pPr algn="r"/>
                      <a:r>
                        <a:rPr sz="1100" b="0" i="0">
                          <a:solidFill>
                            <a:srgbClr val="1A1A1A"/>
                          </a:solidFill>
                          <a:latin typeface="Times New Roman"/>
                        </a:rPr>
                        <a:t>2,031</a:t>
                      </a:r>
                    </a:p>
                  </a:txBody>
                  <a:tcPr anchor="ctr" marL="128016" marR="91440" marT="0" marB="0"/>
                </a:tc>
                <a:tc>
                  <a:txBody>
                    <a:bodyPr/>
                    <a:lstStyle/>
                    <a:p>
                      <a:pPr algn="r"/>
                      <a:r>
                        <a:rPr sz="1100" b="0" i="0">
                          <a:solidFill>
                            <a:srgbClr val="1A1A1A"/>
                          </a:solidFill>
                          <a:latin typeface="Times New Roman"/>
                        </a:rPr>
                        <a:t>2,031</a:t>
                      </a:r>
                    </a:p>
                  </a:txBody>
                  <a:tcPr anchor="ctr" marL="128016" marR="91440" marT="0" marB="0"/>
                </a:tc>
              </a:tr>
              <a:tr h="237449">
                <a:tc>
                  <a:txBody>
                    <a:bodyPr/>
                    <a:lstStyle/>
                    <a:p>
                      <a:r>
                        <a:rPr sz="1100" b="0" i="0">
                          <a:solidFill>
                            <a:srgbClr val="1A1A1A"/>
                          </a:solidFill>
                          <a:latin typeface="Times New Roman"/>
                        </a:rPr>
                        <a:t>2,048</a:t>
                      </a:r>
                    </a:p>
                  </a:txBody>
                  <a:tcPr anchor="ctr" marL="128016" marR="91440" marT="0" marB="0"/>
                </a:tc>
                <a:tc>
                  <a:txBody>
                    <a:bodyPr/>
                    <a:lstStyle/>
                    <a:p>
                      <a:r>
                        <a:rPr sz="1100" b="0" i="0">
                          <a:solidFill>
                            <a:srgbClr val="1A1A1A"/>
                          </a:solidFill>
                          <a:latin typeface="Times New Roman"/>
                        </a:rPr>
                        <a:t>RAG store-all</a:t>
                      </a:r>
                    </a:p>
                  </a:txBody>
                  <a:tcPr anchor="ctr" marL="128016" marR="91440" marT="0" marB="0"/>
                </a:tc>
                <a:tc>
                  <a:txBody>
                    <a:bodyPr/>
                    <a:lstStyle/>
                    <a:p>
                      <a:pPr algn="r"/>
                      <a:r>
                        <a:rPr sz="1100" b="0" i="0">
                          <a:solidFill>
                            <a:srgbClr val="1A1A1A"/>
                          </a:solidFill>
                          <a:latin typeface="Times New Roman"/>
                        </a:rPr>
                        <a:t>10.1%</a:t>
                      </a:r>
                    </a:p>
                  </a:txBody>
                  <a:tcPr anchor="ctr" marL="128016" marR="91440" marT="0" marB="0"/>
                </a:tc>
                <a:tc>
                  <a:txBody>
                    <a:bodyPr/>
                    <a:lstStyle/>
                    <a:p>
                      <a:pPr algn="r"/>
                      <a:r>
                        <a:rPr sz="1100" b="0" i="0">
                          <a:solidFill>
                            <a:srgbClr val="1A1A1A"/>
                          </a:solidFill>
                          <a:latin typeface="Times New Roman"/>
                        </a:rPr>
                        <a:t>18.3%</a:t>
                      </a:r>
                    </a:p>
                  </a:txBody>
                  <a:tcPr anchor="ctr" marL="128016" marR="91440" marT="0" marB="0"/>
                </a:tc>
                <a:tc>
                  <a:txBody>
                    <a:bodyPr/>
                    <a:lstStyle/>
                    <a:p>
                      <a:pPr algn="r"/>
                      <a:r>
                        <a:rPr sz="1100" b="0" i="0">
                          <a:solidFill>
                            <a:srgbClr val="1A1A1A"/>
                          </a:solidFill>
                          <a:latin typeface="Times New Roman"/>
                        </a:rPr>
                        <a:t>2,031</a:t>
                      </a:r>
                    </a:p>
                  </a:txBody>
                  <a:tcPr anchor="ctr" marL="128016" marR="91440" marT="0" marB="0"/>
                </a:tc>
                <a:tc>
                  <a:txBody>
                    <a:bodyPr/>
                    <a:lstStyle/>
                    <a:p>
                      <a:pPr algn="r"/>
                      <a:r>
                        <a:rPr sz="1100" b="0" i="0">
                          <a:solidFill>
                            <a:srgbClr val="1A1A1A"/>
                          </a:solidFill>
                          <a:latin typeface="Times New Roman"/>
                        </a:rPr>
                        <a:t>1,983</a:t>
                      </a:r>
                    </a:p>
                  </a:txBody>
                  <a:tcPr anchor="ctr" marL="128016" marR="91440" marT="0" marB="0"/>
                </a:tc>
              </a:tr>
              <a:tr h="237449">
                <a:tc>
                  <a:txBody>
                    <a:bodyPr/>
                    <a:lstStyle/>
                    <a:p>
                      <a:r>
                        <a:rPr sz="1100" b="0" i="0">
                          <a:solidFill>
                            <a:srgbClr val="1A1A1A"/>
                          </a:solidFill>
                          <a:latin typeface="Times New Roman"/>
                        </a:rPr>
                        <a:t>2,048</a:t>
                      </a:r>
                    </a:p>
                  </a:txBody>
                  <a:tcPr anchor="ctr" marL="128016" marR="91440" marT="0" marB="0"/>
                </a:tc>
                <a:tc>
                  <a:txBody>
                    <a:bodyPr/>
                    <a:lstStyle/>
                    <a:p>
                      <a:r>
                        <a:rPr sz="1100" b="0" i="0">
                          <a:solidFill>
                            <a:srgbClr val="1A1A1A"/>
                          </a:solidFill>
                          <a:latin typeface="Times New Roman"/>
                        </a:rPr>
                        <a:t>P1 MemGate</a:t>
                      </a:r>
                    </a:p>
                  </a:txBody>
                  <a:tcPr anchor="ctr" marL="128016" marR="91440" marT="0" marB="0"/>
                </a:tc>
                <a:tc>
                  <a:txBody>
                    <a:bodyPr/>
                    <a:lstStyle/>
                    <a:p>
                      <a:pPr algn="r"/>
                      <a:r>
                        <a:rPr sz="1100" b="0" i="0">
                          <a:solidFill>
                            <a:srgbClr val="1A1A1A"/>
                          </a:solidFill>
                          <a:latin typeface="Times New Roman"/>
                        </a:rPr>
                        <a:t>11.7%</a:t>
                      </a:r>
                    </a:p>
                  </a:txBody>
                  <a:tcPr anchor="ctr" marL="128016" marR="91440" marT="0" marB="0"/>
                </a:tc>
                <a:tc>
                  <a:txBody>
                    <a:bodyPr/>
                    <a:lstStyle/>
                    <a:p>
                      <a:pPr algn="r"/>
                      <a:r>
                        <a:rPr sz="1100" b="0" i="0">
                          <a:solidFill>
                            <a:srgbClr val="1A1A1A"/>
                          </a:solidFill>
                          <a:latin typeface="Times New Roman"/>
                        </a:rPr>
                        <a:t>18.3%</a:t>
                      </a:r>
                    </a:p>
                  </a:txBody>
                  <a:tcPr anchor="ctr" marL="128016" marR="91440" marT="0" marB="0"/>
                </a:tc>
                <a:tc>
                  <a:txBody>
                    <a:bodyPr/>
                    <a:lstStyle/>
                    <a:p>
                      <a:pPr algn="r"/>
                      <a:r>
                        <a:rPr sz="1100" b="0" i="0">
                          <a:solidFill>
                            <a:srgbClr val="1A1A1A"/>
                          </a:solidFill>
                          <a:latin typeface="Times New Roman"/>
                        </a:rPr>
                        <a:t>1,940</a:t>
                      </a:r>
                    </a:p>
                  </a:txBody>
                  <a:tcPr anchor="ctr" marL="128016" marR="91440" marT="0" marB="0"/>
                </a:tc>
                <a:tc>
                  <a:txBody>
                    <a:bodyPr/>
                    <a:lstStyle/>
                    <a:p>
                      <a:pPr algn="r"/>
                      <a:r>
                        <a:rPr sz="1100" b="0" i="0">
                          <a:solidFill>
                            <a:srgbClr val="1A1A1A"/>
                          </a:solidFill>
                          <a:latin typeface="Times New Roman"/>
                        </a:rPr>
                        <a:t>1,653</a:t>
                      </a:r>
                    </a:p>
                  </a:txBody>
                  <a:tcPr anchor="ctr" marL="128016" marR="91440" marT="0" marB="0"/>
                </a:tc>
              </a:tr>
              <a:tr h="237449">
                <a:tc>
                  <a:txBody>
                    <a:bodyPr/>
                    <a:lstStyle/>
                    <a:p>
                      <a:r>
                        <a:rPr sz="1100" b="0" i="0">
                          <a:solidFill>
                            <a:srgbClr val="1A1A1A"/>
                          </a:solidFill>
                          <a:latin typeface="Times New Roman"/>
                        </a:rPr>
                        <a:t>2,048</a:t>
                      </a:r>
                    </a:p>
                  </a:txBody>
                  <a:tcPr anchor="ctr" marL="128016" marR="91440" marT="0" marB="0"/>
                </a:tc>
                <a:tc>
                  <a:txBody>
                    <a:bodyPr/>
                    <a:lstStyle/>
                    <a:p>
                      <a:r>
                        <a:rPr sz="1100" b="0" i="0">
                          <a:solidFill>
                            <a:srgbClr val="1A1A1A"/>
                          </a:solidFill>
                          <a:latin typeface="Times New Roman"/>
                        </a:rPr>
                        <a:t>P1-A MemGate adaptive</a:t>
                      </a:r>
                    </a:p>
                  </a:txBody>
                  <a:tcPr anchor="ctr" marL="128016" marR="91440" marT="0" marB="0"/>
                </a:tc>
                <a:tc>
                  <a:txBody>
                    <a:bodyPr/>
                    <a:lstStyle/>
                    <a:p>
                      <a:pPr algn="r"/>
                      <a:r>
                        <a:rPr sz="1100" b="0" i="0">
                          <a:solidFill>
                            <a:srgbClr val="1A1A1A"/>
                          </a:solidFill>
                          <a:latin typeface="Times New Roman"/>
                        </a:rPr>
                        <a:t>19.4%</a:t>
                      </a:r>
                    </a:p>
                  </a:txBody>
                  <a:tcPr anchor="ctr" marL="128016" marR="91440" marT="0" marB="0"/>
                </a:tc>
                <a:tc>
                  <a:txBody>
                    <a:bodyPr/>
                    <a:lstStyle/>
                    <a:p>
                      <a:pPr algn="r"/>
                      <a:r>
                        <a:rPr sz="1100" b="0" i="0">
                          <a:solidFill>
                            <a:srgbClr val="1A1A1A"/>
                          </a:solidFill>
                          <a:latin typeface="Times New Roman"/>
                        </a:rPr>
                        <a:t>22.7%</a:t>
                      </a:r>
                    </a:p>
                  </a:txBody>
                  <a:tcPr anchor="ctr" marL="128016" marR="91440" marT="0" marB="0"/>
                </a:tc>
                <a:tc>
                  <a:txBody>
                    <a:bodyPr/>
                    <a:lstStyle/>
                    <a:p>
                      <a:pPr algn="r"/>
                      <a:r>
                        <a:rPr sz="1100" b="0" i="0">
                          <a:solidFill>
                            <a:srgbClr val="1A1A1A"/>
                          </a:solidFill>
                          <a:latin typeface="Times New Roman"/>
                        </a:rPr>
                        <a:t>2,011</a:t>
                      </a:r>
                    </a:p>
                  </a:txBody>
                  <a:tcPr anchor="ctr" marL="128016" marR="91440" marT="0" marB="0"/>
                </a:tc>
                <a:tc>
                  <a:txBody>
                    <a:bodyPr/>
                    <a:lstStyle/>
                    <a:p>
                      <a:pPr algn="r"/>
                      <a:r>
                        <a:rPr sz="1100" b="0" i="0">
                          <a:solidFill>
                            <a:srgbClr val="1A1A1A"/>
                          </a:solidFill>
                          <a:latin typeface="Times New Roman"/>
                        </a:rPr>
                        <a:t>1,818</a:t>
                      </a:r>
                    </a:p>
                  </a:txBody>
                  <a:tcPr anchor="ctr" marL="128016" marR="91440" marT="0" marB="0"/>
                </a:tc>
              </a:tr>
              <a:tr h="237449">
                <a:tc>
                  <a:txBody>
                    <a:bodyPr/>
                    <a:lstStyle/>
                    <a:p>
                      <a:r>
                        <a:rPr sz="1100" b="0" i="0">
                          <a:solidFill>
                            <a:srgbClr val="1A1A1A"/>
                          </a:solidFill>
                          <a:latin typeface="Times New Roman"/>
                        </a:rPr>
                        <a:t>2,048</a:t>
                      </a:r>
                    </a:p>
                  </a:txBody>
                  <a:tcPr anchor="ctr" marL="128016" marR="91440" marT="0" marB="0"/>
                </a:tc>
                <a:tc>
                  <a:txBody>
                    <a:bodyPr/>
                    <a:lstStyle/>
                    <a:p>
                      <a:r>
                        <a:rPr sz="1100" b="0" i="0">
                          <a:solidFill>
                            <a:srgbClr val="1A1A1A"/>
                          </a:solidFill>
                          <a:latin typeface="Times New Roman"/>
                        </a:rPr>
                        <a:t>P1-S MemGate select</a:t>
                      </a:r>
                    </a:p>
                  </a:txBody>
                  <a:tcPr anchor="ctr" marL="128016" marR="91440" marT="0" marB="0"/>
                </a:tc>
                <a:tc>
                  <a:txBody>
                    <a:bodyPr/>
                    <a:lstStyle/>
                    <a:p>
                      <a:pPr algn="r"/>
                      <a:r>
                        <a:rPr sz="1100" b="0" i="0">
                          <a:solidFill>
                            <a:srgbClr val="1A1A1A"/>
                          </a:solidFill>
                          <a:latin typeface="Times New Roman"/>
                        </a:rPr>
                        <a:t>11.8%</a:t>
                      </a:r>
                    </a:p>
                  </a:txBody>
                  <a:tcPr anchor="ctr" marL="128016" marR="91440" marT="0" marB="0"/>
                </a:tc>
                <a:tc>
                  <a:txBody>
                    <a:bodyPr/>
                    <a:lstStyle/>
                    <a:p>
                      <a:pPr algn="r"/>
                      <a:r>
                        <a:rPr sz="1100" b="0" i="0">
                          <a:solidFill>
                            <a:srgbClr val="1A1A1A"/>
                          </a:solidFill>
                          <a:latin typeface="Times New Roman"/>
                        </a:rPr>
                        <a:t>27.8%</a:t>
                      </a:r>
                    </a:p>
                  </a:txBody>
                  <a:tcPr anchor="ctr" marL="128016" marR="91440" marT="0" marB="0"/>
                </a:tc>
                <a:tc>
                  <a:txBody>
                    <a:bodyPr/>
                    <a:lstStyle/>
                    <a:p>
                      <a:pPr algn="r"/>
                      <a:r>
                        <a:rPr sz="1100" b="0" i="0">
                          <a:solidFill>
                            <a:srgbClr val="1A1A1A"/>
                          </a:solidFill>
                          <a:latin typeface="Times New Roman"/>
                        </a:rPr>
                        <a:t>2,020</a:t>
                      </a:r>
                    </a:p>
                  </a:txBody>
                  <a:tcPr anchor="ctr" marL="128016" marR="91440" marT="0" marB="0"/>
                </a:tc>
                <a:tc>
                  <a:txBody>
                    <a:bodyPr/>
                    <a:lstStyle/>
                    <a:p>
                      <a:pPr algn="r"/>
                      <a:r>
                        <a:rPr sz="1100" b="0" i="0">
                          <a:solidFill>
                            <a:srgbClr val="1A1A1A"/>
                          </a:solidFill>
                          <a:latin typeface="Times New Roman"/>
                        </a:rPr>
                        <a:t>1,946</a:t>
                      </a:r>
                    </a:p>
                  </a:txBody>
                  <a:tcPr anchor="ctr" marL="128016" marR="91440" marT="0" marB="0"/>
                </a:tc>
              </a:tr>
              <a:tr h="237449">
                <a:tc>
                  <a:txBody>
                    <a:bodyPr/>
                    <a:lstStyle/>
                    <a:p>
                      <a:r>
                        <a:rPr sz="1100" b="0" i="0">
                          <a:solidFill>
                            <a:srgbClr val="1A1A1A"/>
                          </a:solidFill>
                          <a:latin typeface="Times New Roman"/>
                        </a:rPr>
                        <a:t>4,096</a:t>
                      </a:r>
                    </a:p>
                  </a:txBody>
                  <a:tcPr anchor="ctr" marL="128016" marR="91440" marT="0" marB="0"/>
                </a:tc>
                <a:tc>
                  <a:txBody>
                    <a:bodyPr/>
                    <a:lstStyle/>
                    <a:p>
                      <a:r>
                        <a:rPr sz="1100" b="0" i="0">
                          <a:solidFill>
                            <a:srgbClr val="1A1A1A"/>
                          </a:solidFill>
                          <a:latin typeface="Times New Roman"/>
                        </a:rPr>
                        <a:t>P0 sliding-window</a:t>
                      </a:r>
                    </a:p>
                  </a:txBody>
                  <a:tcPr anchor="ctr" marL="128016" marR="91440" marT="0" marB="0"/>
                </a:tc>
                <a:tc>
                  <a:txBody>
                    <a:bodyPr/>
                    <a:lstStyle/>
                    <a:p>
                      <a:pPr algn="r"/>
                      <a:r>
                        <a:rPr sz="1100" b="0" i="0">
                          <a:solidFill>
                            <a:srgbClr val="1A1A1A"/>
                          </a:solidFill>
                          <a:latin typeface="Times New Roman"/>
                        </a:rPr>
                        <a:t>10.1%</a:t>
                      </a:r>
                    </a:p>
                  </a:txBody>
                  <a:tcPr anchor="ctr" marL="128016" marR="91440" marT="0" marB="0"/>
                </a:tc>
                <a:tc>
                  <a:txBody>
                    <a:bodyPr/>
                    <a:lstStyle/>
                    <a:p>
                      <a:pPr algn="r"/>
                      <a:r>
                        <a:rPr sz="1100" b="0" i="0">
                          <a:solidFill>
                            <a:srgbClr val="1A1A1A"/>
                          </a:solidFill>
                          <a:latin typeface="Times New Roman"/>
                        </a:rPr>
                        <a:t>18.3%</a:t>
                      </a:r>
                    </a:p>
                  </a:txBody>
                  <a:tcPr anchor="ctr" marL="128016" marR="91440" marT="0" marB="0"/>
                </a:tc>
                <a:tc>
                  <a:txBody>
                    <a:bodyPr/>
                    <a:lstStyle/>
                    <a:p>
                      <a:pPr algn="r"/>
                      <a:r>
                        <a:rPr sz="1100" b="0" i="0">
                          <a:solidFill>
                            <a:srgbClr val="1A1A1A"/>
                          </a:solidFill>
                          <a:latin typeface="Times New Roman"/>
                        </a:rPr>
                        <a:t>4,068</a:t>
                      </a:r>
                    </a:p>
                  </a:txBody>
                  <a:tcPr anchor="ctr" marL="128016" marR="91440" marT="0" marB="0"/>
                </a:tc>
                <a:tc>
                  <a:txBody>
                    <a:bodyPr/>
                    <a:lstStyle/>
                    <a:p>
                      <a:pPr algn="r"/>
                      <a:r>
                        <a:rPr sz="1100" b="0" i="0">
                          <a:solidFill>
                            <a:srgbClr val="1A1A1A"/>
                          </a:solidFill>
                          <a:latin typeface="Times New Roman"/>
                        </a:rPr>
                        <a:t>2,045</a:t>
                      </a:r>
                    </a:p>
                  </a:txBody>
                  <a:tcPr anchor="ctr" marL="128016" marR="91440" marT="0" marB="0"/>
                </a:tc>
              </a:tr>
              <a:tr h="237449">
                <a:tc>
                  <a:txBody>
                    <a:bodyPr/>
                    <a:lstStyle/>
                    <a:p>
                      <a:r>
                        <a:rPr sz="1100" b="0" i="0">
                          <a:solidFill>
                            <a:srgbClr val="1A1A1A"/>
                          </a:solidFill>
                          <a:latin typeface="Times New Roman"/>
                        </a:rPr>
                        <a:t>4,096</a:t>
                      </a:r>
                    </a:p>
                  </a:txBody>
                  <a:tcPr anchor="ctr" marL="128016" marR="91440" marT="0" marB="0"/>
                </a:tc>
                <a:tc>
                  <a:txBody>
                    <a:bodyPr/>
                    <a:lstStyle/>
                    <a:p>
                      <a:r>
                        <a:rPr sz="1100" b="0" i="0">
                          <a:solidFill>
                            <a:srgbClr val="1A1A1A"/>
                          </a:solidFill>
                          <a:latin typeface="Times New Roman"/>
                        </a:rPr>
                        <a:t>RAG store-all</a:t>
                      </a:r>
                    </a:p>
                  </a:txBody>
                  <a:tcPr anchor="ctr" marL="128016" marR="91440" marT="0" marB="0"/>
                </a:tc>
                <a:tc>
                  <a:txBody>
                    <a:bodyPr/>
                    <a:lstStyle/>
                    <a:p>
                      <a:pPr algn="r"/>
                      <a:r>
                        <a:rPr sz="1100" b="0" i="0">
                          <a:solidFill>
                            <a:srgbClr val="1A1A1A"/>
                          </a:solidFill>
                          <a:latin typeface="Times New Roman"/>
                        </a:rPr>
                        <a:t>17.8%</a:t>
                      </a:r>
                    </a:p>
                  </a:txBody>
                  <a:tcPr anchor="ctr" marL="128016" marR="91440" marT="0" marB="0"/>
                </a:tc>
                <a:tc>
                  <a:txBody>
                    <a:bodyPr/>
                    <a:lstStyle/>
                    <a:p>
                      <a:pPr algn="r"/>
                      <a:r>
                        <a:rPr sz="1100" b="0" i="0">
                          <a:solidFill>
                            <a:srgbClr val="1A1A1A"/>
                          </a:solidFill>
                          <a:latin typeface="Times New Roman"/>
                        </a:rPr>
                        <a:t>28.1%</a:t>
                      </a:r>
                    </a:p>
                  </a:txBody>
                  <a:tcPr anchor="ctr" marL="128016" marR="91440" marT="0" marB="0"/>
                </a:tc>
                <a:tc>
                  <a:txBody>
                    <a:bodyPr/>
                    <a:lstStyle/>
                    <a:p>
                      <a:pPr algn="r"/>
                      <a:r>
                        <a:rPr sz="1100" b="0" i="0">
                          <a:solidFill>
                            <a:srgbClr val="1A1A1A"/>
                          </a:solidFill>
                          <a:latin typeface="Times New Roman"/>
                        </a:rPr>
                        <a:t>4,068</a:t>
                      </a:r>
                    </a:p>
                  </a:txBody>
                  <a:tcPr anchor="ctr" marL="128016" marR="91440" marT="0" marB="0"/>
                </a:tc>
                <a:tc>
                  <a:txBody>
                    <a:bodyPr/>
                    <a:lstStyle/>
                    <a:p>
                      <a:pPr algn="r"/>
                      <a:r>
                        <a:rPr sz="1100" b="0" i="0">
                          <a:solidFill>
                            <a:srgbClr val="1A1A1A"/>
                          </a:solidFill>
                          <a:latin typeface="Times New Roman"/>
                        </a:rPr>
                        <a:t>2,018</a:t>
                      </a:r>
                    </a:p>
                  </a:txBody>
                  <a:tcPr anchor="ctr" marL="128016" marR="91440" marT="0" marB="0"/>
                </a:tc>
              </a:tr>
              <a:tr h="237449">
                <a:tc>
                  <a:txBody>
                    <a:bodyPr/>
                    <a:lstStyle/>
                    <a:p>
                      <a:r>
                        <a:rPr sz="1100" b="0" i="0">
                          <a:solidFill>
                            <a:srgbClr val="1A1A1A"/>
                          </a:solidFill>
                          <a:latin typeface="Times New Roman"/>
                        </a:rPr>
                        <a:t>4,096</a:t>
                      </a:r>
                    </a:p>
                  </a:txBody>
                  <a:tcPr anchor="ctr" marL="128016" marR="91440" marT="0" marB="0"/>
                </a:tc>
                <a:tc>
                  <a:txBody>
                    <a:bodyPr/>
                    <a:lstStyle/>
                    <a:p>
                      <a:r>
                        <a:rPr sz="1100" b="0" i="0">
                          <a:solidFill>
                            <a:srgbClr val="1A1A1A"/>
                          </a:solidFill>
                          <a:latin typeface="Times New Roman"/>
                        </a:rPr>
                        <a:t>P1 MemGate</a:t>
                      </a:r>
                    </a:p>
                  </a:txBody>
                  <a:tcPr anchor="ctr" marL="128016" marR="91440" marT="0" marB="0"/>
                </a:tc>
                <a:tc>
                  <a:txBody>
                    <a:bodyPr/>
                    <a:lstStyle/>
                    <a:p>
                      <a:pPr algn="r"/>
                      <a:r>
                        <a:rPr sz="1100" b="0" i="0">
                          <a:solidFill>
                            <a:srgbClr val="1A1A1A"/>
                          </a:solidFill>
                          <a:latin typeface="Times New Roman"/>
                        </a:rPr>
                        <a:t>14.7%</a:t>
                      </a:r>
                    </a:p>
                  </a:txBody>
                  <a:tcPr anchor="ctr" marL="128016" marR="91440" marT="0" marB="0"/>
                </a:tc>
                <a:tc>
                  <a:txBody>
                    <a:bodyPr/>
                    <a:lstStyle/>
                    <a:p>
                      <a:pPr algn="r"/>
                      <a:r>
                        <a:rPr sz="1100" b="0" i="0">
                          <a:solidFill>
                            <a:srgbClr val="1A1A1A"/>
                          </a:solidFill>
                          <a:latin typeface="Times New Roman"/>
                        </a:rPr>
                        <a:t>24.3%</a:t>
                      </a:r>
                    </a:p>
                  </a:txBody>
                  <a:tcPr anchor="ctr" marL="128016" marR="91440" marT="0" marB="0"/>
                </a:tc>
                <a:tc>
                  <a:txBody>
                    <a:bodyPr/>
                    <a:lstStyle/>
                    <a:p>
                      <a:pPr algn="r"/>
                      <a:r>
                        <a:rPr sz="1100" b="0" i="0">
                          <a:solidFill>
                            <a:srgbClr val="1A1A1A"/>
                          </a:solidFill>
                          <a:latin typeface="Times New Roman"/>
                        </a:rPr>
                        <a:t>3,451</a:t>
                      </a:r>
                    </a:p>
                  </a:txBody>
                  <a:tcPr anchor="ctr" marL="128016" marR="91440" marT="0" marB="0"/>
                </a:tc>
                <a:tc>
                  <a:txBody>
                    <a:bodyPr/>
                    <a:lstStyle/>
                    <a:p>
                      <a:pPr algn="r"/>
                      <a:r>
                        <a:rPr sz="1100" b="0" i="0">
                          <a:solidFill>
                            <a:srgbClr val="1A1A1A"/>
                          </a:solidFill>
                          <a:latin typeface="Times New Roman"/>
                        </a:rPr>
                        <a:t>1,693</a:t>
                      </a:r>
                    </a:p>
                  </a:txBody>
                  <a:tcPr anchor="ctr" marL="128016" marR="91440" marT="0" marB="0"/>
                </a:tc>
              </a:tr>
              <a:tr h="237449">
                <a:tc>
                  <a:txBody>
                    <a:bodyPr/>
                    <a:lstStyle/>
                    <a:p>
                      <a:r>
                        <a:rPr sz="1100" b="0" i="0">
                          <a:solidFill>
                            <a:srgbClr val="1A1A1A"/>
                          </a:solidFill>
                          <a:latin typeface="Times New Roman"/>
                        </a:rPr>
                        <a:t>4,096</a:t>
                      </a:r>
                    </a:p>
                  </a:txBody>
                  <a:tcPr anchor="ctr" marL="128016" marR="91440" marT="0" marB="0"/>
                </a:tc>
                <a:tc>
                  <a:txBody>
                    <a:bodyPr/>
                    <a:lstStyle/>
                    <a:p>
                      <a:r>
                        <a:rPr sz="1100" b="0" i="0">
                          <a:solidFill>
                            <a:srgbClr val="1A1A1A"/>
                          </a:solidFill>
                          <a:latin typeface="Times New Roman"/>
                        </a:rPr>
                        <a:t>P1-A MemGate adaptive</a:t>
                      </a:r>
                    </a:p>
                  </a:txBody>
                  <a:tcPr anchor="ctr" marL="128016" marR="91440" marT="0" marB="0"/>
                </a:tc>
                <a:tc>
                  <a:txBody>
                    <a:bodyPr/>
                    <a:lstStyle/>
                    <a:p>
                      <a:pPr algn="r"/>
                      <a:r>
                        <a:rPr sz="1100" b="0" i="0">
                          <a:solidFill>
                            <a:srgbClr val="1A1A1A"/>
                          </a:solidFill>
                          <a:latin typeface="Times New Roman"/>
                        </a:rPr>
                        <a:t>31.8%</a:t>
                      </a:r>
                    </a:p>
                  </a:txBody>
                  <a:tcPr anchor="ctr" marL="128016" marR="91440" marT="0" marB="0"/>
                </a:tc>
                <a:tc>
                  <a:txBody>
                    <a:bodyPr/>
                    <a:lstStyle/>
                    <a:p>
                      <a:pPr algn="r"/>
                      <a:r>
                        <a:rPr sz="1100" b="0" i="0">
                          <a:solidFill>
                            <a:srgbClr val="1A1A1A"/>
                          </a:solidFill>
                          <a:latin typeface="Times New Roman"/>
                        </a:rPr>
                        <a:t>30.3%</a:t>
                      </a:r>
                    </a:p>
                  </a:txBody>
                  <a:tcPr anchor="ctr" marL="128016" marR="91440" marT="0" marB="0"/>
                </a:tc>
                <a:tc>
                  <a:txBody>
                    <a:bodyPr/>
                    <a:lstStyle/>
                    <a:p>
                      <a:pPr algn="r"/>
                      <a:r>
                        <a:rPr sz="1100" b="0" i="0">
                          <a:solidFill>
                            <a:srgbClr val="1A1A1A"/>
                          </a:solidFill>
                          <a:latin typeface="Times New Roman"/>
                        </a:rPr>
                        <a:t>4,027</a:t>
                      </a:r>
                    </a:p>
                  </a:txBody>
                  <a:tcPr anchor="ctr" marL="128016" marR="91440" marT="0" marB="0"/>
                </a:tc>
                <a:tc>
                  <a:txBody>
                    <a:bodyPr/>
                    <a:lstStyle/>
                    <a:p>
                      <a:pPr algn="r"/>
                      <a:r>
                        <a:rPr sz="1100" b="0" i="0">
                          <a:solidFill>
                            <a:srgbClr val="1A1A1A"/>
                          </a:solidFill>
                          <a:latin typeface="Times New Roman"/>
                        </a:rPr>
                        <a:t>1,467</a:t>
                      </a:r>
                    </a:p>
                  </a:txBody>
                  <a:tcPr anchor="ctr" marL="128016" marR="91440" marT="0" marB="0"/>
                </a:tc>
              </a:tr>
              <a:tr h="237449">
                <a:tc>
                  <a:txBody>
                    <a:bodyPr/>
                    <a:lstStyle/>
                    <a:p>
                      <a:r>
                        <a:rPr sz="1100" b="0" i="0">
                          <a:solidFill>
                            <a:srgbClr val="1A1A1A"/>
                          </a:solidFill>
                          <a:latin typeface="Times New Roman"/>
                        </a:rPr>
                        <a:t>4,096</a:t>
                      </a:r>
                    </a:p>
                  </a:txBody>
                  <a:tcPr anchor="ctr" marL="128016" marR="91440" marT="0" marB="0"/>
                </a:tc>
                <a:tc>
                  <a:txBody>
                    <a:bodyPr/>
                    <a:lstStyle/>
                    <a:p>
                      <a:r>
                        <a:rPr sz="1100" b="0" i="0">
                          <a:solidFill>
                            <a:srgbClr val="1A1A1A"/>
                          </a:solidFill>
                          <a:latin typeface="Times New Roman"/>
                        </a:rPr>
                        <a:t>P1-S MemGate select</a:t>
                      </a:r>
                    </a:p>
                  </a:txBody>
                  <a:tcPr anchor="ctr" marL="128016" marR="91440" marT="0" marB="0"/>
                </a:tc>
                <a:tc>
                  <a:txBody>
                    <a:bodyPr/>
                    <a:lstStyle/>
                    <a:p>
                      <a:pPr algn="r"/>
                      <a:r>
                        <a:rPr sz="1100" b="0" i="0">
                          <a:solidFill>
                            <a:srgbClr val="1A1A1A"/>
                          </a:solidFill>
                          <a:latin typeface="Times New Roman"/>
                        </a:rPr>
                        <a:t>20.2%</a:t>
                      </a:r>
                    </a:p>
                  </a:txBody>
                  <a:tcPr anchor="ctr" marL="128016" marR="91440" marT="0" marB="0"/>
                </a:tc>
                <a:tc>
                  <a:txBody>
                    <a:bodyPr/>
                    <a:lstStyle/>
                    <a:p>
                      <a:pPr algn="r"/>
                      <a:r>
                        <a:rPr sz="1100" b="0" i="0">
                          <a:solidFill>
                            <a:srgbClr val="1A1A1A"/>
                          </a:solidFill>
                          <a:latin typeface="Times New Roman"/>
                        </a:rPr>
                        <a:t>37.5%</a:t>
                      </a:r>
                    </a:p>
                  </a:txBody>
                  <a:tcPr anchor="ctr" marL="128016" marR="91440" marT="0" marB="0"/>
                </a:tc>
                <a:tc>
                  <a:txBody>
                    <a:bodyPr/>
                    <a:lstStyle/>
                    <a:p>
                      <a:pPr algn="r"/>
                      <a:r>
                        <a:rPr sz="1100" b="0" i="0">
                          <a:solidFill>
                            <a:srgbClr val="1A1A1A"/>
                          </a:solidFill>
                          <a:latin typeface="Times New Roman"/>
                        </a:rPr>
                        <a:t>4,072</a:t>
                      </a:r>
                    </a:p>
                  </a:txBody>
                  <a:tcPr anchor="ctr" marL="128016" marR="91440" marT="0" marB="0"/>
                </a:tc>
                <a:tc>
                  <a:txBody>
                    <a:bodyPr/>
                    <a:lstStyle/>
                    <a:p>
                      <a:pPr algn="r"/>
                      <a:r>
                        <a:rPr sz="1100" b="0" i="0">
                          <a:solidFill>
                            <a:srgbClr val="1A1A1A"/>
                          </a:solidFill>
                          <a:latin typeface="Times New Roman"/>
                        </a:rPr>
                        <a:t>2,015</a:t>
                      </a:r>
                    </a:p>
                  </a:txBody>
                  <a:tcPr anchor="ctr" marL="128016" marR="91440" marT="0" marB="0"/>
                </a:tc>
              </a:tr>
              <a:tr h="237449">
                <a:tc>
                  <a:txBody>
                    <a:bodyPr/>
                    <a:lstStyle/>
                    <a:p>
                      <a:r>
                        <a:rPr sz="1100" b="0" i="0">
                          <a:solidFill>
                            <a:srgbClr val="1A1A1A"/>
                          </a:solidFill>
                          <a:latin typeface="Times New Roman"/>
                        </a:rPr>
                        <a:t>8,192</a:t>
                      </a:r>
                    </a:p>
                  </a:txBody>
                  <a:tcPr anchor="ctr" marL="128016" marR="91440" marT="0" marB="0"/>
                </a:tc>
                <a:tc>
                  <a:txBody>
                    <a:bodyPr/>
                    <a:lstStyle/>
                    <a:p>
                      <a:r>
                        <a:rPr sz="1100" b="0" i="0">
                          <a:solidFill>
                            <a:srgbClr val="1A1A1A"/>
                          </a:solidFill>
                          <a:latin typeface="Times New Roman"/>
                        </a:rPr>
                        <a:t>P0 sliding-window</a:t>
                      </a:r>
                    </a:p>
                  </a:txBody>
                  <a:tcPr anchor="ctr" marL="128016" marR="91440" marT="0" marB="0"/>
                </a:tc>
                <a:tc>
                  <a:txBody>
                    <a:bodyPr/>
                    <a:lstStyle/>
                    <a:p>
                      <a:pPr algn="r"/>
                      <a:r>
                        <a:rPr sz="1100" b="0" i="0">
                          <a:solidFill>
                            <a:srgbClr val="1A1A1A"/>
                          </a:solidFill>
                          <a:latin typeface="Times New Roman"/>
                        </a:rPr>
                        <a:t>10.1%</a:t>
                      </a:r>
                    </a:p>
                  </a:txBody>
                  <a:tcPr anchor="ctr" marL="128016" marR="91440" marT="0" marB="0"/>
                </a:tc>
                <a:tc>
                  <a:txBody>
                    <a:bodyPr/>
                    <a:lstStyle/>
                    <a:p>
                      <a:pPr algn="r"/>
                      <a:r>
                        <a:rPr sz="1100" b="0" i="0">
                          <a:solidFill>
                            <a:srgbClr val="1A1A1A"/>
                          </a:solidFill>
                          <a:latin typeface="Times New Roman"/>
                        </a:rPr>
                        <a:t>18.3%</a:t>
                      </a:r>
                    </a:p>
                  </a:txBody>
                  <a:tcPr anchor="ctr" marL="128016" marR="91440" marT="0" marB="0"/>
                </a:tc>
                <a:tc>
                  <a:txBody>
                    <a:bodyPr/>
                    <a:lstStyle/>
                    <a:p>
                      <a:pPr algn="r"/>
                      <a:r>
                        <a:rPr sz="1100" b="0" i="0">
                          <a:solidFill>
                            <a:srgbClr val="1A1A1A"/>
                          </a:solidFill>
                          <a:latin typeface="Times New Roman"/>
                        </a:rPr>
                        <a:t>8,172</a:t>
                      </a:r>
                    </a:p>
                  </a:txBody>
                  <a:tcPr anchor="ctr" marL="128016" marR="91440" marT="0" marB="0"/>
                </a:tc>
                <a:tc>
                  <a:txBody>
                    <a:bodyPr/>
                    <a:lstStyle/>
                    <a:p>
                      <a:pPr algn="r"/>
                      <a:r>
                        <a:rPr sz="1100" b="0" i="0">
                          <a:solidFill>
                            <a:srgbClr val="1A1A1A"/>
                          </a:solidFill>
                          <a:latin typeface="Times New Roman"/>
                        </a:rPr>
                        <a:t>2,046</a:t>
                      </a:r>
                    </a:p>
                  </a:txBody>
                  <a:tcPr anchor="ctr" marL="128016" marR="91440" marT="0" marB="0"/>
                </a:tc>
              </a:tr>
              <a:tr h="237449">
                <a:tc>
                  <a:txBody>
                    <a:bodyPr/>
                    <a:lstStyle/>
                    <a:p>
                      <a:r>
                        <a:rPr sz="1100" b="0" i="0">
                          <a:solidFill>
                            <a:srgbClr val="1A1A1A"/>
                          </a:solidFill>
                          <a:latin typeface="Times New Roman"/>
                        </a:rPr>
                        <a:t>8,192</a:t>
                      </a:r>
                    </a:p>
                  </a:txBody>
                  <a:tcPr anchor="ctr" marL="128016" marR="91440" marT="0" marB="0"/>
                </a:tc>
                <a:tc>
                  <a:txBody>
                    <a:bodyPr/>
                    <a:lstStyle/>
                    <a:p>
                      <a:r>
                        <a:rPr sz="1100" b="0" i="0">
                          <a:solidFill>
                            <a:srgbClr val="1A1A1A"/>
                          </a:solidFill>
                          <a:latin typeface="Times New Roman"/>
                        </a:rPr>
                        <a:t>RAG store-all</a:t>
                      </a:r>
                    </a:p>
                  </a:txBody>
                  <a:tcPr anchor="ctr" marL="128016" marR="91440" marT="0" marB="0"/>
                </a:tc>
                <a:tc>
                  <a:txBody>
                    <a:bodyPr/>
                    <a:lstStyle/>
                    <a:p>
                      <a:pPr algn="r"/>
                      <a:r>
                        <a:rPr sz="1100" b="0" i="0">
                          <a:solidFill>
                            <a:srgbClr val="1A1A1A"/>
                          </a:solidFill>
                          <a:latin typeface="Times New Roman"/>
                        </a:rPr>
                        <a:t>30.6%</a:t>
                      </a:r>
                    </a:p>
                  </a:txBody>
                  <a:tcPr anchor="ctr" marL="128016" marR="91440" marT="0" marB="0"/>
                </a:tc>
                <a:tc>
                  <a:txBody>
                    <a:bodyPr/>
                    <a:lstStyle/>
                    <a:p>
                      <a:pPr algn="r"/>
                      <a:r>
                        <a:rPr sz="1100" b="0" i="0">
                          <a:solidFill>
                            <a:srgbClr val="1A1A1A"/>
                          </a:solidFill>
                          <a:latin typeface="Times New Roman"/>
                        </a:rPr>
                        <a:t>44.3%</a:t>
                      </a:r>
                    </a:p>
                  </a:txBody>
                  <a:tcPr anchor="ctr" marL="128016" marR="91440" marT="0" marB="0"/>
                </a:tc>
                <a:tc>
                  <a:txBody>
                    <a:bodyPr/>
                    <a:lstStyle/>
                    <a:p>
                      <a:pPr algn="r"/>
                      <a:r>
                        <a:rPr sz="1100" b="0" i="0">
                          <a:solidFill>
                            <a:srgbClr val="1A1A1A"/>
                          </a:solidFill>
                          <a:latin typeface="Times New Roman"/>
                        </a:rPr>
                        <a:t>8,172</a:t>
                      </a:r>
                    </a:p>
                  </a:txBody>
                  <a:tcPr anchor="ctr" marL="128016" marR="91440" marT="0" marB="0"/>
                </a:tc>
                <a:tc>
                  <a:txBody>
                    <a:bodyPr/>
                    <a:lstStyle/>
                    <a:p>
                      <a:pPr algn="r"/>
                      <a:r>
                        <a:rPr sz="1100" b="0" i="0">
                          <a:solidFill>
                            <a:srgbClr val="1A1A1A"/>
                          </a:solidFill>
                          <a:latin typeface="Times New Roman"/>
                        </a:rPr>
                        <a:t>1,987</a:t>
                      </a:r>
                    </a:p>
                  </a:txBody>
                  <a:tcPr anchor="ctr" marL="128016" marR="91440" marT="0" marB="0"/>
                </a:tc>
              </a:tr>
              <a:tr h="237449">
                <a:tc>
                  <a:txBody>
                    <a:bodyPr/>
                    <a:lstStyle/>
                    <a:p>
                      <a:r>
                        <a:rPr sz="1100" b="0" i="0">
                          <a:solidFill>
                            <a:srgbClr val="1A1A1A"/>
                          </a:solidFill>
                          <a:latin typeface="Times New Roman"/>
                        </a:rPr>
                        <a:t>8,192</a:t>
                      </a:r>
                    </a:p>
                  </a:txBody>
                  <a:tcPr anchor="ctr" marL="128016" marR="91440" marT="0" marB="0"/>
                </a:tc>
                <a:tc>
                  <a:txBody>
                    <a:bodyPr/>
                    <a:lstStyle/>
                    <a:p>
                      <a:r>
                        <a:rPr sz="1100" b="0" i="0">
                          <a:solidFill>
                            <a:srgbClr val="1A1A1A"/>
                          </a:solidFill>
                          <a:latin typeface="Times New Roman"/>
                        </a:rPr>
                        <a:t>P1 MemGate</a:t>
                      </a:r>
                    </a:p>
                  </a:txBody>
                  <a:tcPr anchor="ctr" marL="128016" marR="91440" marT="0" marB="0"/>
                </a:tc>
                <a:tc>
                  <a:txBody>
                    <a:bodyPr/>
                    <a:lstStyle/>
                    <a:p>
                      <a:pPr algn="r"/>
                      <a:r>
                        <a:rPr sz="1100" b="0" i="0">
                          <a:solidFill>
                            <a:srgbClr val="1A1A1A"/>
                          </a:solidFill>
                          <a:latin typeface="Times New Roman"/>
                        </a:rPr>
                        <a:t>15.5%</a:t>
                      </a:r>
                    </a:p>
                  </a:txBody>
                  <a:tcPr anchor="ctr" marL="128016" marR="91440" marT="0" marB="0"/>
                </a:tc>
                <a:tc>
                  <a:txBody>
                    <a:bodyPr/>
                    <a:lstStyle/>
                    <a:p>
                      <a:pPr algn="r"/>
                      <a:r>
                        <a:rPr sz="1100" b="0" i="0">
                          <a:solidFill>
                            <a:srgbClr val="1A1A1A"/>
                          </a:solidFill>
                          <a:latin typeface="Times New Roman"/>
                        </a:rPr>
                        <a:t>25.7%</a:t>
                      </a:r>
                    </a:p>
                  </a:txBody>
                  <a:tcPr anchor="ctr" marL="128016" marR="91440" marT="0" marB="0"/>
                </a:tc>
                <a:tc>
                  <a:txBody>
                    <a:bodyPr/>
                    <a:lstStyle/>
                    <a:p>
                      <a:pPr algn="r"/>
                      <a:r>
                        <a:rPr sz="1100" b="0" i="0">
                          <a:solidFill>
                            <a:srgbClr val="1A1A1A"/>
                          </a:solidFill>
                          <a:latin typeface="Times New Roman"/>
                        </a:rPr>
                        <a:t>3,725</a:t>
                      </a:r>
                    </a:p>
                  </a:txBody>
                  <a:tcPr anchor="ctr" marL="128016" marR="91440" marT="0" marB="0"/>
                </a:tc>
                <a:tc>
                  <a:txBody>
                    <a:bodyPr/>
                    <a:lstStyle/>
                    <a:p>
                      <a:pPr algn="r"/>
                      <a:r>
                        <a:rPr sz="1100" b="0" i="0">
                          <a:solidFill>
                            <a:srgbClr val="1A1A1A"/>
                          </a:solidFill>
                          <a:latin typeface="Times New Roman"/>
                        </a:rPr>
                        <a:t>1,692</a:t>
                      </a:r>
                    </a:p>
                  </a:txBody>
                  <a:tcPr anchor="ctr" marL="128016" marR="91440" marT="0" marB="0"/>
                </a:tc>
              </a:tr>
              <a:tr h="237449">
                <a:tc>
                  <a:txBody>
                    <a:bodyPr/>
                    <a:lstStyle/>
                    <a:p>
                      <a:r>
                        <a:rPr sz="1100" b="0" i="0">
                          <a:solidFill>
                            <a:srgbClr val="1A1A1A"/>
                          </a:solidFill>
                          <a:latin typeface="Times New Roman"/>
                        </a:rPr>
                        <a:t>8,192</a:t>
                      </a:r>
                    </a:p>
                  </a:txBody>
                  <a:tcPr anchor="ctr" marL="128016" marR="91440" marT="0" marB="0"/>
                </a:tc>
                <a:tc>
                  <a:txBody>
                    <a:bodyPr/>
                    <a:lstStyle/>
                    <a:p>
                      <a:r>
                        <a:rPr sz="1100" b="0" i="0">
                          <a:solidFill>
                            <a:srgbClr val="1A1A1A"/>
                          </a:solidFill>
                          <a:latin typeface="Times New Roman"/>
                        </a:rPr>
                        <a:t>P1-A MemGate adaptive</a:t>
                      </a:r>
                    </a:p>
                  </a:txBody>
                  <a:tcPr anchor="ctr" marL="128016" marR="91440" marT="0" marB="0"/>
                </a:tc>
                <a:tc>
                  <a:txBody>
                    <a:bodyPr/>
                    <a:lstStyle/>
                    <a:p>
                      <a:pPr algn="r"/>
                      <a:r>
                        <a:rPr sz="1100" b="0" i="0">
                          <a:solidFill>
                            <a:srgbClr val="1A1A1A"/>
                          </a:solidFill>
                          <a:latin typeface="Times New Roman"/>
                        </a:rPr>
                        <a:t>45.6%</a:t>
                      </a:r>
                    </a:p>
                  </a:txBody>
                  <a:tcPr anchor="ctr" marL="128016" marR="91440" marT="0" marB="0"/>
                </a:tc>
                <a:tc>
                  <a:txBody>
                    <a:bodyPr/>
                    <a:lstStyle/>
                    <a:p>
                      <a:pPr algn="r"/>
                      <a:r>
                        <a:rPr sz="1100" b="0" i="0">
                          <a:solidFill>
                            <a:srgbClr val="1A1A1A"/>
                          </a:solidFill>
                          <a:latin typeface="Times New Roman"/>
                        </a:rPr>
                        <a:t>41.0%</a:t>
                      </a:r>
                    </a:p>
                  </a:txBody>
                  <a:tcPr anchor="ctr" marL="128016" marR="91440" marT="0" marB="0"/>
                </a:tc>
                <a:tc>
                  <a:txBody>
                    <a:bodyPr/>
                    <a:lstStyle/>
                    <a:p>
                      <a:pPr algn="r"/>
                      <a:r>
                        <a:rPr sz="1100" b="0" i="0">
                          <a:solidFill>
                            <a:srgbClr val="1A1A1A"/>
                          </a:solidFill>
                          <a:latin typeface="Times New Roman"/>
                        </a:rPr>
                        <a:t>8,176</a:t>
                      </a:r>
                    </a:p>
                  </a:txBody>
                  <a:tcPr anchor="ctr" marL="128016" marR="91440" marT="0" marB="0"/>
                </a:tc>
                <a:tc>
                  <a:txBody>
                    <a:bodyPr/>
                    <a:lstStyle/>
                    <a:p>
                      <a:pPr algn="r"/>
                      <a:r>
                        <a:rPr sz="1100" b="0" i="0">
                          <a:solidFill>
                            <a:srgbClr val="1A1A1A"/>
                          </a:solidFill>
                          <a:latin typeface="Times New Roman"/>
                        </a:rPr>
                        <a:t>1,172</a:t>
                      </a:r>
                    </a:p>
                  </a:txBody>
                  <a:tcPr anchor="ctr" marL="128016" marR="91440" marT="0" marB="0"/>
                </a:tc>
              </a:tr>
              <a:tr h="237449">
                <a:tc>
                  <a:txBody>
                    <a:bodyPr/>
                    <a:lstStyle/>
                    <a:p>
                      <a:r>
                        <a:rPr sz="1100" b="0" i="0">
                          <a:solidFill>
                            <a:srgbClr val="1A1A1A"/>
                          </a:solidFill>
                          <a:latin typeface="Times New Roman"/>
                        </a:rPr>
                        <a:t>8,192</a:t>
                      </a:r>
                    </a:p>
                  </a:txBody>
                  <a:tcPr anchor="ctr" marL="128016" marR="91440" marT="0" marB="0"/>
                </a:tc>
                <a:tc>
                  <a:txBody>
                    <a:bodyPr/>
                    <a:lstStyle/>
                    <a:p>
                      <a:r>
                        <a:rPr sz="1100" b="0" i="0">
                          <a:solidFill>
                            <a:srgbClr val="1A1A1A"/>
                          </a:solidFill>
                          <a:latin typeface="Times New Roman"/>
                        </a:rPr>
                        <a:t>P1-S MemGate select</a:t>
                      </a:r>
                    </a:p>
                  </a:txBody>
                  <a:tcPr anchor="ctr" marL="128016" marR="91440" marT="0" marB="0"/>
                </a:tc>
                <a:tc>
                  <a:txBody>
                    <a:bodyPr/>
                    <a:lstStyle/>
                    <a:p>
                      <a:pPr algn="r"/>
                      <a:r>
                        <a:rPr sz="1100" b="0" i="0">
                          <a:solidFill>
                            <a:srgbClr val="1A1A1A"/>
                          </a:solidFill>
                          <a:latin typeface="Times New Roman"/>
                        </a:rPr>
                        <a:t>38.6%</a:t>
                      </a:r>
                    </a:p>
                  </a:txBody>
                  <a:tcPr anchor="ctr" marL="128016" marR="91440" marT="0" marB="0"/>
                </a:tc>
                <a:tc>
                  <a:txBody>
                    <a:bodyPr/>
                    <a:lstStyle/>
                    <a:p>
                      <a:pPr algn="r"/>
                      <a:r>
                        <a:rPr sz="1100" b="0" i="0">
                          <a:solidFill>
                            <a:srgbClr val="1A1A1A"/>
                          </a:solidFill>
                          <a:latin typeface="Times New Roman"/>
                        </a:rPr>
                        <a:t>57.8%</a:t>
                      </a:r>
                    </a:p>
                  </a:txBody>
                  <a:tcPr anchor="ctr" marL="128016" marR="91440" marT="0" marB="0"/>
                </a:tc>
                <a:tc>
                  <a:txBody>
                    <a:bodyPr/>
                    <a:lstStyle/>
                    <a:p>
                      <a:pPr algn="r"/>
                      <a:r>
                        <a:rPr sz="1100" b="0" i="0">
                          <a:solidFill>
                            <a:srgbClr val="1A1A1A"/>
                          </a:solidFill>
                          <a:latin typeface="Times New Roman"/>
                        </a:rPr>
                        <a:t>8,167</a:t>
                      </a:r>
                    </a:p>
                  </a:txBody>
                  <a:tcPr anchor="ctr" marL="128016" marR="91440" marT="0" marB="0"/>
                </a:tc>
                <a:tc>
                  <a:txBody>
                    <a:bodyPr/>
                    <a:lstStyle/>
                    <a:p>
                      <a:pPr algn="r"/>
                      <a:r>
                        <a:rPr sz="1100" b="0" i="0">
                          <a:solidFill>
                            <a:srgbClr val="1A1A1A"/>
                          </a:solidFill>
                          <a:latin typeface="Times New Roman"/>
                        </a:rPr>
                        <a:t>1,941</a:t>
                      </a:r>
                    </a:p>
                  </a:txBody>
                  <a:tcPr anchor="ctr" marL="128016" marR="91440" marT="0" marB="0"/>
                </a:tc>
              </a:tr>
              <a:tr h="237449">
                <a:tc>
                  <a:txBody>
                    <a:bodyPr/>
                    <a:lstStyle/>
                    <a:p>
                      <a:r>
                        <a:rPr sz="1100" b="0" i="0">
                          <a:solidFill>
                            <a:srgbClr val="1A1A1A"/>
                          </a:solidFill>
                          <a:latin typeface="Times New Roman"/>
                        </a:rPr>
                        <a:t>16,384</a:t>
                      </a:r>
                    </a:p>
                  </a:txBody>
                  <a:tcPr anchor="ctr" marL="128016" marR="91440" marT="0" marB="0"/>
                </a:tc>
                <a:tc>
                  <a:txBody>
                    <a:bodyPr/>
                    <a:lstStyle/>
                    <a:p>
                      <a:r>
                        <a:rPr sz="1100" b="0" i="0">
                          <a:solidFill>
                            <a:srgbClr val="1A1A1A"/>
                          </a:solidFill>
                          <a:latin typeface="Times New Roman"/>
                        </a:rPr>
                        <a:t>P0 sliding-window</a:t>
                      </a:r>
                    </a:p>
                  </a:txBody>
                  <a:tcPr anchor="ctr" marL="128016" marR="91440" marT="0" marB="0"/>
                </a:tc>
                <a:tc>
                  <a:txBody>
                    <a:bodyPr/>
                    <a:lstStyle/>
                    <a:p>
                      <a:pPr algn="r"/>
                      <a:r>
                        <a:rPr sz="1100" b="0" i="0">
                          <a:solidFill>
                            <a:srgbClr val="1A1A1A"/>
                          </a:solidFill>
                          <a:latin typeface="Times New Roman"/>
                        </a:rPr>
                        <a:t>10.1%</a:t>
                      </a:r>
                    </a:p>
                  </a:txBody>
                  <a:tcPr anchor="ctr" marL="128016" marR="91440" marT="0" marB="0"/>
                </a:tc>
                <a:tc>
                  <a:txBody>
                    <a:bodyPr/>
                    <a:lstStyle/>
                    <a:p>
                      <a:pPr algn="r"/>
                      <a:r>
                        <a:rPr sz="1100" b="0" i="0">
                          <a:solidFill>
                            <a:srgbClr val="1A1A1A"/>
                          </a:solidFill>
                          <a:latin typeface="Times New Roman"/>
                        </a:rPr>
                        <a:t>18.3%</a:t>
                      </a:r>
                    </a:p>
                  </a:txBody>
                  <a:tcPr anchor="ctr" marL="128016" marR="91440" marT="0" marB="0"/>
                </a:tc>
                <a:tc>
                  <a:txBody>
                    <a:bodyPr/>
                    <a:lstStyle/>
                    <a:p>
                      <a:pPr algn="r"/>
                      <a:r>
                        <a:rPr sz="1100" b="0" i="0">
                          <a:solidFill>
                            <a:srgbClr val="1A1A1A"/>
                          </a:solidFill>
                          <a:latin typeface="Times New Roman"/>
                        </a:rPr>
                        <a:t>15,666</a:t>
                      </a:r>
                    </a:p>
                  </a:txBody>
                  <a:tcPr anchor="ctr" marL="128016" marR="91440" marT="0" marB="0"/>
                </a:tc>
                <a:tc>
                  <a:txBody>
                    <a:bodyPr/>
                    <a:lstStyle/>
                    <a:p>
                      <a:pPr algn="r"/>
                      <a:r>
                        <a:rPr sz="1100" b="0" i="0">
                          <a:solidFill>
                            <a:srgbClr val="1A1A1A"/>
                          </a:solidFill>
                          <a:latin typeface="Times New Roman"/>
                        </a:rPr>
                        <a:t>2,047</a:t>
                      </a:r>
                    </a:p>
                  </a:txBody>
                  <a:tcPr anchor="ctr" marL="128016" marR="91440" marT="0" marB="0"/>
                </a:tc>
              </a:tr>
              <a:tr h="237449">
                <a:tc>
                  <a:txBody>
                    <a:bodyPr/>
                    <a:lstStyle/>
                    <a:p>
                      <a:r>
                        <a:rPr sz="1100" b="0" i="0">
                          <a:solidFill>
                            <a:srgbClr val="1A1A1A"/>
                          </a:solidFill>
                          <a:latin typeface="Times New Roman"/>
                        </a:rPr>
                        <a:t>16,384</a:t>
                      </a:r>
                    </a:p>
                  </a:txBody>
                  <a:tcPr anchor="ctr" marL="128016" marR="91440" marT="0" marB="0"/>
                </a:tc>
                <a:tc>
                  <a:txBody>
                    <a:bodyPr/>
                    <a:lstStyle/>
                    <a:p>
                      <a:r>
                        <a:rPr sz="1100" b="0" i="0">
                          <a:solidFill>
                            <a:srgbClr val="1A1A1A"/>
                          </a:solidFill>
                          <a:latin typeface="Times New Roman"/>
                        </a:rPr>
                        <a:t>RAG store-all</a:t>
                      </a:r>
                    </a:p>
                  </a:txBody>
                  <a:tcPr anchor="ctr" marL="128016" marR="91440" marT="0" marB="0"/>
                </a:tc>
                <a:tc>
                  <a:txBody>
                    <a:bodyPr/>
                    <a:lstStyle/>
                    <a:p>
                      <a:pPr algn="r"/>
                      <a:r>
                        <a:rPr sz="1100" b="0" i="0">
                          <a:solidFill>
                            <a:srgbClr val="1A1A1A"/>
                          </a:solidFill>
                          <a:latin typeface="Times New Roman"/>
                        </a:rPr>
                        <a:t>53.3%</a:t>
                      </a:r>
                    </a:p>
                  </a:txBody>
                  <a:tcPr anchor="ctr" marL="128016" marR="91440" marT="0" marB="0"/>
                </a:tc>
                <a:tc>
                  <a:txBody>
                    <a:bodyPr/>
                    <a:lstStyle/>
                    <a:p>
                      <a:pPr algn="r"/>
                      <a:r>
                        <a:rPr sz="1100" b="0" i="0">
                          <a:solidFill>
                            <a:srgbClr val="1A1A1A"/>
                          </a:solidFill>
                          <a:latin typeface="Times New Roman"/>
                        </a:rPr>
                        <a:t>66.4%</a:t>
                      </a:r>
                    </a:p>
                  </a:txBody>
                  <a:tcPr anchor="ctr" marL="128016" marR="91440" marT="0" marB="0"/>
                </a:tc>
                <a:tc>
                  <a:txBody>
                    <a:bodyPr/>
                    <a:lstStyle/>
                    <a:p>
                      <a:pPr algn="r"/>
                      <a:r>
                        <a:rPr sz="1100" b="0" i="0">
                          <a:solidFill>
                            <a:srgbClr val="1A1A1A"/>
                          </a:solidFill>
                          <a:latin typeface="Times New Roman"/>
                        </a:rPr>
                        <a:t>15,666</a:t>
                      </a:r>
                    </a:p>
                  </a:txBody>
                  <a:tcPr anchor="ctr" marL="128016" marR="91440" marT="0" marB="0"/>
                </a:tc>
                <a:tc>
                  <a:txBody>
                    <a:bodyPr/>
                    <a:lstStyle/>
                    <a:p>
                      <a:pPr algn="r"/>
                      <a:r>
                        <a:rPr sz="1100" b="0" i="0">
                          <a:solidFill>
                            <a:srgbClr val="1A1A1A"/>
                          </a:solidFill>
                          <a:latin typeface="Times New Roman"/>
                        </a:rPr>
                        <a:t>1,965</a:t>
                      </a:r>
                    </a:p>
                  </a:txBody>
                  <a:tcPr anchor="ctr" marL="128016" marR="91440" marT="0" marB="0"/>
                </a:tc>
              </a:tr>
              <a:tr h="237449">
                <a:tc>
                  <a:txBody>
                    <a:bodyPr/>
                    <a:lstStyle/>
                    <a:p>
                      <a:r>
                        <a:rPr sz="1100" b="0" i="0">
                          <a:solidFill>
                            <a:srgbClr val="1A1A1A"/>
                          </a:solidFill>
                          <a:latin typeface="Times New Roman"/>
                        </a:rPr>
                        <a:t>16,384</a:t>
                      </a:r>
                    </a:p>
                  </a:txBody>
                  <a:tcPr anchor="ctr" marL="128016" marR="91440" marT="0" marB="0"/>
                </a:tc>
                <a:tc>
                  <a:txBody>
                    <a:bodyPr/>
                    <a:lstStyle/>
                    <a:p>
                      <a:r>
                        <a:rPr sz="1100" b="0" i="0">
                          <a:solidFill>
                            <a:srgbClr val="1A1A1A"/>
                          </a:solidFill>
                          <a:latin typeface="Times New Roman"/>
                        </a:rPr>
                        <a:t>P1 MemGate</a:t>
                      </a:r>
                    </a:p>
                  </a:txBody>
                  <a:tcPr anchor="ctr" marL="128016" marR="91440" marT="0" marB="0"/>
                </a:tc>
                <a:tc>
                  <a:txBody>
                    <a:bodyPr/>
                    <a:lstStyle/>
                    <a:p>
                      <a:pPr algn="r"/>
                      <a:r>
                        <a:rPr sz="1100" b="0" i="0">
                          <a:solidFill>
                            <a:srgbClr val="1A1A1A"/>
                          </a:solidFill>
                          <a:latin typeface="Times New Roman"/>
                        </a:rPr>
                        <a:t>15.5%</a:t>
                      </a:r>
                    </a:p>
                  </a:txBody>
                  <a:tcPr anchor="ctr" marL="128016" marR="91440" marT="0" marB="0"/>
                </a:tc>
                <a:tc>
                  <a:txBody>
                    <a:bodyPr/>
                    <a:lstStyle/>
                    <a:p>
                      <a:pPr algn="r"/>
                      <a:r>
                        <a:rPr sz="1100" b="0" i="0">
                          <a:solidFill>
                            <a:srgbClr val="1A1A1A"/>
                          </a:solidFill>
                          <a:latin typeface="Times New Roman"/>
                        </a:rPr>
                        <a:t>25.7%</a:t>
                      </a:r>
                    </a:p>
                  </a:txBody>
                  <a:tcPr anchor="ctr" marL="128016" marR="91440" marT="0" marB="0"/>
                </a:tc>
                <a:tc>
                  <a:txBody>
                    <a:bodyPr/>
                    <a:lstStyle/>
                    <a:p>
                      <a:pPr algn="r"/>
                      <a:r>
                        <a:rPr sz="1100" b="0" i="0">
                          <a:solidFill>
                            <a:srgbClr val="1A1A1A"/>
                          </a:solidFill>
                          <a:latin typeface="Times New Roman"/>
                        </a:rPr>
                        <a:t>3,725</a:t>
                      </a:r>
                    </a:p>
                  </a:txBody>
                  <a:tcPr anchor="ctr" marL="128016" marR="91440" marT="0" marB="0"/>
                </a:tc>
                <a:tc>
                  <a:txBody>
                    <a:bodyPr/>
                    <a:lstStyle/>
                    <a:p>
                      <a:pPr algn="r"/>
                      <a:r>
                        <a:rPr sz="1100" b="0" i="0">
                          <a:solidFill>
                            <a:srgbClr val="1A1A1A"/>
                          </a:solidFill>
                          <a:latin typeface="Times New Roman"/>
                        </a:rPr>
                        <a:t>1,692</a:t>
                      </a:r>
                    </a:p>
                  </a:txBody>
                  <a:tcPr anchor="ctr" marL="128016" marR="91440" marT="0" marB="0"/>
                </a:tc>
              </a:tr>
              <a:tr h="237449">
                <a:tc>
                  <a:txBody>
                    <a:bodyPr/>
                    <a:lstStyle/>
                    <a:p>
                      <a:r>
                        <a:rPr sz="1100" b="0" i="0">
                          <a:solidFill>
                            <a:srgbClr val="1A1A1A"/>
                          </a:solidFill>
                          <a:latin typeface="Times New Roman"/>
                        </a:rPr>
                        <a:t>16,384</a:t>
                      </a:r>
                    </a:p>
                  </a:txBody>
                  <a:tcPr anchor="ctr" marL="128016" marR="91440" marT="0" marB="0"/>
                </a:tc>
                <a:tc>
                  <a:txBody>
                    <a:bodyPr/>
                    <a:lstStyle/>
                    <a:p>
                      <a:r>
                        <a:rPr sz="1100" b="0" i="0">
                          <a:solidFill>
                            <a:srgbClr val="1A1A1A"/>
                          </a:solidFill>
                          <a:latin typeface="Times New Roman"/>
                        </a:rPr>
                        <a:t>P1-A MemGate adaptive</a:t>
                      </a:r>
                    </a:p>
                  </a:txBody>
                  <a:tcPr anchor="ctr" marL="128016" marR="91440" marT="0" marB="0"/>
                </a:tc>
                <a:tc>
                  <a:txBody>
                    <a:bodyPr/>
                    <a:lstStyle/>
                    <a:p>
                      <a:pPr algn="r"/>
                      <a:r>
                        <a:rPr sz="1100" b="0" i="0">
                          <a:solidFill>
                            <a:srgbClr val="1A1A1A"/>
                          </a:solidFill>
                          <a:latin typeface="Times New Roman"/>
                        </a:rPr>
                        <a:t>58.2%</a:t>
                      </a:r>
                    </a:p>
                  </a:txBody>
                  <a:tcPr anchor="ctr" marL="128016" marR="91440" marT="0" marB="0"/>
                </a:tc>
                <a:tc>
                  <a:txBody>
                    <a:bodyPr/>
                    <a:lstStyle/>
                    <a:p>
                      <a:pPr algn="r"/>
                      <a:r>
                        <a:rPr sz="1100" b="0" i="0">
                          <a:solidFill>
                            <a:srgbClr val="1A1A1A"/>
                          </a:solidFill>
                          <a:latin typeface="Times New Roman"/>
                        </a:rPr>
                        <a:t>63.1%</a:t>
                      </a:r>
                    </a:p>
                  </a:txBody>
                  <a:tcPr anchor="ctr" marL="128016" marR="91440" marT="0" marB="0"/>
                </a:tc>
                <a:tc>
                  <a:txBody>
                    <a:bodyPr/>
                    <a:lstStyle/>
                    <a:p>
                      <a:pPr algn="r"/>
                      <a:r>
                        <a:rPr sz="1100" b="0" i="0">
                          <a:solidFill>
                            <a:srgbClr val="1A1A1A"/>
                          </a:solidFill>
                          <a:latin typeface="Times New Roman"/>
                        </a:rPr>
                        <a:t>15,624</a:t>
                      </a:r>
                    </a:p>
                  </a:txBody>
                  <a:tcPr anchor="ctr" marL="128016" marR="91440" marT="0" marB="0"/>
                </a:tc>
                <a:tc>
                  <a:txBody>
                    <a:bodyPr/>
                    <a:lstStyle/>
                    <a:p>
                      <a:pPr algn="r"/>
                      <a:r>
                        <a:rPr sz="1100" b="0" i="0">
                          <a:solidFill>
                            <a:srgbClr val="1A1A1A"/>
                          </a:solidFill>
                          <a:latin typeface="Times New Roman"/>
                        </a:rPr>
                        <a:t>1,396</a:t>
                      </a:r>
                    </a:p>
                  </a:txBody>
                  <a:tcPr anchor="ctr" marL="128016" marR="91440" marT="0" marB="0"/>
                </a:tc>
              </a:tr>
              <a:tr h="237449">
                <a:tc>
                  <a:txBody>
                    <a:bodyPr/>
                    <a:lstStyle/>
                    <a:p>
                      <a:r>
                        <a:rPr sz="1100" b="0" i="0">
                          <a:solidFill>
                            <a:srgbClr val="1A1A1A"/>
                          </a:solidFill>
                          <a:latin typeface="Times New Roman"/>
                        </a:rPr>
                        <a:t>16,384</a:t>
                      </a:r>
                    </a:p>
                  </a:txBody>
                  <a:tcPr anchor="ctr" marL="128016" marR="91440" marT="0" marB="0"/>
                </a:tc>
                <a:tc>
                  <a:txBody>
                    <a:bodyPr/>
                    <a:lstStyle/>
                    <a:p>
                      <a:r>
                        <a:rPr sz="1100" b="0" i="0">
                          <a:solidFill>
                            <a:srgbClr val="1A1A1A"/>
                          </a:solidFill>
                          <a:latin typeface="Times New Roman"/>
                        </a:rPr>
                        <a:t>P1-S MemGate select</a:t>
                      </a:r>
                    </a:p>
                  </a:txBody>
                  <a:tcPr anchor="ctr" marL="128016" marR="91440" marT="0" marB="0"/>
                </a:tc>
                <a:tc>
                  <a:txBody>
                    <a:bodyPr/>
                    <a:lstStyle/>
                    <a:p>
                      <a:pPr algn="r"/>
                      <a:r>
                        <a:rPr sz="1100" b="0" i="0">
                          <a:solidFill>
                            <a:srgbClr val="1A1A1A"/>
                          </a:solidFill>
                          <a:latin typeface="Times New Roman"/>
                        </a:rPr>
                        <a:t>57.9%</a:t>
                      </a:r>
                    </a:p>
                  </a:txBody>
                  <a:tcPr anchor="ctr" marL="128016" marR="91440" marT="0" marB="0"/>
                </a:tc>
                <a:tc>
                  <a:txBody>
                    <a:bodyPr/>
                    <a:lstStyle/>
                    <a:p>
                      <a:pPr algn="r"/>
                      <a:r>
                        <a:rPr sz="1100" b="0" i="0">
                          <a:solidFill>
                            <a:srgbClr val="1A1A1A"/>
                          </a:solidFill>
                          <a:latin typeface="Times New Roman"/>
                        </a:rPr>
                        <a:t>71.3%</a:t>
                      </a:r>
                    </a:p>
                  </a:txBody>
                  <a:tcPr anchor="ctr" marL="128016" marR="91440" marT="0" marB="0"/>
                </a:tc>
                <a:tc>
                  <a:txBody>
                    <a:bodyPr/>
                    <a:lstStyle/>
                    <a:p>
                      <a:pPr algn="r"/>
                      <a:r>
                        <a:rPr sz="1100" b="0" i="0">
                          <a:solidFill>
                            <a:srgbClr val="1A1A1A"/>
                          </a:solidFill>
                          <a:latin typeface="Times New Roman"/>
                        </a:rPr>
                        <a:t>15,619</a:t>
                      </a:r>
                    </a:p>
                  </a:txBody>
                  <a:tcPr anchor="ctr" marL="128016" marR="91440" marT="0" marB="0"/>
                </a:tc>
                <a:tc>
                  <a:txBody>
                    <a:bodyPr/>
                    <a:lstStyle/>
                    <a:p>
                      <a:pPr algn="r"/>
                      <a:r>
                        <a:rPr sz="1100" b="0" i="0">
                          <a:solidFill>
                            <a:srgbClr val="1A1A1A"/>
                          </a:solidFill>
                          <a:latin typeface="Times New Roman"/>
                        </a:rPr>
                        <a:t>1,799</a:t>
                      </a:r>
                    </a:p>
                  </a:txBody>
                  <a:tcPr anchor="ctr" marL="128016" marR="91440" marT="0" marB="0"/>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0" y="896112"/>
            <a:ext cx="12618720" cy="777240"/>
          </a:xfrm>
          <a:prstGeom prst="rect">
            <a:avLst/>
          </a:prstGeom>
          <a:noFill/>
        </p:spPr>
        <p:txBody>
          <a:bodyPr wrap="square" anchor="ctr" tIns="0" bIns="0">
            <a:spAutoFit/>
          </a:bodyPr>
          <a:lstStyle/>
          <a:p>
            <a:pPr algn="ctr"/>
            <a:r>
              <a:rPr sz="4200" b="1" i="0">
                <a:solidFill>
                  <a:srgbClr val="111111"/>
                </a:solidFill>
                <a:latin typeface="Times New Roman"/>
              </a:rPr>
              <a:t>Backup — repository layout</a:t>
            </a:r>
          </a:p>
        </p:txBody>
      </p:sp>
      <p:sp>
        <p:nvSpPr>
          <p:cNvPr id="3" name="TextBox 2"/>
          <p:cNvSpPr txBox="1"/>
          <p:nvPr/>
        </p:nvSpPr>
        <p:spPr>
          <a:xfrm>
            <a:off x="822960" y="2286000"/>
            <a:ext cx="16642080" cy="6035040"/>
          </a:xfrm>
          <a:prstGeom prst="rect">
            <a:avLst/>
          </a:prstGeom>
          <a:noFill/>
        </p:spPr>
        <p:txBody>
          <a:bodyPr wrap="square">
            <a:spAutoFit/>
          </a:bodyPr>
          <a:lstStyle/>
          <a:p>
            <a:pPr>
              <a:lnSpc>
                <a:spcPct val="100000"/>
              </a:lnSpc>
            </a:pPr>
            <a:r>
              <a:rPr sz="1400" b="0" i="0">
                <a:solidFill>
                  <a:srgbClr val="1A1A1A"/>
                </a:solidFill>
                <a:latin typeface="Consolas"/>
              </a:rPr>
              <a:t>Capstone Project/</a:t>
            </a:r>
          </a:p>
          <a:p>
            <a:pPr>
              <a:lnSpc>
                <a:spcPct val="100000"/>
              </a:lnSpc>
            </a:pPr>
            <a:r>
              <a:rPr sz="1400" b="0" i="0">
                <a:solidFill>
                  <a:srgbClr val="1A1A1A"/>
                </a:solidFill>
                <a:latin typeface="Consolas"/>
              </a:rPr>
              <a:t>  REPORT.md                       paper-ready writeup</a:t>
            </a:r>
          </a:p>
          <a:p>
            <a:pPr>
              <a:lnSpc>
                <a:spcPct val="100000"/>
              </a:lnSpc>
            </a:pPr>
            <a:r>
              <a:rPr sz="1400" b="0" i="0">
                <a:solidFill>
                  <a:srgbClr val="1A1A1A"/>
                </a:solidFill>
                <a:latin typeface="Consolas"/>
              </a:rPr>
              <a:t>  SESSION_RECORD.md               working record, §1–§28</a:t>
            </a:r>
          </a:p>
          <a:p>
            <a:pPr>
              <a:lnSpc>
                <a:spcPct val="100000"/>
              </a:lnSpc>
            </a:pPr>
            <a:r>
              <a:rPr sz="1400" b="0" i="0">
                <a:solidFill>
                  <a:srgbClr val="1A1A1A"/>
                </a:solidFill>
                <a:latin typeface="Consolas"/>
              </a:rPr>
              <a:t>  docs/</a:t>
            </a:r>
          </a:p>
          <a:p>
            <a:pPr>
              <a:lnSpc>
                <a:spcPct val="100000"/>
              </a:lnSpc>
            </a:pPr>
            <a:r>
              <a:rPr sz="1400" b="0" i="0">
                <a:solidFill>
                  <a:srgbClr val="1A1A1A"/>
                </a:solidFill>
                <a:latin typeface="Consolas"/>
              </a:rPr>
              <a:t>    REVIEW2_PROGRESS_REPORT.md    the progress report for this review</a:t>
            </a:r>
          </a:p>
          <a:p>
            <a:pPr>
              <a:lnSpc>
                <a:spcPct val="100000"/>
              </a:lnSpc>
            </a:pPr>
            <a:r>
              <a:rPr sz="1400" b="0" i="0">
                <a:solidFill>
                  <a:srgbClr val="5A5A5A"/>
                </a:solidFill>
                <a:latin typeface="Consolas"/>
              </a:rPr>
              <a:t>    make_review2_deck.py          builds this deck from the CSVs</a:t>
            </a:r>
          </a:p>
          <a:p>
            <a:pPr>
              <a:lnSpc>
                <a:spcPct val="100000"/>
              </a:lnSpc>
            </a:pPr>
            <a:r>
              <a:rPr sz="1400" b="0" i="0">
                <a:solidFill>
                  <a:srgbClr val="1A1A1A"/>
                </a:solidFill>
                <a:latin typeface="Consolas"/>
              </a:rPr>
              <a:t>  frontend/</a:t>
            </a:r>
          </a:p>
          <a:p>
            <a:pPr>
              <a:lnSpc>
                <a:spcPct val="100000"/>
              </a:lnSpc>
            </a:pPr>
            <a:r>
              <a:rPr sz="1400" b="0" i="0">
                <a:solidFill>
                  <a:srgbClr val="1A1A1A"/>
                </a:solidFill>
                <a:latin typeface="Consolas"/>
              </a:rPr>
              <a:t>    index.html                    interactive results dashboard</a:t>
            </a:r>
          </a:p>
          <a:p>
            <a:pPr>
              <a:lnSpc>
                <a:spcPct val="100000"/>
              </a:lnSpc>
            </a:pPr>
            <a:r>
              <a:rPr sz="1400" b="0" i="0">
                <a:solidFill>
                  <a:srgbClr val="1A1A1A"/>
                </a:solidFill>
                <a:latin typeface="Consolas"/>
              </a:rPr>
              <a:t>    build_data.py                 regenerates data.js from results/*.csv</a:t>
            </a:r>
          </a:p>
          <a:p>
            <a:pPr>
              <a:lnSpc>
                <a:spcPct val="100000"/>
              </a:lnSpc>
            </a:pPr>
            <a:r>
              <a:rPr sz="1400" b="0" i="0">
                <a:solidFill>
                  <a:srgbClr val="1A1A1A"/>
                </a:solidFill>
                <a:latin typeface="Consolas"/>
              </a:rPr>
              <a:t>  memgate/</a:t>
            </a:r>
          </a:p>
          <a:p>
            <a:pPr>
              <a:lnSpc>
                <a:spcPct val="100000"/>
              </a:lnSpc>
            </a:pPr>
            <a:r>
              <a:rPr sz="1400" b="0" i="0">
                <a:solidFill>
                  <a:srgbClr val="1A1A1A"/>
                </a:solidFill>
                <a:latin typeface="Consolas"/>
              </a:rPr>
              <a:t>    memgate/                      the library — types, utils, store, scoring,</a:t>
            </a:r>
          </a:p>
          <a:p>
            <a:pPr>
              <a:lnSpc>
                <a:spcPct val="100000"/>
              </a:lnSpc>
            </a:pPr>
            <a:r>
              <a:rPr sz="1400" b="0" i="0">
                <a:solidFill>
                  <a:srgbClr val="1A1A1A"/>
                </a:solidFill>
                <a:latin typeface="Consolas"/>
              </a:rPr>
              <a:t>                                  policies, compress, judge, llm_judge, data, harness</a:t>
            </a:r>
          </a:p>
          <a:p>
            <a:pPr>
              <a:lnSpc>
                <a:spcPct val="100000"/>
              </a:lnSpc>
            </a:pPr>
            <a:r>
              <a:rPr sz="1400" b="0" i="0">
                <a:solidFill>
                  <a:srgbClr val="5A5A5A"/>
                </a:solidFill>
                <a:latin typeface="Consolas"/>
              </a:rPr>
              <a:t>    run_locomo.py                 context-budget frontier</a:t>
            </a:r>
          </a:p>
          <a:p>
            <a:pPr>
              <a:lnSpc>
                <a:spcPct val="100000"/>
              </a:lnSpc>
            </a:pPr>
            <a:r>
              <a:rPr sz="1400" b="0" i="0">
                <a:solidFill>
                  <a:srgbClr val="5A5A5A"/>
                </a:solidFill>
                <a:latin typeface="Consolas"/>
              </a:rPr>
              <a:t>    run_storage_sweep.py          storage budget — 35 configurations</a:t>
            </a:r>
          </a:p>
          <a:p>
            <a:pPr>
              <a:lnSpc>
                <a:spcPct val="100000"/>
              </a:lnSpc>
            </a:pPr>
            <a:r>
              <a:rPr sz="1400" b="0" i="0">
                <a:solidFill>
                  <a:srgbClr val="5A5A5A"/>
                </a:solidFill>
                <a:latin typeface="Consolas"/>
              </a:rPr>
              <a:t>    run_scaling.py                compression ratio to 182×</a:t>
            </a:r>
          </a:p>
          <a:p>
            <a:pPr>
              <a:lnSpc>
                <a:spcPct val="100000"/>
              </a:lnSpc>
            </a:pPr>
            <a:r>
              <a:rPr sz="1400" b="0" i="0">
                <a:solidFill>
                  <a:srgbClr val="5A5A5A"/>
                </a:solidFill>
                <a:latin typeface="Consolas"/>
              </a:rPr>
              <a:t>    run_cost_model.py             byte accounting</a:t>
            </a:r>
          </a:p>
          <a:p>
            <a:pPr>
              <a:lnSpc>
                <a:spcPct val="100000"/>
              </a:lnSpc>
            </a:pPr>
            <a:r>
              <a:rPr sz="1400" b="0" i="0">
                <a:solidFill>
                  <a:srgbClr val="5A5A5A"/>
                </a:solidFill>
                <a:latin typeface="Consolas"/>
              </a:rPr>
              <a:t>    run_significance.py           bootstrap + McNemar</a:t>
            </a:r>
          </a:p>
          <a:p>
            <a:pPr>
              <a:lnSpc>
                <a:spcPct val="100000"/>
              </a:lnSpc>
            </a:pPr>
            <a:r>
              <a:rPr sz="1400" b="0" i="0">
                <a:solidFill>
                  <a:srgbClr val="1A1A1A"/>
                </a:solidFill>
                <a:latin typeface="Consolas"/>
              </a:rPr>
              <a:t>    train_scorer.py               learned scorer, leave-one-conversation-out</a:t>
            </a:r>
          </a:p>
          <a:p>
            <a:pPr>
              <a:lnSpc>
                <a:spcPct val="100000"/>
              </a:lnSpc>
            </a:pPr>
            <a:r>
              <a:rPr sz="1400" b="0" i="0">
                <a:solidFill>
                  <a:srgbClr val="1A1A1A"/>
                </a:solidFill>
                <a:latin typeface="Consolas"/>
              </a:rPr>
              <a:t>    precompute_judge.py           P2 judge scores (cached)</a:t>
            </a:r>
          </a:p>
          <a:p>
            <a:pPr>
              <a:lnSpc>
                <a:spcPct val="100000"/>
              </a:lnSpc>
            </a:pPr>
            <a:r>
              <a:rPr sz="1400" b="0" i="0">
                <a:solidFill>
                  <a:srgbClr val="5A5A5A"/>
                </a:solidFill>
                <a:latin typeface="Consolas"/>
              </a:rPr>
              <a:t>    run_judge_eval.py             scorer comparison with clustered CIs</a:t>
            </a:r>
          </a:p>
          <a:p>
            <a:pPr>
              <a:lnSpc>
                <a:spcPct val="100000"/>
              </a:lnSpc>
            </a:pPr>
            <a:r>
              <a:rPr sz="1400" b="0" i="0">
                <a:solidFill>
                  <a:srgbClr val="5A5A5A"/>
                </a:solidFill>
                <a:latin typeface="Consolas"/>
              </a:rPr>
              <a:t>    run_endtask.py                end-task accuracy (resumable)</a:t>
            </a:r>
          </a:p>
          <a:p>
            <a:pPr>
              <a:lnSpc>
                <a:spcPct val="100000"/>
              </a:lnSpc>
            </a:pPr>
            <a:r>
              <a:rPr sz="1400" b="0" i="0">
                <a:solidFill>
                  <a:srgbClr val="5A5A5A"/>
                </a:solidFill>
                <a:latin typeface="Consolas"/>
              </a:rPr>
              <a:t>    run_ablations.py              23-configuration component attribution</a:t>
            </a:r>
          </a:p>
          <a:p>
            <a:pPr>
              <a:lnSpc>
                <a:spcPct val="100000"/>
              </a:lnSpc>
            </a:pPr>
            <a:r>
              <a:rPr sz="1400" b="0" i="0">
                <a:solidFill>
                  <a:srgbClr val="5A5A5A"/>
                </a:solidFill>
                <a:latin typeface="Consolas"/>
              </a:rPr>
              <a:t>    diagnose.py                   attributes every miss to one component</a:t>
            </a:r>
          </a:p>
          <a:p>
            <a:pPr>
              <a:lnSpc>
                <a:spcPct val="100000"/>
              </a:lnSpc>
            </a:pPr>
            <a:r>
              <a:rPr sz="1400" b="0" i="0">
                <a:solidFill>
                  <a:srgbClr val="5A5A5A"/>
                </a:solidFill>
                <a:latin typeface="Consolas"/>
              </a:rPr>
              <a:t>    make_figures.py               fig1–fig5</a:t>
            </a:r>
          </a:p>
          <a:p>
            <a:pPr>
              <a:lnSpc>
                <a:spcPct val="100000"/>
              </a:lnSpc>
            </a:pPr>
            <a:r>
              <a:rPr sz="1400" b="0" i="0">
                <a:solidFill>
                  <a:srgbClr val="5A5A5A"/>
                </a:solidFill>
                <a:latin typeface="Consolas"/>
              </a:rPr>
              <a:t>    run_longmemeval.py            LongMemEval, swept by store budget</a:t>
            </a:r>
          </a:p>
          <a:p>
            <a:pPr>
              <a:lnSpc>
                <a:spcPct val="100000"/>
              </a:lnSpc>
            </a:pPr>
            <a:r>
              <a:rPr sz="1400" b="0" i="0">
                <a:solidFill>
                  <a:srgbClr val="5A5A5A"/>
                </a:solidFill>
                <a:latin typeface="Consolas"/>
              </a:rPr>
              <a:t>    run_lme_split.py              the §30.4 recency-confound control</a:t>
            </a:r>
          </a:p>
          <a:p>
            <a:pPr>
              <a:lnSpc>
                <a:spcPct val="100000"/>
              </a:lnSpc>
            </a:pPr>
            <a:r>
              <a:rPr sz="1400" b="0" i="0">
                <a:solidFill>
                  <a:srgbClr val="5A5A5A"/>
                </a:solidFill>
                <a:latin typeface="Consolas"/>
              </a:rPr>
              <a:t>    test_memgate.py               71 tests</a:t>
            </a:r>
          </a:p>
          <a:p>
            <a:pPr>
              <a:lnSpc>
                <a:spcPct val="100000"/>
              </a:lnSpc>
            </a:pPr>
            <a:r>
              <a:rPr sz="1400" b="0" i="0">
                <a:solidFill>
                  <a:srgbClr val="1A1A1A"/>
                </a:solidFill>
                <a:latin typeface="Consolas"/>
              </a:rPr>
              <a:t>    results/                      every CSV and figure quoted in this deck</a:t>
            </a:r>
          </a:p>
        </p:txBody>
      </p:sp>
      <p:sp>
        <p:nvSpPr>
          <p:cNvPr id="4" name="TextBox 3"/>
          <p:cNvSpPr txBox="1"/>
          <p:nvPr/>
        </p:nvSpPr>
        <p:spPr>
          <a:xfrm>
            <a:off x="822960" y="8915400"/>
            <a:ext cx="16642080" cy="692658"/>
          </a:xfrm>
          <a:prstGeom prst="rect">
            <a:avLst/>
          </a:prstGeom>
          <a:noFill/>
        </p:spPr>
        <p:txBody>
          <a:bodyPr wrap="square">
            <a:spAutoFit/>
          </a:bodyPr>
          <a:lstStyle/>
          <a:p>
            <a:pPr algn="l"/>
            <a:r>
              <a:rPr sz="1700" b="0" i="1">
                <a:solidFill>
                  <a:srgbClr val="5A5A5A"/>
                </a:solidFill>
                <a:latin typeface="Times New Roman"/>
              </a:rPr>
              <a:t>Not committed, by design: the LoCoMo benchmark (2.7 MB) and the model weights (~1 GB). Both are reproducible — memgate/README.md gives the exact fetch commands. The results CSVs are committed, so every number here is checkable without a nine-minute benchmark run.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777</TotalTime>
  <Words>2414</Words>
  <Application>Microsoft Macintosh PowerPoint</Application>
  <PresentationFormat>Custom</PresentationFormat>
  <Paragraphs>238</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PowerPoint Presentation</vt:lpstr>
      <vt:lpstr>Introduction</vt:lpstr>
      <vt:lpstr>Problem Statement</vt:lpstr>
      <vt:lpstr>Objectives</vt:lpstr>
      <vt:lpstr>Scope of the Project</vt:lpstr>
      <vt:lpstr>Proposed System</vt:lpstr>
      <vt:lpstr>System Architecture</vt:lpstr>
      <vt:lpstr>Implementation Workflow</vt:lpstr>
      <vt:lpstr>Tools &amp; Technology</vt:lpstr>
      <vt:lpstr>Feasibility of Implementation</vt:lpstr>
      <vt:lpstr>Gantt Chart</vt:lpstr>
      <vt:lpstr>Literature Review  (1 of 2)</vt:lpstr>
      <vt:lpstr>Literature Review  (2 of 2)</vt:lpstr>
      <vt:lpstr>References</vt:lpstr>
      <vt:lpstr>Thank You</vt:lpstr>
      <vt:lpstr>Backup — Implementation Roadmap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capstone_review_one</dc:title>
  <dc:creator>Daksh Soni</dc:creator>
  <cp:keywords>DAHPpy2v-1c,BAGJCY0f2j8</cp:keywords>
  <cp:lastModifiedBy>Simar Singh Khanuja</cp:lastModifiedBy>
  <cp:revision>2</cp:revision>
  <dcterms:created xsi:type="dcterms:W3CDTF">2026-07-21T08:42:34Z</dcterms:created>
  <dcterms:modified xsi:type="dcterms:W3CDTF">2026-07-25T07:20:46Z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2026-07-21T00:00:00Z</vt:filetime>
  </property>
  <property fmtid="{D5CDD505-2E9C-101B-9397-08002B2CF9AE}" pid="3" name="Creator">
    <vt:lpwstr>Canva</vt:lpwstr>
  </property>
  <property fmtid="{D5CDD505-2E9C-101B-9397-08002B2CF9AE}" pid="4" name="LastSaved">
    <vt:filetime>2026-07-21T00:00:00Z</vt:filetime>
  </property>
  <property fmtid="{D5CDD505-2E9C-101B-9397-08002B2CF9AE}" pid="5" name="Producer">
    <vt:lpwstr>3-Heights(TM) PDF Security Shell 4.8.25.2 (http://www.pdf-tools.com)</vt:lpwstr>
  </property>
</Properties>
</file>